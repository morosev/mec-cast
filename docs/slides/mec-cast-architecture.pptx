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Architecture overview</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An experimentation testbed for industrial communication over private 5G (srsRAN + Open5GS) — used to study large-payload transport, teleoperation latency, and peer-to-edge offload. Precise timing is one instrument, not the purpose.</a:t>
            </a:r>
            <a:endParaRPr lang="en-US" sz="1300" dirty="0"/>
          </a:p>
        </p:txBody>
      </p:sp>
      <p:sp>
        <p:nvSpPr>
          <p:cNvPr id="4" name="Shape 2"/>
          <p:cNvSpPr/>
          <p:nvPr/>
        </p:nvSpPr>
        <p:spPr>
          <a:xfrm>
            <a:off x="502920" y="1600200"/>
            <a:ext cx="3392424" cy="1188720"/>
          </a:xfrm>
          <a:prstGeom prst="rect">
            <a:avLst/>
          </a:prstGeom>
          <a:solidFill>
            <a:srgbClr val="F1F2F3"/>
          </a:solidFill>
          <a:ln w="12700">
            <a:solidFill>
              <a:srgbClr val="B9BDC0"/>
            </a:solidFill>
            <a:prstDash val="solid"/>
          </a:ln>
        </p:spPr>
      </p:sp>
      <p:sp>
        <p:nvSpPr>
          <p:cNvPr id="5" name="Text 3"/>
          <p:cNvSpPr/>
          <p:nvPr/>
        </p:nvSpPr>
        <p:spPr>
          <a:xfrm>
            <a:off x="612648" y="1691640"/>
            <a:ext cx="3172968"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UE — robot compute</a:t>
            </a:r>
            <a:endParaRPr lang="en-US" sz="1300" dirty="0"/>
          </a:p>
        </p:txBody>
      </p:sp>
      <p:sp>
        <p:nvSpPr>
          <p:cNvPr id="6" name="Text 4"/>
          <p:cNvSpPr/>
          <p:nvPr/>
        </p:nvSpPr>
        <p:spPr>
          <a:xfrm>
            <a:off x="612648" y="1984248"/>
            <a:ext cx="3172968"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LiDAR + 5G modem</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ROS2 client publishes PointCloud2</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stamps capture_ns, send_ns</a:t>
            </a:r>
            <a:endParaRPr lang="en-US" sz="1050" dirty="0"/>
          </a:p>
        </p:txBody>
      </p:sp>
      <p:sp>
        <p:nvSpPr>
          <p:cNvPr id="7" name="Shape 5"/>
          <p:cNvSpPr/>
          <p:nvPr/>
        </p:nvSpPr>
        <p:spPr>
          <a:xfrm>
            <a:off x="4398264" y="1600200"/>
            <a:ext cx="3392424" cy="1188720"/>
          </a:xfrm>
          <a:prstGeom prst="rect">
            <a:avLst/>
          </a:prstGeom>
          <a:solidFill>
            <a:srgbClr val="F1F2F3"/>
          </a:solidFill>
          <a:ln w="12700">
            <a:solidFill>
              <a:srgbClr val="B9BDC0"/>
            </a:solidFill>
            <a:prstDash val="solid"/>
          </a:ln>
        </p:spPr>
      </p:sp>
      <p:sp>
        <p:nvSpPr>
          <p:cNvPr id="8" name="Text 6"/>
          <p:cNvSpPr/>
          <p:nvPr/>
        </p:nvSpPr>
        <p:spPr>
          <a:xfrm>
            <a:off x="4507992" y="1691640"/>
            <a:ext cx="3172968"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5G network (lab)</a:t>
            </a:r>
            <a:endParaRPr lang="en-US" sz="1300" dirty="0"/>
          </a:p>
        </p:txBody>
      </p:sp>
      <p:sp>
        <p:nvSpPr>
          <p:cNvPr id="9" name="Text 7"/>
          <p:cNvSpPr/>
          <p:nvPr/>
        </p:nvSpPr>
        <p:spPr>
          <a:xfrm>
            <a:off x="4507992" y="1984248"/>
            <a:ext cx="3172968"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srsRAN O-CU / O-DU on USRP radios</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Open5GS core, UPF / N6</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the impairment under test</a:t>
            </a:r>
            <a:endParaRPr lang="en-US" sz="1050" dirty="0"/>
          </a:p>
        </p:txBody>
      </p:sp>
      <p:sp>
        <p:nvSpPr>
          <p:cNvPr id="10" name="Shape 8"/>
          <p:cNvSpPr/>
          <p:nvPr/>
        </p:nvSpPr>
        <p:spPr>
          <a:xfrm>
            <a:off x="8293608" y="1600200"/>
            <a:ext cx="3392424" cy="1188720"/>
          </a:xfrm>
          <a:prstGeom prst="rect">
            <a:avLst/>
          </a:prstGeom>
          <a:solidFill>
            <a:srgbClr val="F1F2F3"/>
          </a:solidFill>
          <a:ln w="12700">
            <a:solidFill>
              <a:srgbClr val="B9BDC0"/>
            </a:solidFill>
            <a:prstDash val="solid"/>
          </a:ln>
        </p:spPr>
      </p:sp>
      <p:sp>
        <p:nvSpPr>
          <p:cNvPr id="11" name="Text 9"/>
          <p:cNvSpPr/>
          <p:nvPr/>
        </p:nvSpPr>
        <p:spPr>
          <a:xfrm>
            <a:off x="8403336" y="1691640"/>
            <a:ext cx="3172968"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MEC edge server</a:t>
            </a:r>
            <a:endParaRPr lang="en-US" sz="1300" dirty="0"/>
          </a:p>
        </p:txBody>
      </p:sp>
      <p:sp>
        <p:nvSpPr>
          <p:cNvPr id="12" name="Text 10"/>
          <p:cNvSpPr/>
          <p:nvPr/>
        </p:nvSpPr>
        <p:spPr>
          <a:xfrm>
            <a:off x="8403336" y="1984248"/>
            <a:ext cx="3172968"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Zenoh ingest node</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stamps recv_ns, process_done_ns</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processes the cloud</a:t>
            </a:r>
            <a:endParaRPr lang="en-US" sz="1050" dirty="0"/>
          </a:p>
        </p:txBody>
      </p:sp>
      <p:sp>
        <p:nvSpPr>
          <p:cNvPr id="13" name="Shape 11"/>
          <p:cNvSpPr/>
          <p:nvPr/>
        </p:nvSpPr>
        <p:spPr>
          <a:xfrm>
            <a:off x="3950208" y="2194560"/>
            <a:ext cx="393192" cy="0"/>
          </a:xfrm>
          <a:prstGeom prst="line">
            <a:avLst/>
          </a:prstGeom>
          <a:noFill/>
          <a:ln w="15875">
            <a:solidFill>
              <a:srgbClr val="444C52"/>
            </a:solidFill>
            <a:prstDash val="solid"/>
            <a:tailEnd type="triangle"/>
          </a:ln>
        </p:spPr>
      </p:sp>
      <p:sp>
        <p:nvSpPr>
          <p:cNvPr id="14" name="Text 12"/>
          <p:cNvSpPr/>
          <p:nvPr/>
        </p:nvSpPr>
        <p:spPr>
          <a:xfrm>
            <a:off x="3813048" y="1901952"/>
            <a:ext cx="667512" cy="256032"/>
          </a:xfrm>
          <a:prstGeom prst="rect">
            <a:avLst/>
          </a:prstGeom>
          <a:noFill/>
          <a:ln/>
        </p:spPr>
        <p:txBody>
          <a:bodyPr wrap="square" lIns="0" tIns="0" rIns="0" bIns="0" rtlCol="0" anchor="ctr"/>
          <a:lstStyle/>
          <a:p>
            <a:pPr algn="ctr" indent="0" marL="0">
              <a:buNone/>
            </a:pPr>
            <a:r>
              <a:rPr lang="en-US" sz="900" dirty="0">
                <a:solidFill>
                  <a:srgbClr val="76797C"/>
                </a:solidFill>
                <a:latin typeface="Calibri" pitchFamily="34" charset="0"/>
                <a:ea typeface="Calibri" pitchFamily="34" charset="-122"/>
                <a:cs typeface="Calibri" pitchFamily="34" charset="-120"/>
              </a:rPr>
              <a:t>Uu</a:t>
            </a:r>
            <a:endParaRPr lang="en-US" sz="900" dirty="0"/>
          </a:p>
        </p:txBody>
      </p:sp>
      <p:sp>
        <p:nvSpPr>
          <p:cNvPr id="15" name="Shape 13"/>
          <p:cNvSpPr/>
          <p:nvPr/>
        </p:nvSpPr>
        <p:spPr>
          <a:xfrm>
            <a:off x="7845552" y="2194560"/>
            <a:ext cx="393192" cy="0"/>
          </a:xfrm>
          <a:prstGeom prst="line">
            <a:avLst/>
          </a:prstGeom>
          <a:noFill/>
          <a:ln w="15875">
            <a:solidFill>
              <a:srgbClr val="444C52"/>
            </a:solidFill>
            <a:prstDash val="solid"/>
            <a:tailEnd type="triangle"/>
          </a:ln>
        </p:spPr>
      </p:sp>
      <p:sp>
        <p:nvSpPr>
          <p:cNvPr id="16" name="Text 14"/>
          <p:cNvSpPr/>
          <p:nvPr/>
        </p:nvSpPr>
        <p:spPr>
          <a:xfrm>
            <a:off x="7708392" y="1901952"/>
            <a:ext cx="667512" cy="256032"/>
          </a:xfrm>
          <a:prstGeom prst="rect">
            <a:avLst/>
          </a:prstGeom>
          <a:noFill/>
          <a:ln/>
        </p:spPr>
        <p:txBody>
          <a:bodyPr wrap="square" lIns="0" tIns="0" rIns="0" bIns="0" rtlCol="0" anchor="ctr"/>
          <a:lstStyle/>
          <a:p>
            <a:pPr algn="ctr" indent="0" marL="0">
              <a:buNone/>
            </a:pPr>
            <a:r>
              <a:rPr lang="en-US" sz="900" dirty="0">
                <a:solidFill>
                  <a:srgbClr val="76797C"/>
                </a:solidFill>
                <a:latin typeface="Calibri" pitchFamily="34" charset="0"/>
                <a:ea typeface="Calibri" pitchFamily="34" charset="-122"/>
                <a:cs typeface="Calibri" pitchFamily="34" charset="-120"/>
              </a:rPr>
              <a:t>UPF</a:t>
            </a:r>
            <a:endParaRPr lang="en-US" sz="900" dirty="0"/>
          </a:p>
        </p:txBody>
      </p:sp>
      <p:sp>
        <p:nvSpPr>
          <p:cNvPr id="17" name="Shape 15"/>
          <p:cNvSpPr/>
          <p:nvPr/>
        </p:nvSpPr>
        <p:spPr>
          <a:xfrm>
            <a:off x="4398264" y="2980944"/>
            <a:ext cx="3392424" cy="868680"/>
          </a:xfrm>
          <a:prstGeom prst="rect">
            <a:avLst/>
          </a:prstGeom>
          <a:solidFill>
            <a:srgbClr val="F1F2F3"/>
          </a:solidFill>
          <a:ln w="12700">
            <a:solidFill>
              <a:srgbClr val="B9BDC0"/>
            </a:solidFill>
            <a:prstDash val="solid"/>
          </a:ln>
        </p:spPr>
      </p:sp>
      <p:sp>
        <p:nvSpPr>
          <p:cNvPr id="18" name="Text 16"/>
          <p:cNvSpPr/>
          <p:nvPr/>
        </p:nvSpPr>
        <p:spPr>
          <a:xfrm>
            <a:off x="4507992" y="3072384"/>
            <a:ext cx="3172968"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ran-collector</a:t>
            </a:r>
            <a:endParaRPr lang="en-US" sz="1300" dirty="0"/>
          </a:p>
        </p:txBody>
      </p:sp>
      <p:sp>
        <p:nvSpPr>
          <p:cNvPr id="19" name="Text 17"/>
          <p:cNvSpPr/>
          <p:nvPr/>
        </p:nvSpPr>
        <p:spPr>
          <a:xfrm>
            <a:off x="4507992" y="3364992"/>
            <a:ext cx="3172968" cy="39319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O-DU MAC / scheduler KPIs over UDP JSON</a:t>
            </a:r>
            <a:endParaRPr lang="en-US" sz="1050" dirty="0"/>
          </a:p>
        </p:txBody>
      </p:sp>
      <p:sp>
        <p:nvSpPr>
          <p:cNvPr id="20" name="Shape 18"/>
          <p:cNvSpPr/>
          <p:nvPr/>
        </p:nvSpPr>
        <p:spPr>
          <a:xfrm>
            <a:off x="8293608" y="2980944"/>
            <a:ext cx="3392424" cy="868680"/>
          </a:xfrm>
          <a:prstGeom prst="rect">
            <a:avLst/>
          </a:prstGeom>
          <a:solidFill>
            <a:srgbClr val="F1F2F3"/>
          </a:solidFill>
          <a:ln w="12700">
            <a:solidFill>
              <a:srgbClr val="B9BDC0"/>
            </a:solidFill>
            <a:prstDash val="solid"/>
          </a:ln>
        </p:spPr>
      </p:sp>
      <p:sp>
        <p:nvSpPr>
          <p:cNvPr id="21" name="Text 19"/>
          <p:cNvSpPr/>
          <p:nvPr/>
        </p:nvSpPr>
        <p:spPr>
          <a:xfrm>
            <a:off x="8403336" y="3072384"/>
            <a:ext cx="3172968"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Outputs</a:t>
            </a:r>
            <a:endParaRPr lang="en-US" sz="1300" dirty="0"/>
          </a:p>
        </p:txBody>
      </p:sp>
      <p:sp>
        <p:nvSpPr>
          <p:cNvPr id="22" name="Text 20"/>
          <p:cNvSpPr/>
          <p:nvPr/>
        </p:nvSpPr>
        <p:spPr>
          <a:xfrm>
            <a:off x="8403336" y="3364992"/>
            <a:ext cx="3172968" cy="39319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per-frame CSV  +  2 s aggregated snapshots</a:t>
            </a:r>
            <a:endParaRPr lang="en-US" sz="1050" dirty="0"/>
          </a:p>
        </p:txBody>
      </p:sp>
      <p:sp>
        <p:nvSpPr>
          <p:cNvPr id="23" name="Shape 21"/>
          <p:cNvSpPr/>
          <p:nvPr/>
        </p:nvSpPr>
        <p:spPr>
          <a:xfrm>
            <a:off x="502920" y="4023360"/>
            <a:ext cx="11183112" cy="804672"/>
          </a:xfrm>
          <a:prstGeom prst="rect">
            <a:avLst/>
          </a:prstGeom>
          <a:solidFill>
            <a:srgbClr val="2B3136"/>
          </a:solidFill>
          <a:ln w="12700">
            <a:solidFill>
              <a:srgbClr val="2B3136"/>
            </a:solidFill>
            <a:prstDash val="solid"/>
          </a:ln>
        </p:spPr>
      </p:sp>
      <p:sp>
        <p:nvSpPr>
          <p:cNvPr id="24" name="Text 22"/>
          <p:cNvSpPr/>
          <p:nvPr/>
        </p:nvSpPr>
        <p:spPr>
          <a:xfrm>
            <a:off x="612648" y="4114800"/>
            <a:ext cx="10963656" cy="27432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mec-cast-telemetry — the shared spine</a:t>
            </a:r>
            <a:endParaRPr lang="en-US" sz="1300" dirty="0"/>
          </a:p>
        </p:txBody>
      </p:sp>
      <p:sp>
        <p:nvSpPr>
          <p:cNvPr id="25" name="Text 23"/>
          <p:cNvSpPr/>
          <p:nvPr/>
        </p:nvSpPr>
        <p:spPr>
          <a:xfrm>
            <a:off x="612648" y="4407408"/>
            <a:ext cx="10963656" cy="329184"/>
          </a:xfrm>
          <a:prstGeom prst="rect">
            <a:avLst/>
          </a:prstGeom>
          <a:noFill/>
          <a:ln/>
        </p:spPr>
        <p:txBody>
          <a:bodyPr wrap="square" lIns="0" tIns="0" rIns="0" bIns="0" rtlCol="0" anchor="t"/>
          <a:lstStyle/>
          <a:p>
            <a:pPr indent="0" marL="0">
              <a:lnSpc>
                <a:spcPct val="108000"/>
              </a:lnSpc>
              <a:buNone/>
            </a:pPr>
            <a:r>
              <a:rPr lang="en-US" sz="1100" dirty="0">
                <a:solidFill>
                  <a:srgbClr val="D5D8DA"/>
                </a:solidFill>
                <a:latin typeface="Calibri" pitchFamily="34" charset="0"/>
                <a:ea typeface="Calibri" pitchFamily="34" charset="-122"/>
                <a:cs typeface="Calibri" pitchFamily="34" charset="-120"/>
              </a:rPr>
              <a:t>64-byte TimingEnvelope · DelayStats with exact percentiles · clocks and PTP monitor · lock-free recorder</a:t>
            </a:r>
            <a:endParaRPr lang="en-US" sz="1100" dirty="0"/>
          </a:p>
        </p:txBody>
      </p:sp>
      <p:sp>
        <p:nvSpPr>
          <p:cNvPr id="26" name="Shape 24"/>
          <p:cNvSpPr/>
          <p:nvPr/>
        </p:nvSpPr>
        <p:spPr>
          <a:xfrm>
            <a:off x="502920" y="4992624"/>
            <a:ext cx="11183112" cy="713232"/>
          </a:xfrm>
          <a:prstGeom prst="rect">
            <a:avLst/>
          </a:prstGeom>
          <a:solidFill>
            <a:srgbClr val="FFFFFF"/>
          </a:solidFill>
          <a:ln w="12700">
            <a:solidFill>
              <a:srgbClr val="B9BDC0"/>
            </a:solidFill>
            <a:prstDash val="solid"/>
          </a:ln>
        </p:spPr>
      </p:sp>
      <p:sp>
        <p:nvSpPr>
          <p:cNvPr id="27" name="Text 25"/>
          <p:cNvSpPr/>
          <p:nvPr/>
        </p:nvSpPr>
        <p:spPr>
          <a:xfrm>
            <a:off x="612648" y="5084064"/>
            <a:ext cx="10963656" cy="274320"/>
          </a:xfrm>
          <a:prstGeom prst="rect">
            <a:avLst/>
          </a:prstGeom>
          <a:noFill/>
          <a:ln/>
        </p:spPr>
        <p:txBody>
          <a:bodyPr wrap="square" lIns="0" tIns="0" rIns="0" bIns="0" rtlCol="0" anchor="ctr"/>
          <a:lstStyle/>
          <a:p>
            <a:pPr algn="l" indent="0" marL="0">
              <a:buNone/>
            </a:pPr>
            <a:r>
              <a:rPr lang="en-US" sz="1200" b="1" dirty="0">
                <a:solidFill>
                  <a:srgbClr val="1A1A1A"/>
                </a:solidFill>
                <a:latin typeface="Calibri" pitchFamily="34" charset="0"/>
                <a:ea typeface="Calibri" pitchFamily="34" charset="-122"/>
                <a:cs typeface="Calibri" pitchFamily="34" charset="-120"/>
              </a:rPr>
              <a:t>Logging service — PostgreSQL</a:t>
            </a:r>
            <a:endParaRPr lang="en-US" sz="1200" dirty="0"/>
          </a:p>
        </p:txBody>
      </p:sp>
      <p:sp>
        <p:nvSpPr>
          <p:cNvPr id="28" name="Text 26"/>
          <p:cNvSpPr/>
          <p:nvPr/>
        </p:nvSpPr>
        <p:spPr>
          <a:xfrm>
            <a:off x="612648" y="5376672"/>
            <a:ext cx="10963656" cy="237744"/>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Every component posts snapshots here; RUN_ID is the trace_id that joins UE, edge and RAN for one experiment.</a:t>
            </a:r>
            <a:endParaRPr lang="en-US" sz="1100" dirty="0"/>
          </a:p>
        </p:txBody>
      </p:sp>
      <p:sp>
        <p:nvSpPr>
          <p:cNvPr id="29" name="Text 27"/>
          <p:cNvSpPr/>
          <p:nvPr/>
        </p:nvSpPr>
        <p:spPr>
          <a:xfrm>
            <a:off x="502920" y="5870448"/>
            <a:ext cx="11183112" cy="457200"/>
          </a:xfrm>
          <a:prstGeom prst="rect">
            <a:avLst/>
          </a:prstGeom>
          <a:noFill/>
          <a:ln/>
        </p:spPr>
        <p:txBody>
          <a:bodyPr wrap="square" lIns="0" tIns="0" rIns="0" bIns="0" rtlCol="0" anchor="t"/>
          <a:lstStyle/>
          <a:p>
            <a:pPr indent="0" marL="0">
              <a:lnSpc>
                <a:spcPct val="115000"/>
              </a:lnSpc>
              <a:buNone/>
            </a:pPr>
            <a:r>
              <a:rPr lang="en-US" sz="1050" dirty="0">
                <a:solidFill>
                  <a:srgbClr val="444C52"/>
                </a:solidFill>
                <a:latin typeface="Calibri" pitchFamily="34" charset="0"/>
                <a:ea typeface="Calibri" pitchFamily="34" charset="-122"/>
                <a:cs typeface="Calibri" pitchFamily="34" charset="-120"/>
              </a:rPr>
              <a:t>PTP disciplines every measuring host over the management LAN — never the 5G user plane, which carries no time sync. What makes a cross-host delay valid is that both ends trace to the SAME grandmaster, not which daemon gets them there.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Deployment — local (development)</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One docker network, no hardware. Network impairment is simulated so the pipeline can be exercised end to end on a laptop.</a:t>
            </a:r>
            <a:endParaRPr lang="en-US" sz="1300" dirty="0"/>
          </a:p>
        </p:txBody>
      </p:sp>
      <p:sp>
        <p:nvSpPr>
          <p:cNvPr id="4" name="Shape 2"/>
          <p:cNvSpPr/>
          <p:nvPr/>
        </p:nvSpPr>
        <p:spPr>
          <a:xfrm>
            <a:off x="502920" y="1600200"/>
            <a:ext cx="2507742" cy="1051560"/>
          </a:xfrm>
          <a:prstGeom prst="rect">
            <a:avLst/>
          </a:prstGeom>
          <a:solidFill>
            <a:srgbClr val="F1F2F3"/>
          </a:solidFill>
          <a:ln w="12700">
            <a:solidFill>
              <a:srgbClr val="B9BDC0"/>
            </a:solidFill>
            <a:prstDash val="solid"/>
          </a:ln>
        </p:spPr>
      </p:sp>
      <p:sp>
        <p:nvSpPr>
          <p:cNvPr id="5" name="Text 3"/>
          <p:cNvSpPr/>
          <p:nvPr/>
        </p:nvSpPr>
        <p:spPr>
          <a:xfrm>
            <a:off x="612648" y="1691640"/>
            <a:ext cx="228828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lidar-client</a:t>
            </a:r>
            <a:endParaRPr lang="en-US" sz="1300" dirty="0"/>
          </a:p>
        </p:txBody>
      </p:sp>
      <p:sp>
        <p:nvSpPr>
          <p:cNvPr id="6" name="Text 4"/>
          <p:cNvSpPr/>
          <p:nvPr/>
        </p:nvSpPr>
        <p:spPr>
          <a:xfrm>
            <a:off x="612648" y="1984248"/>
            <a:ext cx="2288286" cy="57607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synthetic PointCloud2</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seed · num_points · rate_hz</a:t>
            </a:r>
            <a:endParaRPr lang="en-US" sz="1050" dirty="0"/>
          </a:p>
        </p:txBody>
      </p:sp>
      <p:sp>
        <p:nvSpPr>
          <p:cNvPr id="7" name="Shape 5"/>
          <p:cNvSpPr/>
          <p:nvPr/>
        </p:nvSpPr>
        <p:spPr>
          <a:xfrm>
            <a:off x="3394710" y="1600200"/>
            <a:ext cx="2507742" cy="1051560"/>
          </a:xfrm>
          <a:prstGeom prst="rect">
            <a:avLst/>
          </a:prstGeom>
          <a:solidFill>
            <a:srgbClr val="F1F2F3"/>
          </a:solidFill>
          <a:ln w="12700">
            <a:solidFill>
              <a:srgbClr val="B9BDC0"/>
            </a:solidFill>
            <a:prstDash val="solid"/>
          </a:ln>
        </p:spPr>
      </p:sp>
      <p:sp>
        <p:nvSpPr>
          <p:cNvPr id="8" name="Text 6"/>
          <p:cNvSpPr/>
          <p:nvPr/>
        </p:nvSpPr>
        <p:spPr>
          <a:xfrm>
            <a:off x="3504438" y="1691640"/>
            <a:ext cx="228828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netem sidecar</a:t>
            </a:r>
            <a:endParaRPr lang="en-US" sz="1300" dirty="0"/>
          </a:p>
        </p:txBody>
      </p:sp>
      <p:sp>
        <p:nvSpPr>
          <p:cNvPr id="9" name="Text 7"/>
          <p:cNvSpPr/>
          <p:nvPr/>
        </p:nvSpPr>
        <p:spPr>
          <a:xfrm>
            <a:off x="3504438" y="1984248"/>
            <a:ext cx="2288286" cy="57607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shares the client netns</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delay · jitter · loss</a:t>
            </a:r>
            <a:endParaRPr lang="en-US" sz="1050" dirty="0"/>
          </a:p>
        </p:txBody>
      </p:sp>
      <p:sp>
        <p:nvSpPr>
          <p:cNvPr id="10" name="Shape 8"/>
          <p:cNvSpPr/>
          <p:nvPr/>
        </p:nvSpPr>
        <p:spPr>
          <a:xfrm>
            <a:off x="6286500" y="1600200"/>
            <a:ext cx="2507742" cy="1051560"/>
          </a:xfrm>
          <a:prstGeom prst="rect">
            <a:avLst/>
          </a:prstGeom>
          <a:solidFill>
            <a:srgbClr val="F1F2F3"/>
          </a:solidFill>
          <a:ln w="12700">
            <a:solidFill>
              <a:srgbClr val="B9BDC0"/>
            </a:solidFill>
            <a:prstDash val="solid"/>
          </a:ln>
        </p:spPr>
      </p:sp>
      <p:sp>
        <p:nvSpPr>
          <p:cNvPr id="11" name="Text 9"/>
          <p:cNvSpPr/>
          <p:nvPr/>
        </p:nvSpPr>
        <p:spPr>
          <a:xfrm>
            <a:off x="6396228" y="1691640"/>
            <a:ext cx="228828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zenoh-router</a:t>
            </a:r>
            <a:endParaRPr lang="en-US" sz="1300" dirty="0"/>
          </a:p>
        </p:txBody>
      </p:sp>
      <p:sp>
        <p:nvSpPr>
          <p:cNvPr id="12" name="Text 10"/>
          <p:cNvSpPr/>
          <p:nvPr/>
        </p:nvSpPr>
        <p:spPr>
          <a:xfrm>
            <a:off x="6396228" y="1984248"/>
            <a:ext cx="2288286" cy="57607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the rendezvous point</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port 7447</a:t>
            </a:r>
            <a:endParaRPr lang="en-US" sz="1050" dirty="0"/>
          </a:p>
        </p:txBody>
      </p:sp>
      <p:sp>
        <p:nvSpPr>
          <p:cNvPr id="13" name="Shape 11"/>
          <p:cNvSpPr/>
          <p:nvPr/>
        </p:nvSpPr>
        <p:spPr>
          <a:xfrm>
            <a:off x="9178290" y="1600200"/>
            <a:ext cx="2507742" cy="1051560"/>
          </a:xfrm>
          <a:prstGeom prst="rect">
            <a:avLst/>
          </a:prstGeom>
          <a:solidFill>
            <a:srgbClr val="F1F2F3"/>
          </a:solidFill>
          <a:ln w="12700">
            <a:solidFill>
              <a:srgbClr val="B9BDC0"/>
            </a:solidFill>
            <a:prstDash val="solid"/>
          </a:ln>
        </p:spPr>
      </p:sp>
      <p:sp>
        <p:nvSpPr>
          <p:cNvPr id="14" name="Text 12"/>
          <p:cNvSpPr/>
          <p:nvPr/>
        </p:nvSpPr>
        <p:spPr>
          <a:xfrm>
            <a:off x="9288018" y="1691640"/>
            <a:ext cx="228828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edge</a:t>
            </a:r>
            <a:endParaRPr lang="en-US" sz="1300" dirty="0"/>
          </a:p>
        </p:txBody>
      </p:sp>
      <p:sp>
        <p:nvSpPr>
          <p:cNvPr id="15" name="Text 13"/>
          <p:cNvSpPr/>
          <p:nvPr/>
        </p:nvSpPr>
        <p:spPr>
          <a:xfrm>
            <a:off x="9288018" y="1984248"/>
            <a:ext cx="2288286" cy="57607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ingest + processing</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writes CSV</a:t>
            </a:r>
            <a:endParaRPr lang="en-US" sz="1050" dirty="0"/>
          </a:p>
        </p:txBody>
      </p:sp>
      <p:sp>
        <p:nvSpPr>
          <p:cNvPr id="16" name="Shape 14"/>
          <p:cNvSpPr/>
          <p:nvPr/>
        </p:nvSpPr>
        <p:spPr>
          <a:xfrm>
            <a:off x="3056382" y="2125980"/>
            <a:ext cx="292608" cy="0"/>
          </a:xfrm>
          <a:prstGeom prst="line">
            <a:avLst/>
          </a:prstGeom>
          <a:noFill/>
          <a:ln w="15875">
            <a:solidFill>
              <a:srgbClr val="444C52"/>
            </a:solidFill>
            <a:prstDash val="solid"/>
            <a:tailEnd type="triangle"/>
          </a:ln>
        </p:spPr>
      </p:sp>
      <p:sp>
        <p:nvSpPr>
          <p:cNvPr id="17" name="Shape 15"/>
          <p:cNvSpPr/>
          <p:nvPr/>
        </p:nvSpPr>
        <p:spPr>
          <a:xfrm>
            <a:off x="5948172" y="2125980"/>
            <a:ext cx="292608" cy="0"/>
          </a:xfrm>
          <a:prstGeom prst="line">
            <a:avLst/>
          </a:prstGeom>
          <a:noFill/>
          <a:ln w="15875">
            <a:solidFill>
              <a:srgbClr val="444C52"/>
            </a:solidFill>
            <a:prstDash val="solid"/>
            <a:tailEnd type="triangle"/>
          </a:ln>
        </p:spPr>
      </p:sp>
      <p:sp>
        <p:nvSpPr>
          <p:cNvPr id="18" name="Shape 16"/>
          <p:cNvSpPr/>
          <p:nvPr/>
        </p:nvSpPr>
        <p:spPr>
          <a:xfrm>
            <a:off x="8839962" y="2125980"/>
            <a:ext cx="292608" cy="0"/>
          </a:xfrm>
          <a:prstGeom prst="line">
            <a:avLst/>
          </a:prstGeom>
          <a:noFill/>
          <a:ln w="15875">
            <a:solidFill>
              <a:srgbClr val="444C52"/>
            </a:solidFill>
            <a:prstDash val="solid"/>
            <a:tailEnd type="triangle"/>
          </a:ln>
        </p:spPr>
      </p:sp>
      <p:sp>
        <p:nvSpPr>
          <p:cNvPr id="19" name="Shape 17"/>
          <p:cNvSpPr/>
          <p:nvPr/>
        </p:nvSpPr>
        <p:spPr>
          <a:xfrm>
            <a:off x="502920" y="2880360"/>
            <a:ext cx="5394960" cy="914400"/>
          </a:xfrm>
          <a:prstGeom prst="rect">
            <a:avLst/>
          </a:prstGeom>
          <a:solidFill>
            <a:srgbClr val="F1F2F3"/>
          </a:solidFill>
          <a:ln w="12700">
            <a:solidFill>
              <a:srgbClr val="B9BDC0"/>
            </a:solidFill>
            <a:prstDash val="solid"/>
          </a:ln>
        </p:spPr>
      </p:sp>
      <p:sp>
        <p:nvSpPr>
          <p:cNvPr id="20" name="Text 18"/>
          <p:cNvSpPr/>
          <p:nvPr/>
        </p:nvSpPr>
        <p:spPr>
          <a:xfrm>
            <a:off x="612648" y="2971800"/>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logging + postgres</a:t>
            </a:r>
            <a:endParaRPr lang="en-US" sz="1300" dirty="0"/>
          </a:p>
        </p:txBody>
      </p:sp>
      <p:sp>
        <p:nvSpPr>
          <p:cNvPr id="21" name="Text 19"/>
          <p:cNvSpPr/>
          <p:nvPr/>
        </p:nvSpPr>
        <p:spPr>
          <a:xfrm>
            <a:off x="612648" y="3264408"/>
            <a:ext cx="5175504" cy="4389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postgres:16 has no host port — reachable only inside the compose network</a:t>
            </a:r>
            <a:endParaRPr lang="en-US" sz="1050" dirty="0"/>
          </a:p>
        </p:txBody>
      </p:sp>
      <p:sp>
        <p:nvSpPr>
          <p:cNvPr id="22" name="Shape 20"/>
          <p:cNvSpPr/>
          <p:nvPr/>
        </p:nvSpPr>
        <p:spPr>
          <a:xfrm>
            <a:off x="6291072" y="2880360"/>
            <a:ext cx="5394960" cy="914400"/>
          </a:xfrm>
          <a:prstGeom prst="rect">
            <a:avLst/>
          </a:prstGeom>
          <a:solidFill>
            <a:srgbClr val="F1F2F3"/>
          </a:solidFill>
          <a:ln w="12700">
            <a:solidFill>
              <a:srgbClr val="B9BDC0"/>
            </a:solidFill>
            <a:prstDash val="solid"/>
          </a:ln>
        </p:spPr>
      </p:sp>
      <p:sp>
        <p:nvSpPr>
          <p:cNvPr id="23" name="Text 21"/>
          <p:cNvSpPr/>
          <p:nvPr/>
        </p:nvSpPr>
        <p:spPr>
          <a:xfrm>
            <a:off x="6400800" y="2971800"/>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runs/  (bind mount)</a:t>
            </a:r>
            <a:endParaRPr lang="en-US" sz="1300" dirty="0"/>
          </a:p>
        </p:txBody>
      </p:sp>
      <p:sp>
        <p:nvSpPr>
          <p:cNvPr id="24" name="Text 22"/>
          <p:cNvSpPr/>
          <p:nvPr/>
        </p:nvSpPr>
        <p:spPr>
          <a:xfrm>
            <a:off x="6400800" y="3264408"/>
            <a:ext cx="5175504" cy="4389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per-frame CSV lands on the host and survives docker compose down</a:t>
            </a:r>
            <a:endParaRPr lang="en-US" sz="1050" dirty="0"/>
          </a:p>
        </p:txBody>
      </p:sp>
      <p:sp>
        <p:nvSpPr>
          <p:cNvPr id="25" name="Text 23"/>
          <p:cNvSpPr/>
          <p:nvPr/>
        </p:nvSpPr>
        <p:spPr>
          <a:xfrm>
            <a:off x="502920" y="4023360"/>
            <a:ext cx="5394960" cy="2103120"/>
          </a:xfrm>
          <a:prstGeom prst="rect">
            <a:avLst/>
          </a:prstGeom>
          <a:noFill/>
          <a:ln/>
        </p:spPr>
        <p:txBody>
          <a:bodyPr wrap="square" lIns="0" tIns="0" rIns="0" bIns="0" rtlCol="0" anchor="t"/>
          <a:lstStyle/>
          <a:p>
            <a:pPr indent="0" marL="0">
              <a:lnSpc>
                <a:spcPct val="115000"/>
              </a:lnSpc>
              <a:buNone/>
            </a:pPr>
            <a:r>
              <a:rPr lang="en-US" sz="1150" b="1" dirty="0">
                <a:solidFill>
                  <a:srgbClr val="444C52"/>
                </a:solidFill>
                <a:latin typeface="Calibri" pitchFamily="34" charset="0"/>
                <a:ea typeface="Calibri" pitchFamily="34" charset="-122"/>
                <a:cs typeface="Calibri" pitchFamily="34" charset="-120"/>
              </a:rPr>
              <a:t>Bring it all up:</a:t>
            </a:r>
            <a:endParaRPr lang="en-US" sz="1150" dirty="0"/>
          </a:p>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make up-local</a:t>
            </a:r>
            <a:endParaRPr lang="en-US" sz="1150" dirty="0"/>
          </a:p>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make logs        make down</a:t>
            </a:r>
            <a:endParaRPr lang="en-US" sz="1150" dirty="0"/>
          </a:p>
          <a:p>
            <a:pPr indent="0" marL="0">
              <a:lnSpc>
                <a:spcPct val="115000"/>
              </a:lnSpc>
              <a:buNone/>
            </a:pPr>
            <a:endParaRPr lang="en-US" sz="1150" dirty="0"/>
          </a:p>
          <a:p>
            <a:pPr indent="0" marL="0">
              <a:lnSpc>
                <a:spcPct val="115000"/>
              </a:lnSpc>
              <a:buNone/>
            </a:pPr>
            <a:r>
              <a:rPr lang="en-US" sz="1150" b="1" dirty="0">
                <a:solidFill>
                  <a:srgbClr val="444C52"/>
                </a:solidFill>
                <a:latin typeface="Calibri" pitchFamily="34" charset="0"/>
                <a:ea typeface="Calibri" pitchFamily="34" charset="-122"/>
                <a:cs typeface="Calibri" pitchFamily="34" charset="-120"/>
              </a:rPr>
              <a:t>Or one container per terminal:</a:t>
            </a:r>
            <a:endParaRPr lang="en-US" sz="1150" dirty="0"/>
          </a:p>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$COMPOSE up --no-deps &lt;service&gt;</a:t>
            </a:r>
            <a:endParaRPr lang="en-US" sz="1150" dirty="0"/>
          </a:p>
        </p:txBody>
      </p:sp>
      <p:sp>
        <p:nvSpPr>
          <p:cNvPr id="26" name="Text 24"/>
          <p:cNvSpPr/>
          <p:nvPr/>
        </p:nvSpPr>
        <p:spPr>
          <a:xfrm>
            <a:off x="6291072" y="4023360"/>
            <a:ext cx="5394960" cy="210312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Two compose files are always passed together so the containers share one network.</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The netem sidecar impairs the client's egress — modelling the 5G uplink without touching host networking.</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Same containers as the lab; only the composition differs.</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Deployment — lab testbed</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Four roles on four hosts. The impairment is now the real 5G uplink, and clock discipline becomes a hard requirement.</a:t>
            </a:r>
            <a:endParaRPr lang="en-US" sz="1300" dirty="0"/>
          </a:p>
        </p:txBody>
      </p:sp>
      <p:sp>
        <p:nvSpPr>
          <p:cNvPr id="4" name="Shape 2"/>
          <p:cNvSpPr/>
          <p:nvPr/>
        </p:nvSpPr>
        <p:spPr>
          <a:xfrm>
            <a:off x="502920" y="1600200"/>
            <a:ext cx="2507742" cy="1188720"/>
          </a:xfrm>
          <a:prstGeom prst="rect">
            <a:avLst/>
          </a:prstGeom>
          <a:solidFill>
            <a:srgbClr val="F1F2F3"/>
          </a:solidFill>
          <a:ln w="12700">
            <a:solidFill>
              <a:srgbClr val="B9BDC0"/>
            </a:solidFill>
            <a:prstDash val="solid"/>
          </a:ln>
        </p:spPr>
      </p:sp>
      <p:sp>
        <p:nvSpPr>
          <p:cNvPr id="5" name="Text 3"/>
          <p:cNvSpPr/>
          <p:nvPr/>
        </p:nvSpPr>
        <p:spPr>
          <a:xfrm>
            <a:off x="612648" y="1691640"/>
            <a:ext cx="228828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ue</a:t>
            </a:r>
            <a:endParaRPr lang="en-US" sz="1300" dirty="0"/>
          </a:p>
        </p:txBody>
      </p:sp>
      <p:sp>
        <p:nvSpPr>
          <p:cNvPr id="6" name="Text 4"/>
          <p:cNvSpPr/>
          <p:nvPr/>
        </p:nvSpPr>
        <p:spPr>
          <a:xfrm>
            <a:off x="612648" y="1984248"/>
            <a:ext cx="2288286"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lidar-client</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behind the 5G modem</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needs EDGE_HOST</a:t>
            </a:r>
            <a:endParaRPr lang="en-US" sz="1050" dirty="0"/>
          </a:p>
        </p:txBody>
      </p:sp>
      <p:sp>
        <p:nvSpPr>
          <p:cNvPr id="7" name="Shape 5"/>
          <p:cNvSpPr/>
          <p:nvPr/>
        </p:nvSpPr>
        <p:spPr>
          <a:xfrm>
            <a:off x="3394710" y="1600200"/>
            <a:ext cx="2507742" cy="1188720"/>
          </a:xfrm>
          <a:prstGeom prst="rect">
            <a:avLst/>
          </a:prstGeom>
          <a:solidFill>
            <a:srgbClr val="F1F2F3"/>
          </a:solidFill>
          <a:ln w="12700">
            <a:solidFill>
              <a:srgbClr val="B9BDC0"/>
            </a:solidFill>
            <a:prstDash val="solid"/>
          </a:ln>
        </p:spPr>
      </p:sp>
      <p:sp>
        <p:nvSpPr>
          <p:cNvPr id="8" name="Text 6"/>
          <p:cNvSpPr/>
          <p:nvPr/>
        </p:nvSpPr>
        <p:spPr>
          <a:xfrm>
            <a:off x="3504438" y="1691640"/>
            <a:ext cx="228828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gnb</a:t>
            </a:r>
            <a:endParaRPr lang="en-US" sz="1300" dirty="0"/>
          </a:p>
        </p:txBody>
      </p:sp>
      <p:sp>
        <p:nvSpPr>
          <p:cNvPr id="9" name="Text 7"/>
          <p:cNvSpPr/>
          <p:nvPr/>
        </p:nvSpPr>
        <p:spPr>
          <a:xfrm>
            <a:off x="3504438" y="1984248"/>
            <a:ext cx="2288286"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ran-collector</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beside the srsRAN O-DU</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UDP :55555</a:t>
            </a:r>
            <a:endParaRPr lang="en-US" sz="1050" dirty="0"/>
          </a:p>
        </p:txBody>
      </p:sp>
      <p:sp>
        <p:nvSpPr>
          <p:cNvPr id="10" name="Shape 8"/>
          <p:cNvSpPr/>
          <p:nvPr/>
        </p:nvSpPr>
        <p:spPr>
          <a:xfrm>
            <a:off x="6286500" y="1600200"/>
            <a:ext cx="2507742" cy="1188720"/>
          </a:xfrm>
          <a:prstGeom prst="rect">
            <a:avLst/>
          </a:prstGeom>
          <a:solidFill>
            <a:srgbClr val="F1F2F3"/>
          </a:solidFill>
          <a:ln w="12700">
            <a:solidFill>
              <a:srgbClr val="B9BDC0"/>
            </a:solidFill>
            <a:prstDash val="solid"/>
          </a:ln>
        </p:spPr>
      </p:sp>
      <p:sp>
        <p:nvSpPr>
          <p:cNvPr id="11" name="Text 9"/>
          <p:cNvSpPr/>
          <p:nvPr/>
        </p:nvSpPr>
        <p:spPr>
          <a:xfrm>
            <a:off x="6396228" y="1691640"/>
            <a:ext cx="228828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edge</a:t>
            </a:r>
            <a:endParaRPr lang="en-US" sz="1300" dirty="0"/>
          </a:p>
        </p:txBody>
      </p:sp>
      <p:sp>
        <p:nvSpPr>
          <p:cNvPr id="12" name="Text 10"/>
          <p:cNvSpPr/>
          <p:nvPr/>
        </p:nvSpPr>
        <p:spPr>
          <a:xfrm>
            <a:off x="6396228" y="1984248"/>
            <a:ext cx="2288286"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zenoh-router + edge</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the MEC app server</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behind the UPF</a:t>
            </a:r>
            <a:endParaRPr lang="en-US" sz="1050" dirty="0"/>
          </a:p>
        </p:txBody>
      </p:sp>
      <p:sp>
        <p:nvSpPr>
          <p:cNvPr id="13" name="Shape 11"/>
          <p:cNvSpPr/>
          <p:nvPr/>
        </p:nvSpPr>
        <p:spPr>
          <a:xfrm>
            <a:off x="9178290" y="1600200"/>
            <a:ext cx="2507742" cy="1188720"/>
          </a:xfrm>
          <a:prstGeom prst="rect">
            <a:avLst/>
          </a:prstGeom>
          <a:solidFill>
            <a:srgbClr val="F1F2F3"/>
          </a:solidFill>
          <a:ln w="12700">
            <a:solidFill>
              <a:srgbClr val="B9BDC0"/>
            </a:solidFill>
            <a:prstDash val="solid"/>
          </a:ln>
        </p:spPr>
      </p:sp>
      <p:sp>
        <p:nvSpPr>
          <p:cNvPr id="14" name="Text 12"/>
          <p:cNvSpPr/>
          <p:nvPr/>
        </p:nvSpPr>
        <p:spPr>
          <a:xfrm>
            <a:off x="9288018" y="1691640"/>
            <a:ext cx="228828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infra</a:t>
            </a:r>
            <a:endParaRPr lang="en-US" sz="1300" dirty="0"/>
          </a:p>
        </p:txBody>
      </p:sp>
      <p:sp>
        <p:nvSpPr>
          <p:cNvPr id="15" name="Text 13"/>
          <p:cNvSpPr/>
          <p:nvPr/>
        </p:nvSpPr>
        <p:spPr>
          <a:xfrm>
            <a:off x="9288018" y="1984248"/>
            <a:ext cx="2288286"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logging + postgres</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pgdata volume</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deploy this first</a:t>
            </a:r>
            <a:endParaRPr lang="en-US" sz="1050" dirty="0"/>
          </a:p>
        </p:txBody>
      </p:sp>
      <p:sp>
        <p:nvSpPr>
          <p:cNvPr id="16" name="Shape 14"/>
          <p:cNvSpPr/>
          <p:nvPr/>
        </p:nvSpPr>
        <p:spPr>
          <a:xfrm>
            <a:off x="3056382" y="2194560"/>
            <a:ext cx="292608" cy="0"/>
          </a:xfrm>
          <a:prstGeom prst="line">
            <a:avLst/>
          </a:prstGeom>
          <a:noFill/>
          <a:ln w="15875">
            <a:solidFill>
              <a:srgbClr val="444C52"/>
            </a:solidFill>
            <a:prstDash val="solid"/>
            <a:tailEnd type="triangle"/>
          </a:ln>
        </p:spPr>
      </p:sp>
      <p:sp>
        <p:nvSpPr>
          <p:cNvPr id="17" name="Shape 15"/>
          <p:cNvSpPr/>
          <p:nvPr/>
        </p:nvSpPr>
        <p:spPr>
          <a:xfrm>
            <a:off x="5948172" y="2194560"/>
            <a:ext cx="292608" cy="0"/>
          </a:xfrm>
          <a:prstGeom prst="line">
            <a:avLst/>
          </a:prstGeom>
          <a:noFill/>
          <a:ln w="15875">
            <a:solidFill>
              <a:srgbClr val="444C52"/>
            </a:solidFill>
            <a:prstDash val="solid"/>
            <a:tailEnd type="triangle"/>
          </a:ln>
        </p:spPr>
      </p:sp>
      <p:sp>
        <p:nvSpPr>
          <p:cNvPr id="18" name="Shape 16"/>
          <p:cNvSpPr/>
          <p:nvPr/>
        </p:nvSpPr>
        <p:spPr>
          <a:xfrm>
            <a:off x="8839962" y="2194560"/>
            <a:ext cx="292608" cy="0"/>
          </a:xfrm>
          <a:prstGeom prst="line">
            <a:avLst/>
          </a:prstGeom>
          <a:noFill/>
          <a:ln w="15875">
            <a:solidFill>
              <a:srgbClr val="444C52"/>
            </a:solidFill>
            <a:prstDash val="solid"/>
            <a:tailEnd type="triangle"/>
          </a:ln>
        </p:spPr>
      </p:sp>
      <p:sp>
        <p:nvSpPr>
          <p:cNvPr id="19" name="Shape 17"/>
          <p:cNvSpPr/>
          <p:nvPr/>
        </p:nvSpPr>
        <p:spPr>
          <a:xfrm>
            <a:off x="502920" y="2999232"/>
            <a:ext cx="11183112" cy="777240"/>
          </a:xfrm>
          <a:prstGeom prst="rect">
            <a:avLst/>
          </a:prstGeom>
          <a:solidFill>
            <a:srgbClr val="2B3136"/>
          </a:solidFill>
          <a:ln w="12700">
            <a:solidFill>
              <a:srgbClr val="2B3136"/>
            </a:solidFill>
            <a:prstDash val="solid"/>
          </a:ln>
        </p:spPr>
      </p:sp>
      <p:sp>
        <p:nvSpPr>
          <p:cNvPr id="20" name="Text 18"/>
          <p:cNvSpPr/>
          <p:nvPr/>
        </p:nvSpPr>
        <p:spPr>
          <a:xfrm>
            <a:off x="612648" y="3090672"/>
            <a:ext cx="10963656" cy="27432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PTP grandmaster — management / backhaul LAN</a:t>
            </a:r>
            <a:endParaRPr lang="en-US" sz="1300" dirty="0"/>
          </a:p>
        </p:txBody>
      </p:sp>
      <p:sp>
        <p:nvSpPr>
          <p:cNvPr id="21" name="Text 19"/>
          <p:cNvSpPr/>
          <p:nvPr/>
        </p:nvSpPr>
        <p:spPr>
          <a:xfrm>
            <a:off x="612648" y="3383280"/>
            <a:ext cx="10963656" cy="301752"/>
          </a:xfrm>
          <a:prstGeom prst="rect">
            <a:avLst/>
          </a:prstGeom>
          <a:noFill/>
          <a:ln/>
        </p:spPr>
        <p:txBody>
          <a:bodyPr wrap="square" lIns="0" tIns="0" rIns="0" bIns="0" rtlCol="0" anchor="t"/>
          <a:lstStyle/>
          <a:p>
            <a:pPr indent="0" marL="0">
              <a:lnSpc>
                <a:spcPct val="108000"/>
              </a:lnSpc>
              <a:buNone/>
            </a:pPr>
            <a:r>
              <a:rPr lang="en-US" sz="1100" dirty="0">
                <a:solidFill>
                  <a:srgbClr val="D5D8DA"/>
                </a:solidFill>
                <a:latin typeface="Calibri" pitchFamily="34" charset="0"/>
                <a:ea typeface="Calibri" pitchFamily="34" charset="-122"/>
                <a:cs typeface="Calibri" pitchFamily="34" charset="-120"/>
              </a:rPr>
              <a:t>One grandmaster for every measuring host; the daemon varies. srsRAN and Open5GS implement no 5G-TSN, so the user plane carries no time sync.</a:t>
            </a:r>
            <a:endParaRPr lang="en-US" sz="1100" dirty="0"/>
          </a:p>
        </p:txBody>
      </p:sp>
      <p:sp>
        <p:nvSpPr>
          <p:cNvPr id="22" name="Text 20"/>
          <p:cNvSpPr/>
          <p:nvPr/>
        </p:nvSpPr>
        <p:spPr>
          <a:xfrm>
            <a:off x="502920" y="4005072"/>
            <a:ext cx="5394960" cy="2194560"/>
          </a:xfrm>
          <a:prstGeom prst="rect">
            <a:avLst/>
          </a:prstGeom>
          <a:noFill/>
          <a:ln/>
        </p:spPr>
        <p:txBody>
          <a:bodyPr wrap="square" lIns="0" tIns="0" rIns="0" bIns="0" rtlCol="0" anchor="t"/>
          <a:lstStyle/>
          <a:p>
            <a:pPr indent="0" marL="0">
              <a:lnSpc>
                <a:spcPct val="115000"/>
              </a:lnSpc>
              <a:buNone/>
            </a:pPr>
            <a:r>
              <a:rPr lang="en-US" sz="1150" b="1" dirty="0">
                <a:solidFill>
                  <a:srgbClr val="444C52"/>
                </a:solidFill>
                <a:latin typeface="Calibri" pitchFamily="34" charset="0"/>
                <a:ea typeface="Calibri" pitchFamily="34" charset="-122"/>
                <a:cs typeface="Calibri" pitchFamily="34" charset="-120"/>
              </a:rPr>
              <a:t>Deploy one role to one host:</a:t>
            </a:r>
            <a:endParaRPr lang="en-US" sz="1150" dirty="0"/>
          </a:p>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bash deploy/lab/deploy.sh infra ops@infra-host</a:t>
            </a:r>
            <a:endParaRPr lang="en-US" sz="1150" dirty="0"/>
          </a:p>
          <a:p>
            <a:pPr indent="0" marL="0">
              <a:lnSpc>
                <a:spcPct val="115000"/>
              </a:lnSpc>
              <a:buNone/>
            </a:pPr>
            <a:endParaRPr lang="en-US" sz="1150" dirty="0"/>
          </a:p>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Start order: infra → edge → gnb → ue</a:t>
            </a:r>
            <a:endParaRPr lang="en-US" sz="1150" dirty="0"/>
          </a:p>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Everything posts to the logging service, and the UE dials the edge's router.</a:t>
            </a:r>
            <a:endParaRPr lang="en-US" sz="1150" dirty="0"/>
          </a:p>
        </p:txBody>
      </p:sp>
      <p:sp>
        <p:nvSpPr>
          <p:cNvPr id="23" name="Text 21"/>
          <p:cNvSpPr/>
          <p:nvPr/>
        </p:nvSpPr>
        <p:spPr>
          <a:xfrm>
            <a:off x="6291072" y="4005072"/>
            <a:ext cx="5394960" cy="219456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The UE dials out across the UPF — no multicast discovery is possible on a cellular user plane.</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Each role mounts /dev/ptp0 so timestamps come from the disciplined hardware clock.</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Every snapshot records ptp.reliable, so analysis can filter by clock health after the fact.</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Edge services — logging and admin</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Two first-party services on the edge host. Logging is where aggregated results land; admin is where runs are started and stopped.</a:t>
            </a:r>
            <a:endParaRPr lang="en-US" sz="1300" dirty="0"/>
          </a:p>
        </p:txBody>
      </p:sp>
      <p:sp>
        <p:nvSpPr>
          <p:cNvPr id="4" name="Shape 2"/>
          <p:cNvSpPr/>
          <p:nvPr/>
        </p:nvSpPr>
        <p:spPr>
          <a:xfrm>
            <a:off x="502920" y="1600200"/>
            <a:ext cx="5394960" cy="2286000"/>
          </a:xfrm>
          <a:prstGeom prst="rect">
            <a:avLst/>
          </a:prstGeom>
          <a:solidFill>
            <a:srgbClr val="F1F2F3"/>
          </a:solidFill>
          <a:ln w="12700">
            <a:solidFill>
              <a:srgbClr val="B9BDC0"/>
            </a:solidFill>
            <a:prstDash val="solid"/>
          </a:ln>
        </p:spPr>
      </p:sp>
      <p:sp>
        <p:nvSpPr>
          <p:cNvPr id="5" name="Text 3"/>
          <p:cNvSpPr/>
          <p:nvPr/>
        </p:nvSpPr>
        <p:spPr>
          <a:xfrm>
            <a:off x="612648" y="1691640"/>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HTTP API  (/api/v1)</a:t>
            </a:r>
            <a:endParaRPr lang="en-US" sz="1300" dirty="0"/>
          </a:p>
        </p:txBody>
      </p:sp>
      <p:sp>
        <p:nvSpPr>
          <p:cNvPr id="6" name="Text 4"/>
          <p:cNvSpPr/>
          <p:nvPr/>
        </p:nvSpPr>
        <p:spPr>
          <a:xfrm>
            <a:off x="612648" y="1984248"/>
            <a:ext cx="5175504" cy="181051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POST /logs      one entry or a batch</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GET  /logs      filter by service, level, time, trace_id</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GET  /stats     counts by level and service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GET  /health/ready   503 when the database is down</a:t>
            </a:r>
            <a:endParaRPr lang="en-US" sz="1100" dirty="0"/>
          </a:p>
          <a:p>
            <a:pPr indent="0" marL="0">
              <a:lnSpc>
                <a:spcPct val="108000"/>
              </a:lnSpc>
              <a:buNone/>
            </a:pP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Batch insert is one round trip regardless of size: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INSERT … SELECT FROM unnest(…)</a:t>
            </a:r>
            <a:endParaRPr lang="en-US" sz="1100" dirty="0"/>
          </a:p>
        </p:txBody>
      </p:sp>
      <p:sp>
        <p:nvSpPr>
          <p:cNvPr id="7" name="Shape 5"/>
          <p:cNvSpPr/>
          <p:nvPr/>
        </p:nvSpPr>
        <p:spPr>
          <a:xfrm>
            <a:off x="6291072" y="1600200"/>
            <a:ext cx="5394960" cy="2286000"/>
          </a:xfrm>
          <a:prstGeom prst="rect">
            <a:avLst/>
          </a:prstGeom>
          <a:solidFill>
            <a:srgbClr val="F1F2F3"/>
          </a:solidFill>
          <a:ln w="12700">
            <a:solidFill>
              <a:srgbClr val="B9BDC0"/>
            </a:solidFill>
            <a:prstDash val="solid"/>
          </a:ln>
        </p:spPr>
      </p:sp>
      <p:sp>
        <p:nvSpPr>
          <p:cNvPr id="8" name="Text 6"/>
          <p:cNvSpPr/>
          <p:nvPr/>
        </p:nvSpPr>
        <p:spPr>
          <a:xfrm>
            <a:off x="6400800" y="1691640"/>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Data model — log_entries</a:t>
            </a:r>
            <a:endParaRPr lang="en-US" sz="1300" dirty="0"/>
          </a:p>
        </p:txBody>
      </p:sp>
      <p:sp>
        <p:nvSpPr>
          <p:cNvPr id="9" name="Text 7"/>
          <p:cNvSpPr/>
          <p:nvPr/>
        </p:nvSpPr>
        <p:spPr>
          <a:xfrm>
            <a:off x="6400800" y="1984248"/>
            <a:ext cx="5175504" cy="181051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timestamp · level · service · host · logger · message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context   JSONB, GIN indexed — all metrics live here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trace_id  = RUN_ID, joins every component of one run</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severity  numeric mirror of level, so min_level ranks</a:t>
            </a:r>
            <a:endParaRPr lang="en-US" sz="1100" dirty="0"/>
          </a:p>
          <a:p>
            <a:pPr indent="0" marL="0">
              <a:lnSpc>
                <a:spcPct val="108000"/>
              </a:lnSpc>
              <a:buNone/>
            </a:pP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Keyset pagination on (timestamp, id) — a walk through a</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busy table never skips or duplicates rows.</a:t>
            </a:r>
            <a:endParaRPr lang="en-US" sz="1100" dirty="0"/>
          </a:p>
        </p:txBody>
      </p:sp>
      <p:sp>
        <p:nvSpPr>
          <p:cNvPr id="10" name="Shape 8"/>
          <p:cNvSpPr/>
          <p:nvPr/>
        </p:nvSpPr>
        <p:spPr>
          <a:xfrm>
            <a:off x="502920" y="4069080"/>
            <a:ext cx="5394960" cy="1371600"/>
          </a:xfrm>
          <a:prstGeom prst="rect">
            <a:avLst/>
          </a:prstGeom>
          <a:solidFill>
            <a:srgbClr val="F1F2F3"/>
          </a:solidFill>
          <a:ln w="12700">
            <a:solidFill>
              <a:srgbClr val="B9BDC0"/>
            </a:solidFill>
            <a:prstDash val="solid"/>
          </a:ln>
        </p:spPr>
      </p:sp>
      <p:sp>
        <p:nvSpPr>
          <p:cNvPr id="11" name="Text 9"/>
          <p:cNvSpPr/>
          <p:nvPr/>
        </p:nvSpPr>
        <p:spPr>
          <a:xfrm>
            <a:off x="612648" y="4160520"/>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Admin — run control plane  (:8099)</a:t>
            </a:r>
            <a:endParaRPr lang="en-US" sz="1300" dirty="0"/>
          </a:p>
        </p:txBody>
      </p:sp>
      <p:sp>
        <p:nvSpPr>
          <p:cNvPr id="12" name="Text 10"/>
          <p:cNvSpPr/>
          <p:nvPr/>
        </p:nvSpPr>
        <p:spPr>
          <a:xfrm>
            <a:off x="612648" y="4453128"/>
            <a:ext cx="5175504" cy="89611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Nodes subscribe over WebSocket on startup and retry every</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30 s. Runs are created, started and stopped from a page;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state machine, keep-alive, and workflow diagnostics.</a:t>
            </a:r>
            <a:endParaRPr lang="en-US" sz="1100" dirty="0"/>
          </a:p>
        </p:txBody>
      </p:sp>
      <p:sp>
        <p:nvSpPr>
          <p:cNvPr id="13" name="Shape 11"/>
          <p:cNvSpPr/>
          <p:nvPr/>
        </p:nvSpPr>
        <p:spPr>
          <a:xfrm>
            <a:off x="6291072" y="4069080"/>
            <a:ext cx="5394960" cy="1371600"/>
          </a:xfrm>
          <a:prstGeom prst="rect">
            <a:avLst/>
          </a:prstGeom>
          <a:solidFill>
            <a:srgbClr val="F1F2F3"/>
          </a:solidFill>
          <a:ln w="12700">
            <a:solidFill>
              <a:srgbClr val="B9BDC0"/>
            </a:solidFill>
            <a:prstDash val="solid"/>
          </a:ln>
        </p:spPr>
      </p:sp>
      <p:sp>
        <p:nvSpPr>
          <p:cNvPr id="14" name="Text 12"/>
          <p:cNvSpPr/>
          <p:nvPr/>
        </p:nvSpPr>
        <p:spPr>
          <a:xfrm>
            <a:off x="6400800" y="4160520"/>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Operational posture — both</a:t>
            </a:r>
            <a:endParaRPr lang="en-US" sz="1300" dirty="0"/>
          </a:p>
        </p:txBody>
      </p:sp>
      <p:sp>
        <p:nvSpPr>
          <p:cNvPr id="15" name="Text 13"/>
          <p:cNvSpPr/>
          <p:nvPr/>
        </p:nvSpPr>
        <p:spPr>
          <a:xfrm>
            <a:off x="6400800" y="4453128"/>
            <a:ext cx="5175504" cy="89611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No authentication on either — bind them to the management</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LAN only. Admin can start and stop experiments, so its</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blast radius is wider than the log store's.</a:t>
            </a:r>
            <a:endParaRPr lang="en-US" sz="1100" dirty="0"/>
          </a:p>
        </p:txBody>
      </p:sp>
      <p:sp>
        <p:nvSpPr>
          <p:cNvPr id="16" name="Text 14"/>
          <p:cNvSpPr/>
          <p:nvPr/>
        </p:nvSpPr>
        <p:spPr>
          <a:xfrm>
            <a:off x="502920" y="5623560"/>
            <a:ext cx="11183112" cy="502920"/>
          </a:xfrm>
          <a:prstGeom prst="rect">
            <a:avLst/>
          </a:prstGeom>
          <a:noFill/>
          <a:ln/>
        </p:spPr>
        <p:txBody>
          <a:bodyPr wrap="square" lIns="0" tIns="0" rIns="0" bIns="0" rtlCol="0" anchor="t"/>
          <a:lstStyle/>
          <a:p>
            <a:pPr indent="0" marL="0">
              <a:lnSpc>
                <a:spcPct val="115000"/>
              </a:lnSpc>
              <a:buNone/>
            </a:pPr>
            <a:r>
              <a:rPr lang="en-US" sz="1100" dirty="0">
                <a:solidFill>
                  <a:srgbClr val="444C52"/>
                </a:solidFill>
                <a:latin typeface="Calibri" pitchFamily="34" charset="0"/>
                <a:ea typeface="Calibri" pitchFamily="34" charset="-122"/>
                <a:cs typeface="Calibri" pitchFamily="34" charset="-120"/>
              </a:rPr>
              <a:t>Per-frame samples do NOT go here — that firehose goes to CSV under runs/&lt;RUN_ID&gt;/. Logging holds 2-second aggregated snapshots; admin holds run manifests as files, no database, so the page still works when PostgreSQL is down.</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ROS2 on the UE — client and renderer</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Two nodes on the robot. Vanilla ROS2 application code; only the middleware underneath is unusual.</a:t>
            </a:r>
            <a:endParaRPr lang="en-US" sz="1300" dirty="0"/>
          </a:p>
        </p:txBody>
      </p:sp>
      <p:sp>
        <p:nvSpPr>
          <p:cNvPr id="4" name="Shape 2"/>
          <p:cNvSpPr/>
          <p:nvPr/>
        </p:nvSpPr>
        <p:spPr>
          <a:xfrm>
            <a:off x="502920" y="1600200"/>
            <a:ext cx="2590038" cy="1143000"/>
          </a:xfrm>
          <a:prstGeom prst="rect">
            <a:avLst/>
          </a:prstGeom>
          <a:solidFill>
            <a:srgbClr val="F1F2F3"/>
          </a:solidFill>
          <a:ln w="12700">
            <a:solidFill>
              <a:srgbClr val="B9BDC0"/>
            </a:solidFill>
            <a:prstDash val="solid"/>
          </a:ln>
        </p:spPr>
      </p:sp>
      <p:sp>
        <p:nvSpPr>
          <p:cNvPr id="5" name="Text 3"/>
          <p:cNvSpPr/>
          <p:nvPr/>
        </p:nvSpPr>
        <p:spPr>
          <a:xfrm>
            <a:off x="612648" y="1691640"/>
            <a:ext cx="2370582"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1 — generate</a:t>
            </a:r>
            <a:endParaRPr lang="en-US" sz="1300" dirty="0"/>
          </a:p>
        </p:txBody>
      </p:sp>
      <p:sp>
        <p:nvSpPr>
          <p:cNvPr id="6" name="Text 4"/>
          <p:cNvSpPr/>
          <p:nvPr/>
        </p:nvSpPr>
        <p:spPr>
          <a:xfrm>
            <a:off x="612648" y="1984248"/>
            <a:ext cx="2370582" cy="6675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deterministic cloud from a seed</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capture_ns stamped</a:t>
            </a:r>
            <a:endParaRPr lang="en-US" sz="1050" dirty="0"/>
          </a:p>
        </p:txBody>
      </p:sp>
      <p:sp>
        <p:nvSpPr>
          <p:cNvPr id="7" name="Shape 5"/>
          <p:cNvSpPr/>
          <p:nvPr/>
        </p:nvSpPr>
        <p:spPr>
          <a:xfrm>
            <a:off x="3367278" y="1600200"/>
            <a:ext cx="2590038" cy="1143000"/>
          </a:xfrm>
          <a:prstGeom prst="rect">
            <a:avLst/>
          </a:prstGeom>
          <a:solidFill>
            <a:srgbClr val="F1F2F3"/>
          </a:solidFill>
          <a:ln w="12700">
            <a:solidFill>
              <a:srgbClr val="B9BDC0"/>
            </a:solidFill>
            <a:prstDash val="solid"/>
          </a:ln>
        </p:spPr>
      </p:sp>
      <p:sp>
        <p:nvSpPr>
          <p:cNvPr id="8" name="Text 6"/>
          <p:cNvSpPr/>
          <p:nvPr/>
        </p:nvSpPr>
        <p:spPr>
          <a:xfrm>
            <a:off x="3477006" y="1691640"/>
            <a:ext cx="2370582"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2 — publish</a:t>
            </a:r>
            <a:endParaRPr lang="en-US" sz="1300" dirty="0"/>
          </a:p>
        </p:txBody>
      </p:sp>
      <p:sp>
        <p:nvSpPr>
          <p:cNvPr id="9" name="Text 7"/>
          <p:cNvSpPr/>
          <p:nvPr/>
        </p:nvSpPr>
        <p:spPr>
          <a:xfrm>
            <a:off x="3477006" y="1984248"/>
            <a:ext cx="2370582" cy="6675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CloudWithTelemetry</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send_ns stamped last</a:t>
            </a:r>
            <a:endParaRPr lang="en-US" sz="1050" dirty="0"/>
          </a:p>
        </p:txBody>
      </p:sp>
      <p:sp>
        <p:nvSpPr>
          <p:cNvPr id="10" name="Shape 8"/>
          <p:cNvSpPr/>
          <p:nvPr/>
        </p:nvSpPr>
        <p:spPr>
          <a:xfrm>
            <a:off x="6231636" y="1600200"/>
            <a:ext cx="2590038" cy="1143000"/>
          </a:xfrm>
          <a:prstGeom prst="rect">
            <a:avLst/>
          </a:prstGeom>
          <a:solidFill>
            <a:srgbClr val="F1F2F3"/>
          </a:solidFill>
          <a:ln w="12700">
            <a:solidFill>
              <a:srgbClr val="B9BDC0"/>
            </a:solidFill>
            <a:prstDash val="solid"/>
          </a:ln>
        </p:spPr>
      </p:sp>
      <p:sp>
        <p:nvSpPr>
          <p:cNvPr id="11" name="Text 9"/>
          <p:cNvSpPr/>
          <p:nvPr/>
        </p:nvSpPr>
        <p:spPr>
          <a:xfrm>
            <a:off x="6341364" y="1691640"/>
            <a:ext cx="2370582"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3 — record</a:t>
            </a:r>
            <a:endParaRPr lang="en-US" sz="1300" dirty="0"/>
          </a:p>
        </p:txBody>
      </p:sp>
      <p:sp>
        <p:nvSpPr>
          <p:cNvPr id="12" name="Text 10"/>
          <p:cNvSpPr/>
          <p:nvPr/>
        </p:nvSpPr>
        <p:spPr>
          <a:xfrm>
            <a:off x="6341364" y="1984248"/>
            <a:ext cx="2370582" cy="6675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sender-side CSV</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snapshots to logging</a:t>
            </a:r>
            <a:endParaRPr lang="en-US" sz="1050" dirty="0"/>
          </a:p>
        </p:txBody>
      </p:sp>
      <p:sp>
        <p:nvSpPr>
          <p:cNvPr id="13" name="Shape 11"/>
          <p:cNvSpPr/>
          <p:nvPr/>
        </p:nvSpPr>
        <p:spPr>
          <a:xfrm>
            <a:off x="9095994" y="1600200"/>
            <a:ext cx="2590038" cy="1143000"/>
          </a:xfrm>
          <a:prstGeom prst="rect">
            <a:avLst/>
          </a:prstGeom>
          <a:solidFill>
            <a:srgbClr val="F1F2F3"/>
          </a:solidFill>
          <a:ln w="12700">
            <a:solidFill>
              <a:srgbClr val="B9BDC0"/>
            </a:solidFill>
            <a:prstDash val="solid"/>
          </a:ln>
        </p:spPr>
      </p:sp>
      <p:sp>
        <p:nvSpPr>
          <p:cNvPr id="14" name="Text 12"/>
          <p:cNvSpPr/>
          <p:nvPr/>
        </p:nvSpPr>
        <p:spPr>
          <a:xfrm>
            <a:off x="9205722" y="1691640"/>
            <a:ext cx="2370582"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4 — render</a:t>
            </a:r>
            <a:endParaRPr lang="en-US" sz="1300" dirty="0"/>
          </a:p>
        </p:txBody>
      </p:sp>
      <p:sp>
        <p:nvSpPr>
          <p:cNvPr id="15" name="Text 13"/>
          <p:cNvSpPr/>
          <p:nvPr/>
        </p:nvSpPr>
        <p:spPr>
          <a:xfrm>
            <a:off x="9205722" y="1984248"/>
            <a:ext cx="2370582" cy="6675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mec_cast/result from the edge</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process_done_ns stamped</a:t>
            </a:r>
            <a:endParaRPr lang="en-US" sz="1050" dirty="0"/>
          </a:p>
        </p:txBody>
      </p:sp>
      <p:sp>
        <p:nvSpPr>
          <p:cNvPr id="16" name="Shape 14"/>
          <p:cNvSpPr/>
          <p:nvPr/>
        </p:nvSpPr>
        <p:spPr>
          <a:xfrm>
            <a:off x="3120390" y="2171700"/>
            <a:ext cx="219456" cy="0"/>
          </a:xfrm>
          <a:prstGeom prst="line">
            <a:avLst/>
          </a:prstGeom>
          <a:noFill/>
          <a:ln w="15875">
            <a:solidFill>
              <a:srgbClr val="444C52"/>
            </a:solidFill>
            <a:prstDash val="solid"/>
            <a:tailEnd type="triangle"/>
          </a:ln>
        </p:spPr>
      </p:sp>
      <p:sp>
        <p:nvSpPr>
          <p:cNvPr id="17" name="Shape 15"/>
          <p:cNvSpPr/>
          <p:nvPr/>
        </p:nvSpPr>
        <p:spPr>
          <a:xfrm>
            <a:off x="5984748" y="2171700"/>
            <a:ext cx="219456" cy="0"/>
          </a:xfrm>
          <a:prstGeom prst="line">
            <a:avLst/>
          </a:prstGeom>
          <a:noFill/>
          <a:ln w="15875">
            <a:solidFill>
              <a:srgbClr val="444C52"/>
            </a:solidFill>
            <a:prstDash val="solid"/>
            <a:tailEnd type="triangle"/>
          </a:ln>
        </p:spPr>
      </p:sp>
      <p:sp>
        <p:nvSpPr>
          <p:cNvPr id="18" name="Shape 16"/>
          <p:cNvSpPr/>
          <p:nvPr/>
        </p:nvSpPr>
        <p:spPr>
          <a:xfrm>
            <a:off x="8849106" y="2171700"/>
            <a:ext cx="219456" cy="0"/>
          </a:xfrm>
          <a:prstGeom prst="line">
            <a:avLst/>
          </a:prstGeom>
          <a:noFill/>
          <a:ln w="15875">
            <a:solidFill>
              <a:srgbClr val="444C52"/>
            </a:solidFill>
            <a:prstDash val="solid"/>
            <a:tailEnd type="triangle"/>
          </a:ln>
        </p:spPr>
      </p:sp>
      <p:sp>
        <p:nvSpPr>
          <p:cNvPr id="19" name="Shape 17"/>
          <p:cNvSpPr/>
          <p:nvPr/>
        </p:nvSpPr>
        <p:spPr>
          <a:xfrm>
            <a:off x="502920" y="2880360"/>
            <a:ext cx="5394960" cy="1783080"/>
          </a:xfrm>
          <a:prstGeom prst="rect">
            <a:avLst/>
          </a:prstGeom>
          <a:solidFill>
            <a:srgbClr val="F1F2F3"/>
          </a:solidFill>
          <a:ln w="12700">
            <a:solidFill>
              <a:srgbClr val="B9BDC0"/>
            </a:solidFill>
            <a:prstDash val="solid"/>
          </a:ln>
        </p:spPr>
      </p:sp>
      <p:sp>
        <p:nvSpPr>
          <p:cNvPr id="20" name="Text 18"/>
          <p:cNvSpPr/>
          <p:nvPr/>
        </p:nvSpPr>
        <p:spPr>
          <a:xfrm>
            <a:off x="612648" y="2971800"/>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Test vectors are a controlled variable</a:t>
            </a:r>
            <a:endParaRPr lang="en-US" sz="1300" dirty="0"/>
          </a:p>
        </p:txBody>
      </p:sp>
      <p:sp>
        <p:nvSpPr>
          <p:cNvPr id="21" name="Text 19"/>
          <p:cNvSpPr/>
          <p:nvPr/>
        </p:nvSpPr>
        <p:spPr>
          <a:xfrm>
            <a:off x="612648" y="3264408"/>
            <a:ext cx="5175504" cy="130759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seed         42            reproducible contents</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num_points   5000          payload size — the main sweep</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rate_hz      10.0          publish rate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pattern      lidar_scan    ten shapes: cube, sphere,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                           torus, helix, wireframe, swarm…</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                           1.4x to 23.5x voxel compression,</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                           which sets the return payload too</a:t>
            </a:r>
            <a:endParaRPr lang="en-US" sz="1100" dirty="0"/>
          </a:p>
        </p:txBody>
      </p:sp>
      <p:sp>
        <p:nvSpPr>
          <p:cNvPr id="22" name="Text 20"/>
          <p:cNvSpPr/>
          <p:nvPr/>
        </p:nvSpPr>
        <p:spPr>
          <a:xfrm>
            <a:off x="6355080" y="2880360"/>
            <a:ext cx="5330952" cy="178308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The timing envelope rides in-band as a message field, because rmw_zenoh does not expose per-publish attachments to the application layer.</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The renderer is optional and off by default, so the one-way path stays byte-for-byte comparable with campaigns recorded before it existed.</a:t>
            </a:r>
            <a:endParaRPr lang="en-US" sz="1150" dirty="0"/>
          </a:p>
        </p:txBody>
      </p:sp>
      <p:sp>
        <p:nvSpPr>
          <p:cNvPr id="23" name="Text 21"/>
          <p:cNvSpPr/>
          <p:nvPr/>
        </p:nvSpPr>
        <p:spPr>
          <a:xfrm>
            <a:off x="502920" y="4937760"/>
            <a:ext cx="11183112" cy="1280160"/>
          </a:xfrm>
          <a:prstGeom prst="rect">
            <a:avLst/>
          </a:prstGeom>
          <a:noFill/>
          <a:ln/>
        </p:spPr>
        <p:txBody>
          <a:bodyPr wrap="square" lIns="0" tIns="0" rIns="0" bIns="0" rtlCol="0" anchor="t"/>
          <a:lstStyle/>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Both stamps that bound the round trip are taken on this host: capture_ns by the client, process_done_ns by the renderer, off one CLOCK_REALTIME. That makes the renderer's e2e_ns the only end-to-end latency figure in the platform that owes nothing to PTP discipline, and an independent check on the clock offset the one-way metrics depend on.</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Edge — mec_cast_edge</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Runs on the MEC application server. The first line of the callback is a timestamp; everything else follows from it.</a:t>
            </a:r>
            <a:endParaRPr lang="en-US" sz="1300" dirty="0"/>
          </a:p>
        </p:txBody>
      </p:sp>
      <p:sp>
        <p:nvSpPr>
          <p:cNvPr id="4" name="Shape 2"/>
          <p:cNvSpPr/>
          <p:nvPr/>
        </p:nvSpPr>
        <p:spPr>
          <a:xfrm>
            <a:off x="502920" y="1600200"/>
            <a:ext cx="2606040" cy="1143000"/>
          </a:xfrm>
          <a:prstGeom prst="rect">
            <a:avLst/>
          </a:prstGeom>
          <a:solidFill>
            <a:srgbClr val="F1F2F3"/>
          </a:solidFill>
          <a:ln w="12700">
            <a:solidFill>
              <a:srgbClr val="B9BDC0"/>
            </a:solidFill>
            <a:prstDash val="solid"/>
          </a:ln>
        </p:spPr>
      </p:sp>
      <p:sp>
        <p:nvSpPr>
          <p:cNvPr id="5" name="Text 3"/>
          <p:cNvSpPr/>
          <p:nvPr/>
        </p:nvSpPr>
        <p:spPr>
          <a:xfrm>
            <a:off x="612648" y="1691640"/>
            <a:ext cx="238658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recv_ns</a:t>
            </a:r>
            <a:endParaRPr lang="en-US" sz="1300" dirty="0"/>
          </a:p>
        </p:txBody>
      </p:sp>
      <p:sp>
        <p:nvSpPr>
          <p:cNvPr id="6" name="Text 4"/>
          <p:cNvSpPr/>
          <p:nvPr/>
        </p:nvSpPr>
        <p:spPr>
          <a:xfrm>
            <a:off x="612648" y="1984248"/>
            <a:ext cx="2386584" cy="6675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stamped on arrival</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before any work</a:t>
            </a:r>
            <a:endParaRPr lang="en-US" sz="1050" dirty="0"/>
          </a:p>
        </p:txBody>
      </p:sp>
      <p:sp>
        <p:nvSpPr>
          <p:cNvPr id="7" name="Shape 5"/>
          <p:cNvSpPr/>
          <p:nvPr/>
        </p:nvSpPr>
        <p:spPr>
          <a:xfrm>
            <a:off x="3566160" y="1600200"/>
            <a:ext cx="2606040" cy="1143000"/>
          </a:xfrm>
          <a:prstGeom prst="rect">
            <a:avLst/>
          </a:prstGeom>
          <a:solidFill>
            <a:srgbClr val="F1F2F3"/>
          </a:solidFill>
          <a:ln w="12700">
            <a:solidFill>
              <a:srgbClr val="B9BDC0"/>
            </a:solidFill>
            <a:prstDash val="solid"/>
          </a:ln>
        </p:spPr>
      </p:sp>
      <p:sp>
        <p:nvSpPr>
          <p:cNvPr id="8" name="Text 6"/>
          <p:cNvSpPr/>
          <p:nvPr/>
        </p:nvSpPr>
        <p:spPr>
          <a:xfrm>
            <a:off x="3675888" y="1691640"/>
            <a:ext cx="238658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process</a:t>
            </a:r>
            <a:endParaRPr lang="en-US" sz="1300" dirty="0"/>
          </a:p>
        </p:txBody>
      </p:sp>
      <p:sp>
        <p:nvSpPr>
          <p:cNvPr id="9" name="Text 7"/>
          <p:cNvSpPr/>
          <p:nvPr/>
        </p:nvSpPr>
        <p:spPr>
          <a:xfrm>
            <a:off x="3675888" y="1984248"/>
            <a:ext cx="2386584" cy="6675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centroid + voxel count</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deterministic</a:t>
            </a:r>
            <a:endParaRPr lang="en-US" sz="1050" dirty="0"/>
          </a:p>
        </p:txBody>
      </p:sp>
      <p:sp>
        <p:nvSpPr>
          <p:cNvPr id="10" name="Shape 8"/>
          <p:cNvSpPr/>
          <p:nvPr/>
        </p:nvSpPr>
        <p:spPr>
          <a:xfrm>
            <a:off x="6629400" y="1600200"/>
            <a:ext cx="2606040" cy="1143000"/>
          </a:xfrm>
          <a:prstGeom prst="rect">
            <a:avLst/>
          </a:prstGeom>
          <a:solidFill>
            <a:srgbClr val="F1F2F3"/>
          </a:solidFill>
          <a:ln w="12700">
            <a:solidFill>
              <a:srgbClr val="B9BDC0"/>
            </a:solidFill>
            <a:prstDash val="solid"/>
          </a:ln>
        </p:spPr>
      </p:sp>
      <p:sp>
        <p:nvSpPr>
          <p:cNvPr id="11" name="Text 9"/>
          <p:cNvSpPr/>
          <p:nvPr/>
        </p:nvSpPr>
        <p:spPr>
          <a:xfrm>
            <a:off x="6739128" y="1691640"/>
            <a:ext cx="238658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process_done_ns</a:t>
            </a:r>
            <a:endParaRPr lang="en-US" sz="1300" dirty="0"/>
          </a:p>
        </p:txBody>
      </p:sp>
      <p:sp>
        <p:nvSpPr>
          <p:cNvPr id="12" name="Text 10"/>
          <p:cNvSpPr/>
          <p:nvPr/>
        </p:nvSpPr>
        <p:spPr>
          <a:xfrm>
            <a:off x="6739128" y="1984248"/>
            <a:ext cx="2386584" cy="6675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stamped after work</a:t>
            </a:r>
            <a:endParaRPr lang="en-US" sz="1050" dirty="0"/>
          </a:p>
        </p:txBody>
      </p:sp>
      <p:sp>
        <p:nvSpPr>
          <p:cNvPr id="13" name="Shape 11"/>
          <p:cNvSpPr/>
          <p:nvPr/>
        </p:nvSpPr>
        <p:spPr>
          <a:xfrm>
            <a:off x="9692640" y="1600200"/>
            <a:ext cx="1993392" cy="1143000"/>
          </a:xfrm>
          <a:prstGeom prst="rect">
            <a:avLst/>
          </a:prstGeom>
          <a:solidFill>
            <a:srgbClr val="F1F2F3"/>
          </a:solidFill>
          <a:ln w="12700">
            <a:solidFill>
              <a:srgbClr val="B9BDC0"/>
            </a:solidFill>
            <a:prstDash val="solid"/>
          </a:ln>
        </p:spPr>
      </p:sp>
      <p:sp>
        <p:nvSpPr>
          <p:cNvPr id="14" name="Text 12"/>
          <p:cNvSpPr/>
          <p:nvPr/>
        </p:nvSpPr>
        <p:spPr>
          <a:xfrm>
            <a:off x="9802368" y="1691640"/>
            <a:ext cx="177393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record</a:t>
            </a:r>
            <a:endParaRPr lang="en-US" sz="1300" dirty="0"/>
          </a:p>
        </p:txBody>
      </p:sp>
      <p:sp>
        <p:nvSpPr>
          <p:cNvPr id="15" name="Text 13"/>
          <p:cNvSpPr/>
          <p:nvPr/>
        </p:nvSpPr>
        <p:spPr>
          <a:xfrm>
            <a:off x="9802368" y="1984248"/>
            <a:ext cx="1773936" cy="6675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CSV + snapshot</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then optionally reply</a:t>
            </a:r>
            <a:endParaRPr lang="en-US" sz="1050" dirty="0"/>
          </a:p>
        </p:txBody>
      </p:sp>
      <p:sp>
        <p:nvSpPr>
          <p:cNvPr id="16" name="Shape 14"/>
          <p:cNvSpPr/>
          <p:nvPr/>
        </p:nvSpPr>
        <p:spPr>
          <a:xfrm>
            <a:off x="3163824" y="2171700"/>
            <a:ext cx="347472" cy="0"/>
          </a:xfrm>
          <a:prstGeom prst="line">
            <a:avLst/>
          </a:prstGeom>
          <a:noFill/>
          <a:ln w="15875">
            <a:solidFill>
              <a:srgbClr val="444C52"/>
            </a:solidFill>
            <a:prstDash val="solid"/>
            <a:tailEnd type="triangle"/>
          </a:ln>
        </p:spPr>
      </p:sp>
      <p:sp>
        <p:nvSpPr>
          <p:cNvPr id="17" name="Shape 15"/>
          <p:cNvSpPr/>
          <p:nvPr/>
        </p:nvSpPr>
        <p:spPr>
          <a:xfrm>
            <a:off x="6227064" y="2171700"/>
            <a:ext cx="347472" cy="0"/>
          </a:xfrm>
          <a:prstGeom prst="line">
            <a:avLst/>
          </a:prstGeom>
          <a:noFill/>
          <a:ln w="15875">
            <a:solidFill>
              <a:srgbClr val="444C52"/>
            </a:solidFill>
            <a:prstDash val="solid"/>
            <a:tailEnd type="triangle"/>
          </a:ln>
        </p:spPr>
      </p:sp>
      <p:sp>
        <p:nvSpPr>
          <p:cNvPr id="18" name="Shape 16"/>
          <p:cNvSpPr/>
          <p:nvPr/>
        </p:nvSpPr>
        <p:spPr>
          <a:xfrm>
            <a:off x="9290304" y="2171700"/>
            <a:ext cx="347472" cy="0"/>
          </a:xfrm>
          <a:prstGeom prst="line">
            <a:avLst/>
          </a:prstGeom>
          <a:noFill/>
          <a:ln w="15875">
            <a:solidFill>
              <a:srgbClr val="444C52"/>
            </a:solidFill>
            <a:prstDash val="solid"/>
            <a:tailEnd type="triangle"/>
          </a:ln>
        </p:spPr>
      </p:sp>
      <p:sp>
        <p:nvSpPr>
          <p:cNvPr id="19" name="Shape 17"/>
          <p:cNvSpPr/>
          <p:nvPr/>
        </p:nvSpPr>
        <p:spPr>
          <a:xfrm>
            <a:off x="502920" y="2880360"/>
            <a:ext cx="5394960" cy="1828800"/>
          </a:xfrm>
          <a:prstGeom prst="rect">
            <a:avLst/>
          </a:prstGeom>
          <a:solidFill>
            <a:srgbClr val="F1F2F3"/>
          </a:solidFill>
          <a:ln w="12700">
            <a:solidFill>
              <a:srgbClr val="B9BDC0"/>
            </a:solidFill>
            <a:prstDash val="solid"/>
          </a:ln>
        </p:spPr>
      </p:sp>
      <p:sp>
        <p:nvSpPr>
          <p:cNvPr id="20" name="Text 18"/>
          <p:cNvSpPr/>
          <p:nvPr/>
        </p:nvSpPr>
        <p:spPr>
          <a:xfrm>
            <a:off x="612648" y="2971800"/>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Derived per sample</a:t>
            </a:r>
            <a:endParaRPr lang="en-US" sz="1300" dirty="0"/>
          </a:p>
        </p:txBody>
      </p:sp>
      <p:sp>
        <p:nvSpPr>
          <p:cNvPr id="21" name="Text 19"/>
          <p:cNvSpPr/>
          <p:nvPr/>
        </p:nvSpPr>
        <p:spPr>
          <a:xfrm>
            <a:off x="612648" y="3264408"/>
            <a:ext cx="5175504" cy="135331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network      = recv_ns − send_ns</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e2e          = process_done_ns − capture_ns</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processing   = process_done_ns − recv_ns</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sender       = send_ns − capture_ns</a:t>
            </a:r>
            <a:endParaRPr lang="en-US" sz="1100" dirty="0"/>
          </a:p>
          <a:p>
            <a:pPr indent="0" marL="0">
              <a:lnSpc>
                <a:spcPct val="108000"/>
              </a:lnSpc>
              <a:buNone/>
            </a:pP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Statistics: Welford mean and stddev, exact windowed percentiles.</a:t>
            </a:r>
            <a:endParaRPr lang="en-US" sz="1100" dirty="0"/>
          </a:p>
        </p:txBody>
      </p:sp>
      <p:sp>
        <p:nvSpPr>
          <p:cNvPr id="22" name="Text 20"/>
          <p:cNvSpPr/>
          <p:nvPr/>
        </p:nvSpPr>
        <p:spPr>
          <a:xfrm>
            <a:off x="6355080" y="2880360"/>
            <a:ext cx="5330952" cy="182880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The hot path never blocks: samples go into a bounded lock-free ring, and a writer thread drains it.</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A full ring drops the sample and counts it — dropping is always preferable to perturbing the measurement.</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A separate uploader thread posts snapshots, so a stalled logging service cannot stall CSV writing.</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With publish_result on, the voxel cloud already computed goes back to the UE on mec_cast/result — after record(), so the edge's own sample is never delayed for the renderer's benefit.</a:t>
            </a:r>
            <a:endParaRPr lang="en-US" sz="1150" dirty="0"/>
          </a:p>
        </p:txBody>
      </p:sp>
      <p:sp>
        <p:nvSpPr>
          <p:cNvPr id="23" name="Text 21"/>
          <p:cNvSpPr/>
          <p:nvPr/>
        </p:nvSpPr>
        <p:spPr>
          <a:xfrm>
            <a:off x="502920" y="4983480"/>
            <a:ext cx="11183112" cy="1280160"/>
          </a:xfrm>
          <a:prstGeom prst="rect">
            <a:avLst/>
          </a:prstGeom>
          <a:noFill/>
          <a:ln/>
        </p:spPr>
        <p:txBody>
          <a:bodyPr wrap="square" lIns="0" tIns="0" rIns="0" bIns="0" rtlCol="0" anchor="t"/>
          <a:lstStyle/>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Percentiles are exact over a sliding window, computed by sorting a copy off the hot path — not a streaming estimator. P² was rejected because its error is unbounded on multimodal distributions, and 5G latency under HARQ retransmission is exactly that.</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Zenoh communication layer</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rmw_zenoh rather than raw DDS. The application stays vanilla ROS2; only the middleware swaps.</a:t>
            </a:r>
            <a:endParaRPr lang="en-US" sz="1300" dirty="0"/>
          </a:p>
        </p:txBody>
      </p:sp>
      <p:sp>
        <p:nvSpPr>
          <p:cNvPr id="4" name="Shape 2"/>
          <p:cNvSpPr/>
          <p:nvPr/>
        </p:nvSpPr>
        <p:spPr>
          <a:xfrm>
            <a:off x="502920" y="1600200"/>
            <a:ext cx="3108960" cy="1097280"/>
          </a:xfrm>
          <a:prstGeom prst="rect">
            <a:avLst/>
          </a:prstGeom>
          <a:solidFill>
            <a:srgbClr val="F1F2F3"/>
          </a:solidFill>
          <a:ln w="12700">
            <a:solidFill>
              <a:srgbClr val="B9BDC0"/>
            </a:solidFill>
            <a:prstDash val="solid"/>
          </a:ln>
        </p:spPr>
      </p:sp>
      <p:sp>
        <p:nvSpPr>
          <p:cNvPr id="5" name="Text 3"/>
          <p:cNvSpPr/>
          <p:nvPr/>
        </p:nvSpPr>
        <p:spPr>
          <a:xfrm>
            <a:off x="612648" y="1691640"/>
            <a:ext cx="2889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UE session</a:t>
            </a:r>
            <a:endParaRPr lang="en-US" sz="1300" dirty="0"/>
          </a:p>
        </p:txBody>
      </p:sp>
      <p:sp>
        <p:nvSpPr>
          <p:cNvPr id="6" name="Text 4"/>
          <p:cNvSpPr/>
          <p:nvPr/>
        </p:nvSpPr>
        <p:spPr>
          <a:xfrm>
            <a:off x="612648" y="1984248"/>
            <a:ext cx="2889504" cy="62179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dials out to the router</a:t>
            </a:r>
            <a:endParaRPr lang="en-US" sz="1050" dirty="0"/>
          </a:p>
        </p:txBody>
      </p:sp>
      <p:sp>
        <p:nvSpPr>
          <p:cNvPr id="7" name="Shape 5"/>
          <p:cNvSpPr/>
          <p:nvPr/>
        </p:nvSpPr>
        <p:spPr>
          <a:xfrm>
            <a:off x="4069080" y="1600200"/>
            <a:ext cx="3931920" cy="1097280"/>
          </a:xfrm>
          <a:prstGeom prst="rect">
            <a:avLst/>
          </a:prstGeom>
          <a:solidFill>
            <a:srgbClr val="F1F2F3"/>
          </a:solidFill>
          <a:ln w="12700">
            <a:solidFill>
              <a:srgbClr val="B9BDC0"/>
            </a:solidFill>
            <a:prstDash val="solid"/>
          </a:ln>
        </p:spPr>
      </p:sp>
      <p:sp>
        <p:nvSpPr>
          <p:cNvPr id="8" name="Text 6"/>
          <p:cNvSpPr/>
          <p:nvPr/>
        </p:nvSpPr>
        <p:spPr>
          <a:xfrm>
            <a:off x="4178808" y="1691640"/>
            <a:ext cx="371246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zenoh router (edge host)</a:t>
            </a:r>
            <a:endParaRPr lang="en-US" sz="1300" dirty="0"/>
          </a:p>
        </p:txBody>
      </p:sp>
      <p:sp>
        <p:nvSpPr>
          <p:cNvPr id="9" name="Text 7"/>
          <p:cNvSpPr/>
          <p:nvPr/>
        </p:nvSpPr>
        <p:spPr>
          <a:xfrm>
            <a:off x="4178808" y="1984248"/>
            <a:ext cx="3712464" cy="62179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unicast rendezvous — no multicast anywhere</a:t>
            </a:r>
            <a:endParaRPr lang="en-US" sz="1050" dirty="0"/>
          </a:p>
        </p:txBody>
      </p:sp>
      <p:sp>
        <p:nvSpPr>
          <p:cNvPr id="10" name="Shape 8"/>
          <p:cNvSpPr/>
          <p:nvPr/>
        </p:nvSpPr>
        <p:spPr>
          <a:xfrm>
            <a:off x="8458200" y="1600200"/>
            <a:ext cx="3227832" cy="1097280"/>
          </a:xfrm>
          <a:prstGeom prst="rect">
            <a:avLst/>
          </a:prstGeom>
          <a:solidFill>
            <a:srgbClr val="F1F2F3"/>
          </a:solidFill>
          <a:ln w="12700">
            <a:solidFill>
              <a:srgbClr val="B9BDC0"/>
            </a:solidFill>
            <a:prstDash val="solid"/>
          </a:ln>
        </p:spPr>
      </p:sp>
      <p:sp>
        <p:nvSpPr>
          <p:cNvPr id="11" name="Text 9"/>
          <p:cNvSpPr/>
          <p:nvPr/>
        </p:nvSpPr>
        <p:spPr>
          <a:xfrm>
            <a:off x="8567928" y="1691640"/>
            <a:ext cx="300837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edge session</a:t>
            </a:r>
            <a:endParaRPr lang="en-US" sz="1300" dirty="0"/>
          </a:p>
        </p:txBody>
      </p:sp>
      <p:sp>
        <p:nvSpPr>
          <p:cNvPr id="12" name="Text 10"/>
          <p:cNvSpPr/>
          <p:nvPr/>
        </p:nvSpPr>
        <p:spPr>
          <a:xfrm>
            <a:off x="8567928" y="1984248"/>
            <a:ext cx="3008376" cy="62179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subscribes via the router</a:t>
            </a:r>
            <a:endParaRPr lang="en-US" sz="1050" dirty="0"/>
          </a:p>
        </p:txBody>
      </p:sp>
      <p:sp>
        <p:nvSpPr>
          <p:cNvPr id="13" name="Shape 11"/>
          <p:cNvSpPr/>
          <p:nvPr/>
        </p:nvSpPr>
        <p:spPr>
          <a:xfrm>
            <a:off x="3666744" y="2148840"/>
            <a:ext cx="347472" cy="0"/>
          </a:xfrm>
          <a:prstGeom prst="line">
            <a:avLst/>
          </a:prstGeom>
          <a:noFill/>
          <a:ln w="15875">
            <a:solidFill>
              <a:srgbClr val="444C52"/>
            </a:solidFill>
            <a:prstDash val="solid"/>
            <a:tailEnd type="triangle"/>
          </a:ln>
        </p:spPr>
      </p:sp>
      <p:sp>
        <p:nvSpPr>
          <p:cNvPr id="14" name="Shape 12"/>
          <p:cNvSpPr/>
          <p:nvPr/>
        </p:nvSpPr>
        <p:spPr>
          <a:xfrm>
            <a:off x="8055864" y="2148840"/>
            <a:ext cx="347472" cy="0"/>
          </a:xfrm>
          <a:prstGeom prst="line">
            <a:avLst/>
          </a:prstGeom>
          <a:noFill/>
          <a:ln w="15875">
            <a:solidFill>
              <a:srgbClr val="444C52"/>
            </a:solidFill>
            <a:prstDash val="solid"/>
            <a:tailEnd type="triangle"/>
          </a:ln>
        </p:spPr>
      </p:sp>
      <p:sp>
        <p:nvSpPr>
          <p:cNvPr id="15" name="Shape 13"/>
          <p:cNvSpPr/>
          <p:nvPr/>
        </p:nvSpPr>
        <p:spPr>
          <a:xfrm>
            <a:off x="502920" y="2926080"/>
            <a:ext cx="3566160" cy="2148840"/>
          </a:xfrm>
          <a:prstGeom prst="rect">
            <a:avLst/>
          </a:prstGeom>
          <a:solidFill>
            <a:srgbClr val="F1F2F3"/>
          </a:solidFill>
          <a:ln w="12700">
            <a:solidFill>
              <a:srgbClr val="B9BDC0"/>
            </a:solidFill>
            <a:prstDash val="solid"/>
          </a:ln>
        </p:spPr>
      </p:sp>
      <p:sp>
        <p:nvSpPr>
          <p:cNvPr id="16" name="Text 14"/>
          <p:cNvSpPr/>
          <p:nvPr/>
        </p:nvSpPr>
        <p:spPr>
          <a:xfrm>
            <a:off x="612648" y="3017520"/>
            <a:ext cx="33467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Concern on a 5G link</a:t>
            </a:r>
            <a:endParaRPr lang="en-US" sz="1300" dirty="0"/>
          </a:p>
        </p:txBody>
      </p:sp>
      <p:sp>
        <p:nvSpPr>
          <p:cNvPr id="17" name="Text 15"/>
          <p:cNvSpPr/>
          <p:nvPr/>
        </p:nvSpPr>
        <p:spPr>
          <a:xfrm>
            <a:off x="612648" y="3310128"/>
            <a:ext cx="3346704" cy="1673352"/>
          </a:xfrm>
          <a:prstGeom prst="rect">
            <a:avLst/>
          </a:prstGeom>
          <a:noFill/>
          <a:ln/>
        </p:spPr>
        <p:txBody>
          <a:bodyPr wrap="square" lIns="0" tIns="0" rIns="0" bIns="0" rtlCol="0" anchor="t"/>
          <a:lstStyle/>
          <a:p>
            <a:pPr indent="0" marL="0">
              <a:lnSpc>
                <a:spcPct val="108000"/>
              </a:lnSpc>
              <a:buNone/>
            </a:pP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Discovery across NAT / UPF</a:t>
            </a:r>
            <a:endParaRPr lang="en-US" sz="1100" dirty="0"/>
          </a:p>
          <a:p>
            <a:pPr indent="0" marL="0">
              <a:lnSpc>
                <a:spcPct val="108000"/>
              </a:lnSpc>
              <a:buNone/>
            </a:pP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Data-path NAT traversal</a:t>
            </a:r>
            <a:endParaRPr lang="en-US" sz="1100" dirty="0"/>
          </a:p>
          <a:p>
            <a:pPr indent="0" marL="0">
              <a:lnSpc>
                <a:spcPct val="108000"/>
              </a:lnSpc>
              <a:buNone/>
            </a:pP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Large samples (~2 MB)</a:t>
            </a:r>
            <a:endParaRPr lang="en-US" sz="1100" dirty="0"/>
          </a:p>
        </p:txBody>
      </p:sp>
      <p:sp>
        <p:nvSpPr>
          <p:cNvPr id="18" name="Shape 16"/>
          <p:cNvSpPr/>
          <p:nvPr/>
        </p:nvSpPr>
        <p:spPr>
          <a:xfrm>
            <a:off x="4297680" y="2926080"/>
            <a:ext cx="3566160" cy="2148840"/>
          </a:xfrm>
          <a:prstGeom prst="rect">
            <a:avLst/>
          </a:prstGeom>
          <a:solidFill>
            <a:srgbClr val="F1F2F3"/>
          </a:solidFill>
          <a:ln w="12700">
            <a:solidFill>
              <a:srgbClr val="B9BDC0"/>
            </a:solidFill>
            <a:prstDash val="solid"/>
          </a:ln>
        </p:spPr>
      </p:sp>
      <p:sp>
        <p:nvSpPr>
          <p:cNvPr id="19" name="Text 17"/>
          <p:cNvSpPr/>
          <p:nvPr/>
        </p:nvSpPr>
        <p:spPr>
          <a:xfrm>
            <a:off x="4407408" y="3017520"/>
            <a:ext cx="33467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DDS</a:t>
            </a:r>
            <a:endParaRPr lang="en-US" sz="1300" dirty="0"/>
          </a:p>
        </p:txBody>
      </p:sp>
      <p:sp>
        <p:nvSpPr>
          <p:cNvPr id="20" name="Text 18"/>
          <p:cNvSpPr/>
          <p:nvPr/>
        </p:nvSpPr>
        <p:spPr>
          <a:xfrm>
            <a:off x="4407408" y="3310128"/>
            <a:ext cx="3346704" cy="1673352"/>
          </a:xfrm>
          <a:prstGeom prst="rect">
            <a:avLst/>
          </a:prstGeom>
          <a:noFill/>
          <a:ln/>
        </p:spPr>
        <p:txBody>
          <a:bodyPr wrap="square" lIns="0" tIns="0" rIns="0" bIns="0" rtlCol="0" anchor="t"/>
          <a:lstStyle/>
          <a:p>
            <a:pPr indent="0" marL="0">
              <a:lnSpc>
                <a:spcPct val="108000"/>
              </a:lnSpc>
              <a:buNone/>
            </a:pP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SPDP is multicast — the cellular user plane drops it</a:t>
            </a:r>
            <a:endParaRPr lang="en-US" sz="1050" dirty="0"/>
          </a:p>
          <a:p>
            <a:pPr indent="0" marL="0">
              <a:lnSpc>
                <a:spcPct val="108000"/>
              </a:lnSpc>
              <a:buNone/>
            </a:pP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announces private-IP locators the peer cannot reach</a:t>
            </a:r>
            <a:endParaRPr lang="en-US" sz="1050" dirty="0"/>
          </a:p>
          <a:p>
            <a:pPr indent="0" marL="0">
              <a:lnSpc>
                <a:spcPct val="108000"/>
              </a:lnSpc>
              <a:buNone/>
            </a:pP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RTPS fragments; one lost fragment loses the sample</a:t>
            </a:r>
            <a:endParaRPr lang="en-US" sz="1050" dirty="0"/>
          </a:p>
        </p:txBody>
      </p:sp>
      <p:sp>
        <p:nvSpPr>
          <p:cNvPr id="21" name="Shape 19"/>
          <p:cNvSpPr/>
          <p:nvPr/>
        </p:nvSpPr>
        <p:spPr>
          <a:xfrm>
            <a:off x="8092440" y="2926080"/>
            <a:ext cx="3593592" cy="2148840"/>
          </a:xfrm>
          <a:prstGeom prst="rect">
            <a:avLst/>
          </a:prstGeom>
          <a:solidFill>
            <a:srgbClr val="F1F2F3"/>
          </a:solidFill>
          <a:ln w="12700">
            <a:solidFill>
              <a:srgbClr val="B9BDC0"/>
            </a:solidFill>
            <a:prstDash val="solid"/>
          </a:ln>
        </p:spPr>
      </p:sp>
      <p:sp>
        <p:nvSpPr>
          <p:cNvPr id="22" name="Text 20"/>
          <p:cNvSpPr/>
          <p:nvPr/>
        </p:nvSpPr>
        <p:spPr>
          <a:xfrm>
            <a:off x="8202168" y="3017520"/>
            <a:ext cx="337413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Zenoh</a:t>
            </a:r>
            <a:endParaRPr lang="en-US" sz="1300" dirty="0"/>
          </a:p>
        </p:txBody>
      </p:sp>
      <p:sp>
        <p:nvSpPr>
          <p:cNvPr id="23" name="Text 21"/>
          <p:cNvSpPr/>
          <p:nvPr/>
        </p:nvSpPr>
        <p:spPr>
          <a:xfrm>
            <a:off x="8202168" y="3310128"/>
            <a:ext cx="3374136" cy="1673352"/>
          </a:xfrm>
          <a:prstGeom prst="rect">
            <a:avLst/>
          </a:prstGeom>
          <a:noFill/>
          <a:ln/>
        </p:spPr>
        <p:txBody>
          <a:bodyPr wrap="square" lIns="0" tIns="0" rIns="0" bIns="0" rtlCol="0" anchor="t"/>
          <a:lstStyle/>
          <a:p>
            <a:pPr indent="0" marL="0">
              <a:lnSpc>
                <a:spcPct val="108000"/>
              </a:lnSpc>
              <a:buNone/>
            </a:pP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router-based unicast dial-out, traverses NAT natively</a:t>
            </a:r>
            <a:endParaRPr lang="en-US" sz="1050" dirty="0"/>
          </a:p>
          <a:p>
            <a:pPr indent="0" marL="0">
              <a:lnSpc>
                <a:spcPct val="108000"/>
              </a:lnSpc>
              <a:buNone/>
            </a:pP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the UE dials out — an outbound connection just works</a:t>
            </a:r>
            <a:endParaRPr lang="en-US" sz="1050" dirty="0"/>
          </a:p>
          <a:p>
            <a:pPr indent="0" marL="0">
              <a:lnSpc>
                <a:spcPct val="108000"/>
              </a:lnSpc>
              <a:buNone/>
            </a:pP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large payloads over lossy links; here udp/7447?rel=1 —</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retransmit, no congestion control, no TLS</a:t>
            </a:r>
            <a:endParaRPr lang="en-US" sz="1050" dirty="0"/>
          </a:p>
        </p:txBody>
      </p:sp>
      <p:sp>
        <p:nvSpPr>
          <p:cNvPr id="24" name="Text 22"/>
          <p:cNvSpPr/>
          <p:nvPr/>
        </p:nvSpPr>
        <p:spPr>
          <a:xfrm>
            <a:off x="502920" y="5257800"/>
            <a:ext cx="11183112" cy="1097280"/>
          </a:xfrm>
          <a:prstGeom prst="rect">
            <a:avLst/>
          </a:prstGeom>
          <a:noFill/>
          <a:ln/>
        </p:spPr>
        <p:txBody>
          <a:bodyPr wrap="square" lIns="0" tIns="0" rIns="0" bIns="0" rtlCol="0" anchor="t"/>
          <a:lstStyle/>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DDS is the more popular and more mature industrial standard — but that popularity is measured on local networks, and this path is NAT'd, lossy and uplink-constrained. Because the edge subscriber depends only on the telemetry crate, "Zenoh versus DDS over 5G" remains a measurable result rather than a closed door.</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Profile B — WebRTC, current model</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The platform's second transport profile: real-time media over WebRTC, measured with the same telemetry spine.</a:t>
            </a:r>
            <a:endParaRPr lang="en-US" sz="1300" dirty="0"/>
          </a:p>
        </p:txBody>
      </p:sp>
      <p:sp>
        <p:nvSpPr>
          <p:cNvPr id="4" name="Shape 2"/>
          <p:cNvSpPr/>
          <p:nvPr/>
        </p:nvSpPr>
        <p:spPr>
          <a:xfrm>
            <a:off x="502920" y="1600200"/>
            <a:ext cx="3429000" cy="1188720"/>
          </a:xfrm>
          <a:prstGeom prst="rect">
            <a:avLst/>
          </a:prstGeom>
          <a:solidFill>
            <a:srgbClr val="F1F2F3"/>
          </a:solidFill>
          <a:ln w="12700">
            <a:solidFill>
              <a:srgbClr val="B9BDC0"/>
            </a:solidFill>
            <a:prstDash val="solid"/>
          </a:ln>
        </p:spPr>
      </p:sp>
      <p:sp>
        <p:nvSpPr>
          <p:cNvPr id="5" name="Text 3"/>
          <p:cNvSpPr/>
          <p:nvPr/>
        </p:nvSpPr>
        <p:spPr>
          <a:xfrm>
            <a:off x="612648" y="1691640"/>
            <a:ext cx="320954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Native client</a:t>
            </a:r>
            <a:endParaRPr lang="en-US" sz="1300" dirty="0"/>
          </a:p>
        </p:txBody>
      </p:sp>
      <p:sp>
        <p:nvSpPr>
          <p:cNvPr id="6" name="Text 4"/>
          <p:cNvSpPr/>
          <p:nvPr/>
        </p:nvSpPr>
        <p:spPr>
          <a:xfrm>
            <a:off x="612648" y="1984248"/>
            <a:ext cx="3209544"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Node.js console app</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C++ N-API addon</a:t>
            </a:r>
            <a:endParaRPr lang="en-US" sz="1050" dirty="0"/>
          </a:p>
        </p:txBody>
      </p:sp>
      <p:sp>
        <p:nvSpPr>
          <p:cNvPr id="7" name="Shape 5"/>
          <p:cNvSpPr/>
          <p:nvPr/>
        </p:nvSpPr>
        <p:spPr>
          <a:xfrm>
            <a:off x="4389120" y="1600200"/>
            <a:ext cx="3429000" cy="1188720"/>
          </a:xfrm>
          <a:prstGeom prst="rect">
            <a:avLst/>
          </a:prstGeom>
          <a:solidFill>
            <a:srgbClr val="F1F2F3"/>
          </a:solidFill>
          <a:ln w="12700">
            <a:solidFill>
              <a:srgbClr val="B9BDC0"/>
            </a:solidFill>
            <a:prstDash val="solid"/>
          </a:ln>
        </p:spPr>
      </p:sp>
      <p:sp>
        <p:nvSpPr>
          <p:cNvPr id="8" name="Text 6"/>
          <p:cNvSpPr/>
          <p:nvPr/>
        </p:nvSpPr>
        <p:spPr>
          <a:xfrm>
            <a:off x="4498848" y="1691640"/>
            <a:ext cx="320954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Signaling server</a:t>
            </a:r>
            <a:endParaRPr lang="en-US" sz="1300" dirty="0"/>
          </a:p>
        </p:txBody>
      </p:sp>
      <p:sp>
        <p:nvSpPr>
          <p:cNvPr id="9" name="Text 7"/>
          <p:cNvSpPr/>
          <p:nvPr/>
        </p:nvSpPr>
        <p:spPr>
          <a:xfrm>
            <a:off x="4498848" y="1984248"/>
            <a:ext cx="3209544"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WebSocket, JSON</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offer / answer / ICE</a:t>
            </a:r>
            <a:endParaRPr lang="en-US" sz="1050" dirty="0"/>
          </a:p>
        </p:txBody>
      </p:sp>
      <p:sp>
        <p:nvSpPr>
          <p:cNvPr id="10" name="Shape 8"/>
          <p:cNvSpPr/>
          <p:nvPr/>
        </p:nvSpPr>
        <p:spPr>
          <a:xfrm>
            <a:off x="8275320" y="1600200"/>
            <a:ext cx="3410712" cy="1188720"/>
          </a:xfrm>
          <a:prstGeom prst="rect">
            <a:avLst/>
          </a:prstGeom>
          <a:solidFill>
            <a:srgbClr val="F1F2F3"/>
          </a:solidFill>
          <a:ln w="12700">
            <a:solidFill>
              <a:srgbClr val="B9BDC0"/>
            </a:solidFill>
            <a:prstDash val="solid"/>
          </a:ln>
        </p:spPr>
      </p:sp>
      <p:sp>
        <p:nvSpPr>
          <p:cNvPr id="11" name="Text 9"/>
          <p:cNvSpPr/>
          <p:nvPr/>
        </p:nvSpPr>
        <p:spPr>
          <a:xfrm>
            <a:off x="8385048" y="1691640"/>
            <a:ext cx="319125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Peer client</a:t>
            </a:r>
            <a:endParaRPr lang="en-US" sz="1300" dirty="0"/>
          </a:p>
        </p:txBody>
      </p:sp>
      <p:sp>
        <p:nvSpPr>
          <p:cNvPr id="12" name="Text 10"/>
          <p:cNvSpPr/>
          <p:nvPr/>
        </p:nvSpPr>
        <p:spPr>
          <a:xfrm>
            <a:off x="8385048" y="1984248"/>
            <a:ext cx="3191256"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P2P after ICE</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renders + measures</a:t>
            </a:r>
            <a:endParaRPr lang="en-US" sz="1050" dirty="0"/>
          </a:p>
        </p:txBody>
      </p:sp>
      <p:sp>
        <p:nvSpPr>
          <p:cNvPr id="13" name="Shape 11"/>
          <p:cNvSpPr/>
          <p:nvPr/>
        </p:nvSpPr>
        <p:spPr>
          <a:xfrm>
            <a:off x="3986784" y="2194560"/>
            <a:ext cx="347472" cy="0"/>
          </a:xfrm>
          <a:prstGeom prst="line">
            <a:avLst/>
          </a:prstGeom>
          <a:noFill/>
          <a:ln w="15875">
            <a:solidFill>
              <a:srgbClr val="444C52"/>
            </a:solidFill>
            <a:prstDash val="solid"/>
            <a:tailEnd type="triangle"/>
          </a:ln>
        </p:spPr>
      </p:sp>
      <p:sp>
        <p:nvSpPr>
          <p:cNvPr id="14" name="Shape 12"/>
          <p:cNvSpPr/>
          <p:nvPr/>
        </p:nvSpPr>
        <p:spPr>
          <a:xfrm>
            <a:off x="7872984" y="2194560"/>
            <a:ext cx="347472" cy="0"/>
          </a:xfrm>
          <a:prstGeom prst="line">
            <a:avLst/>
          </a:prstGeom>
          <a:noFill/>
          <a:ln w="15875">
            <a:solidFill>
              <a:srgbClr val="444C52"/>
            </a:solidFill>
            <a:prstDash val="solid"/>
            <a:tailEnd type="triangle"/>
          </a:ln>
        </p:spPr>
      </p:sp>
      <p:sp>
        <p:nvSpPr>
          <p:cNvPr id="15" name="Shape 13"/>
          <p:cNvSpPr/>
          <p:nvPr/>
        </p:nvSpPr>
        <p:spPr>
          <a:xfrm>
            <a:off x="502920" y="2999232"/>
            <a:ext cx="5394960" cy="1783080"/>
          </a:xfrm>
          <a:prstGeom prst="rect">
            <a:avLst/>
          </a:prstGeom>
          <a:solidFill>
            <a:srgbClr val="F1F2F3"/>
          </a:solidFill>
          <a:ln w="12700">
            <a:solidFill>
              <a:srgbClr val="B9BDC0"/>
            </a:solidFill>
            <a:prstDash val="solid"/>
          </a:ln>
        </p:spPr>
      </p:sp>
      <p:sp>
        <p:nvSpPr>
          <p:cNvPr id="16" name="Text 14"/>
          <p:cNvSpPr/>
          <p:nvPr/>
        </p:nvSpPr>
        <p:spPr>
          <a:xfrm>
            <a:off x="612648" y="3090672"/>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How the timing gets across</a:t>
            </a:r>
            <a:endParaRPr lang="en-US" sz="1300" dirty="0"/>
          </a:p>
        </p:txBody>
      </p:sp>
      <p:sp>
        <p:nvSpPr>
          <p:cNvPr id="17" name="Text 15"/>
          <p:cNvSpPr/>
          <p:nvPr/>
        </p:nvSpPr>
        <p:spPr>
          <a:xfrm>
            <a:off x="612648" y="3383280"/>
            <a:ext cx="5175504" cy="130759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A patched libwebrtc fork adds a custom 16-byte RTP header</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extension carrying capture_ns and send_ns, and forces every</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frame to be a timing frame — upstream only samples</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periodically, which is useless per-frame.</a:t>
            </a:r>
            <a:endParaRPr lang="en-US" sz="1100" dirty="0"/>
          </a:p>
        </p:txBody>
      </p:sp>
      <p:sp>
        <p:nvSpPr>
          <p:cNvPr id="18" name="Shape 16"/>
          <p:cNvSpPr/>
          <p:nvPr/>
        </p:nvSpPr>
        <p:spPr>
          <a:xfrm>
            <a:off x="6291072" y="2999232"/>
            <a:ext cx="5394960" cy="1783080"/>
          </a:xfrm>
          <a:prstGeom prst="rect">
            <a:avLst/>
          </a:prstGeom>
          <a:solidFill>
            <a:srgbClr val="F1F2F3"/>
          </a:solidFill>
          <a:ln w="12700">
            <a:solidFill>
              <a:srgbClr val="B9BDC0"/>
            </a:solidFill>
            <a:prstDash val="solid"/>
          </a:ln>
        </p:spPr>
      </p:sp>
      <p:sp>
        <p:nvSpPr>
          <p:cNvPr id="19" name="Text 17"/>
          <p:cNvSpPr/>
          <p:nvPr/>
        </p:nvSpPr>
        <p:spPr>
          <a:xfrm>
            <a:off x="6400800" y="3090672"/>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Attached to the shared spine</a:t>
            </a:r>
            <a:endParaRPr lang="en-US" sz="1300" dirty="0"/>
          </a:p>
        </p:txBody>
      </p:sp>
      <p:sp>
        <p:nvSpPr>
          <p:cNvPr id="20" name="Text 18"/>
          <p:cNvSpPr/>
          <p:nvPr/>
        </p:nvSpPr>
        <p:spPr>
          <a:xfrm>
            <a:off x="6400800" y="3383280"/>
            <a:ext cx="5175504" cy="130759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The addon links the telemetry crate over a C ABI and records</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one sample per rendered frame, so media runs land in the same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CSV schema and the same database as the point-cloud profile.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One RUN_ID joins both.</a:t>
            </a:r>
            <a:endParaRPr lang="en-US" sz="1100" dirty="0"/>
          </a:p>
        </p:txBody>
      </p:sp>
      <p:sp>
        <p:nvSpPr>
          <p:cNvPr id="21" name="Text 19"/>
          <p:cNvSpPr/>
          <p:nvPr/>
        </p:nvSpPr>
        <p:spPr>
          <a:xfrm>
            <a:off x="502920" y="4983480"/>
            <a:ext cx="11183112" cy="1280160"/>
          </a:xfrm>
          <a:prstGeom prst="rect">
            <a:avLst/>
          </a:prstGeom>
          <a:noFill/>
          <a:ln/>
        </p:spPr>
        <p:txBody>
          <a:bodyPr wrap="square" lIns="0" tIns="0" rIns="0" bIns="0" rtlCol="0" anchor="t"/>
          <a:lstStyle/>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The cost of this approach: the fork is a ~20 GB source tree that takes hours to build, and the measurement points are only as good as the places the patch can reach. Encode duration, for example, arrives quantised to whole milliseconds in a system that otherwise measures in nanoseconds.</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Profile B — planned: str0m with an SFU</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Replacing the patched fork with a sans-IO library, so precise timestamps fall out of the architecture instead of a patch.</a:t>
            </a:r>
            <a:endParaRPr lang="en-US" sz="1300" dirty="0"/>
          </a:p>
        </p:txBody>
      </p:sp>
      <p:sp>
        <p:nvSpPr>
          <p:cNvPr id="4" name="Shape 2"/>
          <p:cNvSpPr/>
          <p:nvPr/>
        </p:nvSpPr>
        <p:spPr>
          <a:xfrm>
            <a:off x="502920" y="1600200"/>
            <a:ext cx="3108960" cy="1188720"/>
          </a:xfrm>
          <a:prstGeom prst="rect">
            <a:avLst/>
          </a:prstGeom>
          <a:solidFill>
            <a:srgbClr val="F1F2F3"/>
          </a:solidFill>
          <a:ln w="12700">
            <a:solidFill>
              <a:srgbClr val="B9BDC0"/>
            </a:solidFill>
            <a:prstDash val="solid"/>
          </a:ln>
        </p:spPr>
      </p:sp>
      <p:sp>
        <p:nvSpPr>
          <p:cNvPr id="5" name="Text 3"/>
          <p:cNvSpPr/>
          <p:nvPr/>
        </p:nvSpPr>
        <p:spPr>
          <a:xfrm>
            <a:off x="612648" y="1691640"/>
            <a:ext cx="2889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Publisher</a:t>
            </a:r>
            <a:endParaRPr lang="en-US" sz="1300" dirty="0"/>
          </a:p>
        </p:txBody>
      </p:sp>
      <p:sp>
        <p:nvSpPr>
          <p:cNvPr id="6" name="Text 4"/>
          <p:cNvSpPr/>
          <p:nvPr/>
        </p:nvSpPr>
        <p:spPr>
          <a:xfrm>
            <a:off x="612648" y="1984248"/>
            <a:ext cx="2889504"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encodes and sends</a:t>
            </a:r>
            <a:endParaRPr lang="en-US" sz="1050" dirty="0"/>
          </a:p>
        </p:txBody>
      </p:sp>
      <p:sp>
        <p:nvSpPr>
          <p:cNvPr id="7" name="Shape 5"/>
          <p:cNvSpPr/>
          <p:nvPr/>
        </p:nvSpPr>
        <p:spPr>
          <a:xfrm>
            <a:off x="4069080" y="1600200"/>
            <a:ext cx="3931920" cy="1188720"/>
          </a:xfrm>
          <a:prstGeom prst="rect">
            <a:avLst/>
          </a:prstGeom>
          <a:solidFill>
            <a:srgbClr val="2B3136"/>
          </a:solidFill>
          <a:ln w="12700">
            <a:solidFill>
              <a:srgbClr val="2B3136"/>
            </a:solidFill>
            <a:prstDash val="solid"/>
          </a:ln>
        </p:spPr>
      </p:sp>
      <p:sp>
        <p:nvSpPr>
          <p:cNvPr id="8" name="Text 6"/>
          <p:cNvSpPr/>
          <p:nvPr/>
        </p:nvSpPr>
        <p:spPr>
          <a:xfrm>
            <a:off x="4178808" y="1691640"/>
            <a:ext cx="3712464" cy="27432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SFU on the MEC edge</a:t>
            </a:r>
            <a:endParaRPr lang="en-US" sz="1300" dirty="0"/>
          </a:p>
        </p:txBody>
      </p:sp>
      <p:sp>
        <p:nvSpPr>
          <p:cNvPr id="9" name="Text 7"/>
          <p:cNvSpPr/>
          <p:nvPr/>
        </p:nvSpPr>
        <p:spPr>
          <a:xfrm>
            <a:off x="4178808" y="1984248"/>
            <a:ext cx="3712464" cy="713232"/>
          </a:xfrm>
          <a:prstGeom prst="rect">
            <a:avLst/>
          </a:prstGeom>
          <a:noFill/>
          <a:ln/>
        </p:spPr>
        <p:txBody>
          <a:bodyPr wrap="square" lIns="0" tIns="0" rIns="0" bIns="0" rtlCol="0" anchor="t"/>
          <a:lstStyle/>
          <a:p>
            <a:pPr indent="0" marL="0">
              <a:lnSpc>
                <a:spcPct val="108000"/>
              </a:lnSpc>
              <a:buNone/>
            </a:pPr>
            <a:r>
              <a:rPr lang="en-US" sz="1050" dirty="0">
                <a:solidFill>
                  <a:srgbClr val="D5D8DA"/>
                </a:solidFill>
                <a:latin typeface="Calibri" pitchFamily="34" charset="0"/>
                <a:ea typeface="Calibri" pitchFamily="34" charset="-122"/>
                <a:cs typeface="Calibri" pitchFamily="34" charset="-120"/>
              </a:rPr>
              <a:t>str0m state machine, owns its UDP socket</a:t>
            </a:r>
            <a:endParaRPr lang="en-US" sz="1050" dirty="0"/>
          </a:p>
          <a:p>
            <a:pPr indent="0" marL="0">
              <a:lnSpc>
                <a:spcPct val="108000"/>
              </a:lnSpc>
              <a:buNone/>
            </a:pPr>
            <a:r>
              <a:rPr lang="en-US" sz="1050" dirty="0">
                <a:solidFill>
                  <a:srgbClr val="D5D8DA"/>
                </a:solidFill>
                <a:latin typeface="Calibri" pitchFamily="34" charset="0"/>
                <a:ea typeface="Calibri" pitchFamily="34" charset="-122"/>
                <a:cs typeface="Calibri" pitchFamily="34" charset="-120"/>
              </a:rPr>
              <a:t>selective forwarding — one upstream, many down</a:t>
            </a:r>
            <a:endParaRPr lang="en-US" sz="1050" dirty="0"/>
          </a:p>
        </p:txBody>
      </p:sp>
      <p:sp>
        <p:nvSpPr>
          <p:cNvPr id="10" name="Shape 8"/>
          <p:cNvSpPr/>
          <p:nvPr/>
        </p:nvSpPr>
        <p:spPr>
          <a:xfrm>
            <a:off x="8458200" y="1600200"/>
            <a:ext cx="3227832" cy="1188720"/>
          </a:xfrm>
          <a:prstGeom prst="rect">
            <a:avLst/>
          </a:prstGeom>
          <a:solidFill>
            <a:srgbClr val="F1F2F3"/>
          </a:solidFill>
          <a:ln w="12700">
            <a:solidFill>
              <a:srgbClr val="B9BDC0"/>
            </a:solidFill>
            <a:prstDash val="solid"/>
          </a:ln>
        </p:spPr>
      </p:sp>
      <p:sp>
        <p:nvSpPr>
          <p:cNvPr id="11" name="Text 9"/>
          <p:cNvSpPr/>
          <p:nvPr/>
        </p:nvSpPr>
        <p:spPr>
          <a:xfrm>
            <a:off x="8567928" y="1691640"/>
            <a:ext cx="300837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Subscribers</a:t>
            </a:r>
            <a:endParaRPr lang="en-US" sz="1300" dirty="0"/>
          </a:p>
        </p:txBody>
      </p:sp>
      <p:sp>
        <p:nvSpPr>
          <p:cNvPr id="12" name="Text 10"/>
          <p:cNvSpPr/>
          <p:nvPr/>
        </p:nvSpPr>
        <p:spPr>
          <a:xfrm>
            <a:off x="8567928" y="1984248"/>
            <a:ext cx="3008376"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many receivers</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no mesh, no re-encode</a:t>
            </a:r>
            <a:endParaRPr lang="en-US" sz="1050" dirty="0"/>
          </a:p>
        </p:txBody>
      </p:sp>
      <p:sp>
        <p:nvSpPr>
          <p:cNvPr id="13" name="Shape 11"/>
          <p:cNvSpPr/>
          <p:nvPr/>
        </p:nvSpPr>
        <p:spPr>
          <a:xfrm>
            <a:off x="3666744" y="2194560"/>
            <a:ext cx="347472" cy="0"/>
          </a:xfrm>
          <a:prstGeom prst="line">
            <a:avLst/>
          </a:prstGeom>
          <a:noFill/>
          <a:ln w="15875">
            <a:solidFill>
              <a:srgbClr val="444C52"/>
            </a:solidFill>
            <a:prstDash val="solid"/>
            <a:tailEnd type="triangle"/>
          </a:ln>
        </p:spPr>
      </p:sp>
      <p:sp>
        <p:nvSpPr>
          <p:cNvPr id="14" name="Shape 12"/>
          <p:cNvSpPr/>
          <p:nvPr/>
        </p:nvSpPr>
        <p:spPr>
          <a:xfrm>
            <a:off x="8055864" y="2194560"/>
            <a:ext cx="347472" cy="0"/>
          </a:xfrm>
          <a:prstGeom prst="line">
            <a:avLst/>
          </a:prstGeom>
          <a:noFill/>
          <a:ln w="15875">
            <a:solidFill>
              <a:srgbClr val="444C52"/>
            </a:solidFill>
            <a:prstDash val="solid"/>
            <a:tailEnd type="triangle"/>
          </a:ln>
        </p:spPr>
      </p:sp>
      <p:sp>
        <p:nvSpPr>
          <p:cNvPr id="15" name="Text 13"/>
          <p:cNvSpPr/>
          <p:nvPr/>
        </p:nvSpPr>
        <p:spPr>
          <a:xfrm>
            <a:off x="502920" y="2999232"/>
            <a:ext cx="5394960" cy="192024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Sans-IO: the application owns the socket and the event loop.</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send_ns is stamped at the actual socket write, recv_ns at the socket read.</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No forked media stack to maintain, and no 20 GB build.</a:t>
            </a:r>
            <a:endParaRPr lang="en-US" sz="1150" dirty="0"/>
          </a:p>
        </p:txBody>
      </p:sp>
      <p:sp>
        <p:nvSpPr>
          <p:cNvPr id="16" name="Text 14"/>
          <p:cNvSpPr/>
          <p:nvPr/>
        </p:nvSpPr>
        <p:spPr>
          <a:xfrm>
            <a:off x="6291072" y="2999232"/>
            <a:ext cx="5394960" cy="192024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An SFU scales to many viewers — the natural shape for teleoperation and multi-operator monitoring.</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Feeds the identical recorder, so media and point-cloud runs stay directly comparable.</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The SFU is a MEC server component; the library fork stays vendored separately.</a:t>
            </a:r>
            <a:endParaRPr lang="en-US" sz="1150" dirty="0"/>
          </a:p>
        </p:txBody>
      </p:sp>
      <p:sp>
        <p:nvSpPr>
          <p:cNvPr id="17" name="Text 15"/>
          <p:cNvSpPr/>
          <p:nvPr/>
        </p:nvSpPr>
        <p:spPr>
          <a:xfrm>
            <a:off x="502920" y="5120640"/>
            <a:ext cx="11183112" cy="1188720"/>
          </a:xfrm>
          <a:prstGeom prst="rect">
            <a:avLst/>
          </a:prstGeom>
          <a:noFill/>
          <a:ln/>
        </p:spPr>
        <p:txBody>
          <a:bodyPr wrap="square" lIns="0" tIns="0" rIns="0" bIns="0" rtlCol="0" anchor="t"/>
          <a:lstStyle/>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Open design point: the 64-byte envelope exceeds the 16-byte limit of the one-byte RTP extension format, so either the two-byte format is used or the extension carries the timestamps only, with the rest inferred per session. The CSV and snapshot contract is unaffected either way.</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Applications and future work</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What a per-frame, clock-disciplined latency platform over private 5G is actually for.</a:t>
            </a:r>
            <a:endParaRPr lang="en-US" sz="1300" dirty="0"/>
          </a:p>
        </p:txBody>
      </p:sp>
      <p:sp>
        <p:nvSpPr>
          <p:cNvPr id="4" name="Shape 2"/>
          <p:cNvSpPr/>
          <p:nvPr/>
        </p:nvSpPr>
        <p:spPr>
          <a:xfrm>
            <a:off x="502920" y="1572768"/>
            <a:ext cx="3538728" cy="1874520"/>
          </a:xfrm>
          <a:prstGeom prst="rect">
            <a:avLst/>
          </a:prstGeom>
          <a:solidFill>
            <a:srgbClr val="F1F2F3"/>
          </a:solidFill>
          <a:ln w="12700">
            <a:solidFill>
              <a:srgbClr val="B9BDC0"/>
            </a:solidFill>
            <a:prstDash val="solid"/>
          </a:ln>
        </p:spPr>
      </p:sp>
      <p:sp>
        <p:nvSpPr>
          <p:cNvPr id="5" name="Text 3"/>
          <p:cNvSpPr/>
          <p:nvPr/>
        </p:nvSpPr>
        <p:spPr>
          <a:xfrm>
            <a:off x="612648" y="1664208"/>
            <a:ext cx="3319272"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Industrial robotics</a:t>
            </a:r>
            <a:endParaRPr lang="en-US" sz="1300" dirty="0"/>
          </a:p>
        </p:txBody>
      </p:sp>
      <p:sp>
        <p:nvSpPr>
          <p:cNvPr id="6" name="Text 4"/>
          <p:cNvSpPr/>
          <p:nvPr/>
        </p:nvSpPr>
        <p:spPr>
          <a:xfrm>
            <a:off x="612648" y="1956816"/>
            <a:ext cx="3319272" cy="139903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ROS2 fleets on private 5G instead of cabling or Wi-Fi.</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Offloading perception to a MEC server lets robots carry</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less compute — but only if the latency budget is known</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rather than hoped for.</a:t>
            </a:r>
            <a:endParaRPr lang="en-US" sz="1100" dirty="0"/>
          </a:p>
        </p:txBody>
      </p:sp>
      <p:sp>
        <p:nvSpPr>
          <p:cNvPr id="7" name="Shape 5"/>
          <p:cNvSpPr/>
          <p:nvPr/>
        </p:nvSpPr>
        <p:spPr>
          <a:xfrm>
            <a:off x="4325112" y="1572768"/>
            <a:ext cx="3538728" cy="1874520"/>
          </a:xfrm>
          <a:prstGeom prst="rect">
            <a:avLst/>
          </a:prstGeom>
          <a:solidFill>
            <a:srgbClr val="F1F2F3"/>
          </a:solidFill>
          <a:ln w="12700">
            <a:solidFill>
              <a:srgbClr val="B9BDC0"/>
            </a:solidFill>
            <a:prstDash val="solid"/>
          </a:ln>
        </p:spPr>
      </p:sp>
      <p:sp>
        <p:nvSpPr>
          <p:cNvPr id="8" name="Text 6"/>
          <p:cNvSpPr/>
          <p:nvPr/>
        </p:nvSpPr>
        <p:spPr>
          <a:xfrm>
            <a:off x="4434840" y="1664208"/>
            <a:ext cx="3319272"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Teleoperation</a:t>
            </a:r>
            <a:endParaRPr lang="en-US" sz="1300" dirty="0"/>
          </a:p>
        </p:txBody>
      </p:sp>
      <p:sp>
        <p:nvSpPr>
          <p:cNvPr id="9" name="Text 7"/>
          <p:cNvSpPr/>
          <p:nvPr/>
        </p:nvSpPr>
        <p:spPr>
          <a:xfrm>
            <a:off x="4434840" y="1956816"/>
            <a:ext cx="3319272" cy="139903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Remote driving, cranes, mining, inspection. The operator</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needs a defensible glass-to-glass figure and its tail —</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a p99 that occasionally doubles is a safety property,</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not a statistic.</a:t>
            </a:r>
            <a:endParaRPr lang="en-US" sz="1100" dirty="0"/>
          </a:p>
        </p:txBody>
      </p:sp>
      <p:sp>
        <p:nvSpPr>
          <p:cNvPr id="10" name="Shape 8"/>
          <p:cNvSpPr/>
          <p:nvPr/>
        </p:nvSpPr>
        <p:spPr>
          <a:xfrm>
            <a:off x="8147304" y="1572768"/>
            <a:ext cx="3538728" cy="1874520"/>
          </a:xfrm>
          <a:prstGeom prst="rect">
            <a:avLst/>
          </a:prstGeom>
          <a:solidFill>
            <a:srgbClr val="F1F2F3"/>
          </a:solidFill>
          <a:ln w="12700">
            <a:solidFill>
              <a:srgbClr val="B9BDC0"/>
            </a:solidFill>
            <a:prstDash val="solid"/>
          </a:ln>
        </p:spPr>
      </p:sp>
      <p:sp>
        <p:nvSpPr>
          <p:cNvPr id="11" name="Text 9"/>
          <p:cNvSpPr/>
          <p:nvPr/>
        </p:nvSpPr>
        <p:spPr>
          <a:xfrm>
            <a:off x="8257032" y="1664208"/>
            <a:ext cx="3319272"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Vehicle to vehicle / V2X</a:t>
            </a:r>
            <a:endParaRPr lang="en-US" sz="1300" dirty="0"/>
          </a:p>
        </p:txBody>
      </p:sp>
      <p:sp>
        <p:nvSpPr>
          <p:cNvPr id="12" name="Text 10"/>
          <p:cNvSpPr/>
          <p:nvPr/>
        </p:nvSpPr>
        <p:spPr>
          <a:xfrm>
            <a:off x="8257032" y="1956816"/>
            <a:ext cx="3319272" cy="139903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Cooperative perception: vehicles sharing point clouds</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through an edge server. Sensor sharing is only useful</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if the data arrives inside the reaction window, which</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is exactly what this measures.</a:t>
            </a:r>
            <a:endParaRPr lang="en-US" sz="1100" dirty="0"/>
          </a:p>
        </p:txBody>
      </p:sp>
      <p:sp>
        <p:nvSpPr>
          <p:cNvPr id="13" name="Shape 11"/>
          <p:cNvSpPr/>
          <p:nvPr/>
        </p:nvSpPr>
        <p:spPr>
          <a:xfrm>
            <a:off x="502920" y="3584448"/>
            <a:ext cx="3538728" cy="1874520"/>
          </a:xfrm>
          <a:prstGeom prst="rect">
            <a:avLst/>
          </a:prstGeom>
          <a:solidFill>
            <a:srgbClr val="F1F2F3"/>
          </a:solidFill>
          <a:ln w="12700">
            <a:solidFill>
              <a:srgbClr val="B9BDC0"/>
            </a:solidFill>
            <a:prstDash val="solid"/>
          </a:ln>
        </p:spPr>
      </p:sp>
      <p:sp>
        <p:nvSpPr>
          <p:cNvPr id="14" name="Text 12"/>
          <p:cNvSpPr/>
          <p:nvPr/>
        </p:nvSpPr>
        <p:spPr>
          <a:xfrm>
            <a:off x="612648" y="3675888"/>
            <a:ext cx="3319272"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Other latency-critical uses</a:t>
            </a:r>
            <a:endParaRPr lang="en-US" sz="1300" dirty="0"/>
          </a:p>
        </p:txBody>
      </p:sp>
      <p:sp>
        <p:nvSpPr>
          <p:cNvPr id="15" name="Text 13"/>
          <p:cNvSpPr/>
          <p:nvPr/>
        </p:nvSpPr>
        <p:spPr>
          <a:xfrm>
            <a:off x="612648" y="3968496"/>
            <a:ext cx="3319272" cy="139903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Closed-loop motion control and AGV coordination</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Drone swarms and remote inspection</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AR / VR assistance on the factory floor</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Haptics and force feedback, where budgets are tightest</a:t>
            </a:r>
            <a:endParaRPr lang="en-US" sz="1100" dirty="0"/>
          </a:p>
        </p:txBody>
      </p:sp>
      <p:sp>
        <p:nvSpPr>
          <p:cNvPr id="16" name="Shape 14"/>
          <p:cNvSpPr/>
          <p:nvPr/>
        </p:nvSpPr>
        <p:spPr>
          <a:xfrm>
            <a:off x="4325112" y="3584448"/>
            <a:ext cx="3538728" cy="1874520"/>
          </a:xfrm>
          <a:prstGeom prst="rect">
            <a:avLst/>
          </a:prstGeom>
          <a:solidFill>
            <a:srgbClr val="F1F2F3"/>
          </a:solidFill>
          <a:ln w="12700">
            <a:solidFill>
              <a:srgbClr val="B9BDC0"/>
            </a:solidFill>
            <a:prstDash val="solid"/>
          </a:ln>
        </p:spPr>
      </p:sp>
      <p:sp>
        <p:nvSpPr>
          <p:cNvPr id="17" name="Text 15"/>
          <p:cNvSpPr/>
          <p:nvPr/>
        </p:nvSpPr>
        <p:spPr>
          <a:xfrm>
            <a:off x="4434840" y="3675888"/>
            <a:ext cx="3319272"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Near-term platform work</a:t>
            </a:r>
            <a:endParaRPr lang="en-US" sz="1300" dirty="0"/>
          </a:p>
        </p:txBody>
      </p:sp>
      <p:sp>
        <p:nvSpPr>
          <p:cNvPr id="18" name="Text 16"/>
          <p:cNvSpPr/>
          <p:nvPr/>
        </p:nvSpPr>
        <p:spPr>
          <a:xfrm>
            <a:off x="4434840" y="3968496"/>
            <a:ext cx="3319272" cy="139903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Draco compression as a measured variable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Latency versus payload-size sweeps</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Zenoh versus DDS over the same 5G link</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Real LiDAR replacing the synthetic source</a:t>
            </a:r>
            <a:endParaRPr lang="en-US" sz="1100" dirty="0"/>
          </a:p>
        </p:txBody>
      </p:sp>
      <p:sp>
        <p:nvSpPr>
          <p:cNvPr id="19" name="Shape 17"/>
          <p:cNvSpPr/>
          <p:nvPr/>
        </p:nvSpPr>
        <p:spPr>
          <a:xfrm>
            <a:off x="8147304" y="3584448"/>
            <a:ext cx="3538728" cy="1874520"/>
          </a:xfrm>
          <a:prstGeom prst="rect">
            <a:avLst/>
          </a:prstGeom>
          <a:solidFill>
            <a:srgbClr val="2B3136"/>
          </a:solidFill>
          <a:ln w="12700">
            <a:solidFill>
              <a:srgbClr val="2B3136"/>
            </a:solidFill>
            <a:prstDash val="solid"/>
          </a:ln>
        </p:spPr>
      </p:sp>
      <p:sp>
        <p:nvSpPr>
          <p:cNvPr id="20" name="Text 18"/>
          <p:cNvSpPr/>
          <p:nvPr/>
        </p:nvSpPr>
        <p:spPr>
          <a:xfrm>
            <a:off x="8257032" y="3675888"/>
            <a:ext cx="3319272" cy="27432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Research directions</a:t>
            </a:r>
            <a:endParaRPr lang="en-US" sz="1300" dirty="0"/>
          </a:p>
        </p:txBody>
      </p:sp>
      <p:sp>
        <p:nvSpPr>
          <p:cNvPr id="21" name="Text 19"/>
          <p:cNvSpPr/>
          <p:nvPr/>
        </p:nvSpPr>
        <p:spPr>
          <a:xfrm>
            <a:off x="8257032" y="3968496"/>
            <a:ext cx="3319272" cy="1399032"/>
          </a:xfrm>
          <a:prstGeom prst="rect">
            <a:avLst/>
          </a:prstGeom>
          <a:noFill/>
          <a:ln/>
        </p:spPr>
        <p:txBody>
          <a:bodyPr wrap="square" lIns="0" tIns="0" rIns="0" bIns="0" rtlCol="0" anchor="t"/>
          <a:lstStyle/>
          <a:p>
            <a:pPr indent="0" marL="0">
              <a:lnSpc>
                <a:spcPct val="108000"/>
              </a:lnSpc>
              <a:buNone/>
            </a:pPr>
            <a:r>
              <a:rPr lang="en-US" sz="1100" dirty="0">
                <a:solidFill>
                  <a:srgbClr val="D5D8DA"/>
                </a:solidFill>
                <a:latin typeface="Calibri" pitchFamily="34" charset="0"/>
                <a:ea typeface="Calibri" pitchFamily="34" charset="-122"/>
                <a:cs typeface="Calibri" pitchFamily="34" charset="-120"/>
              </a:rPr>
              <a:t>E2 / near-RT RIC xApp for standardised RAN KPIs</a:t>
            </a:r>
            <a:endParaRPr lang="en-US" sz="1100" dirty="0"/>
          </a:p>
          <a:p>
            <a:pPr indent="0" marL="0">
              <a:lnSpc>
                <a:spcPct val="108000"/>
              </a:lnSpc>
              <a:buNone/>
            </a:pPr>
            <a:r>
              <a:rPr lang="en-US" sz="1100" dirty="0">
                <a:solidFill>
                  <a:srgbClr val="D5D8DA"/>
                </a:solidFill>
                <a:latin typeface="Calibri" pitchFamily="34" charset="0"/>
                <a:ea typeface="Calibri" pitchFamily="34" charset="-122"/>
                <a:cs typeface="Calibri" pitchFamily="34" charset="-120"/>
              </a:rPr>
              <a:t>RAN-aware scheduling: prioritise the sensor QoS flow</a:t>
            </a:r>
            <a:endParaRPr lang="en-US" sz="1100" dirty="0"/>
          </a:p>
          <a:p>
            <a:pPr indent="0" marL="0">
              <a:lnSpc>
                <a:spcPct val="108000"/>
              </a:lnSpc>
              <a:buNone/>
            </a:pPr>
            <a:r>
              <a:rPr lang="en-US" sz="1100" dirty="0">
                <a:solidFill>
                  <a:srgbClr val="D5D8DA"/>
                </a:solidFill>
                <a:latin typeface="Calibri" pitchFamily="34" charset="0"/>
                <a:ea typeface="Calibri" pitchFamily="34" charset="-122"/>
                <a:cs typeface="Calibri" pitchFamily="34" charset="-120"/>
              </a:rPr>
              <a:t>Network slicing per application class</a:t>
            </a:r>
            <a:endParaRPr lang="en-US" sz="1100" dirty="0"/>
          </a:p>
          <a:p>
            <a:pPr indent="0" marL="0">
              <a:lnSpc>
                <a:spcPct val="108000"/>
              </a:lnSpc>
              <a:buNone/>
            </a:pPr>
            <a:r>
              <a:rPr lang="en-US" sz="1100" dirty="0">
                <a:solidFill>
                  <a:srgbClr val="D5D8DA"/>
                </a:solidFill>
                <a:latin typeface="Calibri" pitchFamily="34" charset="0"/>
                <a:ea typeface="Calibri" pitchFamily="34" charset="-122"/>
                <a:cs typeface="Calibri" pitchFamily="34" charset="-120"/>
              </a:rPr>
              <a:t>Correlating MAC-layer events with application tails</a:t>
            </a:r>
            <a:endParaRPr lang="en-US" sz="1100" dirty="0"/>
          </a:p>
        </p:txBody>
      </p:sp>
      <p:sp>
        <p:nvSpPr>
          <p:cNvPr id="22" name="Text 20"/>
          <p:cNvSpPr/>
          <p:nvPr/>
        </p:nvSpPr>
        <p:spPr>
          <a:xfrm>
            <a:off x="502920" y="5577840"/>
            <a:ext cx="11183112" cy="502920"/>
          </a:xfrm>
          <a:prstGeom prst="rect">
            <a:avLst/>
          </a:prstGeom>
          <a:noFill/>
          <a:ln/>
        </p:spPr>
        <p:txBody>
          <a:bodyPr wrap="square" lIns="0" tIns="0" rIns="0" bIns="0" rtlCol="0" anchor="t"/>
          <a:lstStyle/>
          <a:p>
            <a:pPr indent="0" marL="0">
              <a:lnSpc>
                <a:spcPct val="115000"/>
              </a:lnSpc>
              <a:buNone/>
            </a:pPr>
            <a:r>
              <a:rPr lang="en-US" sz="1100" dirty="0">
                <a:solidFill>
                  <a:srgbClr val="444C52"/>
                </a:solidFill>
                <a:latin typeface="Calibri" pitchFamily="34" charset="0"/>
                <a:ea typeface="Calibri" pitchFamily="34" charset="-122"/>
                <a:cs typeface="Calibri" pitchFamily="34" charset="-120"/>
              </a:rPr>
              <a:t>The common thread: each of these needs a number someone is willing to defend. Reproducibility artifacts — run identifiers, per-frame CSV and recorded clock health — are what turn a demonstration into evidence.</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mec-cast platform architecture</dc:title>
  <dc:subject>PptxGenJS Presentation</dc:subject>
  <dc:creator>mec-cast</dc:creator>
  <cp:lastModifiedBy>mec-cast</cp:lastModifiedBy>
  <cp:revision>1</cp:revision>
  <dcterms:created xsi:type="dcterms:W3CDTF">2026-09-22T18:06:15Z</dcterms:created>
  <dcterms:modified xsi:type="dcterms:W3CDTF">2026-09-22T18:06:15Z</dcterms:modified>
</cp:coreProperties>
</file>