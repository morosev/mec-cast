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 — two sources</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JSON tap: O-DU scheduler KPIs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 xApp: KPM + run-scoped RC</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disciplines every measuring host over the management LAN — never the 5G user plane, which carries no time sync. What makes a cross-host delay valid is that both ends trace to the SAME grandmaster, not which daemon gets them there.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 or WS :8001</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 + admin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optional: RIC + E2 xApp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One grandmaster for every measuring host; the daemon varies. srsRAN and Open5GS implement no 5G-TSN, so the user plane carries no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udp/7447?rel=1 —</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retransmit, no congestion control, no TLS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RAN — two sources and run-scoped control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JSON tap for depth, an E2 xApp for the standard path and for control — one data model, so analysis never asks which produced a row.</a:t>
            </a:r>
            <a:endParaRPr lang="en-US" sz="1300" dirty="0"/>
          </a:p>
        </p:txBody>
      </p:sp>
      <p:sp>
        <p:nvSpPr>
          <p:cNvPr id="4" name="Shape 2"/>
          <p:cNvSpPr/>
          <p:nvPr/>
        </p:nvSpPr>
        <p:spPr>
          <a:xfrm>
            <a:off x="502920" y="1600200"/>
            <a:ext cx="3471672" cy="1481328"/>
          </a:xfrm>
          <a:prstGeom prst="rect">
            <a:avLst/>
          </a:prstGeom>
          <a:solidFill>
            <a:srgbClr val="F1F2F3"/>
          </a:solidFill>
          <a:ln w="12700">
            <a:solidFill>
              <a:srgbClr val="B9BDC0"/>
            </a:solidFill>
            <a:prstDash val="solid"/>
          </a:ln>
        </p:spPr>
      </p:sp>
      <p:sp>
        <p:nvSpPr>
          <p:cNvPr id="5" name="Text 3"/>
          <p:cNvSpPr/>
          <p:nvPr/>
        </p:nvSpPr>
        <p:spPr>
          <a:xfrm>
            <a:off x="61264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JSON tap — ran-collector</a:t>
            </a:r>
            <a:endParaRPr lang="en-US" sz="1300" dirty="0"/>
          </a:p>
        </p:txBody>
      </p:sp>
      <p:sp>
        <p:nvSpPr>
          <p:cNvPr id="6" name="Text 4"/>
          <p:cNvSpPr/>
          <p:nvPr/>
        </p:nvSpPr>
        <p:spPr>
          <a:xfrm>
            <a:off x="61264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metrics: UDP (≤ 24.x) or WebSocket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per-UE MCS, HARQ, BSR, SNR, scheduler delays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ran/kpi.csv + raw reports</a:t>
            </a:r>
            <a:endParaRPr lang="en-US" sz="1050" dirty="0"/>
          </a:p>
        </p:txBody>
      </p:sp>
      <p:sp>
        <p:nvSpPr>
          <p:cNvPr id="7" name="Shape 5"/>
          <p:cNvSpPr/>
          <p:nvPr/>
        </p:nvSpPr>
        <p:spPr>
          <a:xfrm>
            <a:off x="4358640" y="1600200"/>
            <a:ext cx="3471672" cy="1481328"/>
          </a:xfrm>
          <a:prstGeom prst="rect">
            <a:avLst/>
          </a:prstGeom>
          <a:solidFill>
            <a:srgbClr val="F1F2F3"/>
          </a:solidFill>
          <a:ln w="12700">
            <a:solidFill>
              <a:srgbClr val="B9BDC0"/>
            </a:solidFill>
            <a:prstDash val="solid"/>
          </a:ln>
        </p:spPr>
      </p:sp>
      <p:sp>
        <p:nvSpPr>
          <p:cNvPr id="8" name="Text 6"/>
          <p:cNvSpPr/>
          <p:nvPr/>
        </p:nvSpPr>
        <p:spPr>
          <a:xfrm>
            <a:off x="446836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One RAN data model</a:t>
            </a:r>
            <a:endParaRPr lang="en-US" sz="1300" dirty="0"/>
          </a:p>
        </p:txBody>
      </p:sp>
      <p:sp>
        <p:nvSpPr>
          <p:cNvPr id="9" name="Text 7"/>
          <p:cNvSpPr/>
          <p:nvPr/>
        </p:nvSpPr>
        <p:spPr>
          <a:xfrm>
            <a:off x="446836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canonical names and units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Rust + Python normalisers, one vector file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tools/ran_join.py: per-frame join</a:t>
            </a:r>
            <a:endParaRPr lang="en-US" sz="1050" dirty="0"/>
          </a:p>
        </p:txBody>
      </p:sp>
      <p:sp>
        <p:nvSpPr>
          <p:cNvPr id="10" name="Shape 8"/>
          <p:cNvSpPr/>
          <p:nvPr/>
        </p:nvSpPr>
        <p:spPr>
          <a:xfrm>
            <a:off x="8214360" y="1600200"/>
            <a:ext cx="3471672" cy="1481328"/>
          </a:xfrm>
          <a:prstGeom prst="rect">
            <a:avLst/>
          </a:prstGeom>
          <a:solidFill>
            <a:srgbClr val="F1F2F3"/>
          </a:solidFill>
          <a:ln w="12700">
            <a:solidFill>
              <a:srgbClr val="B9BDC0"/>
            </a:solidFill>
            <a:prstDash val="solid"/>
          </a:ln>
        </p:spPr>
      </p:sp>
      <p:sp>
        <p:nvSpPr>
          <p:cNvPr id="11" name="Text 9"/>
          <p:cNvSpPr/>
          <p:nvPr/>
        </p:nvSpPr>
        <p:spPr>
          <a:xfrm>
            <a:off x="832408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E2 xApp — O-SC near-RT RIC</a:t>
            </a:r>
            <a:endParaRPr lang="en-US" sz="1300" dirty="0"/>
          </a:p>
        </p:txBody>
      </p:sp>
      <p:sp>
        <p:nvSpPr>
          <p:cNvPr id="12" name="Text 10"/>
          <p:cNvSpPr/>
          <p:nvPr/>
        </p:nvSpPr>
        <p:spPr>
          <a:xfrm>
            <a:off x="832408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E2SM-KPM: six DRB metrics, ≥ 1 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capabilities over an E2Port adapter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ran-kpm/kpi.csv</a:t>
            </a:r>
            <a:endParaRPr lang="en-US" sz="1050" dirty="0"/>
          </a:p>
        </p:txBody>
      </p:sp>
      <p:sp>
        <p:nvSpPr>
          <p:cNvPr id="13" name="Shape 11"/>
          <p:cNvSpPr/>
          <p:nvPr/>
        </p:nvSpPr>
        <p:spPr>
          <a:xfrm>
            <a:off x="4020312" y="2340864"/>
            <a:ext cx="292608" cy="0"/>
          </a:xfrm>
          <a:prstGeom prst="line">
            <a:avLst/>
          </a:prstGeom>
          <a:noFill/>
          <a:ln w="15875">
            <a:solidFill>
              <a:srgbClr val="444C52"/>
            </a:solidFill>
            <a:prstDash val="solid"/>
            <a:tailEnd type="triangle"/>
          </a:ln>
        </p:spPr>
      </p:sp>
      <p:sp>
        <p:nvSpPr>
          <p:cNvPr id="14" name="Shape 12"/>
          <p:cNvSpPr/>
          <p:nvPr/>
        </p:nvSpPr>
        <p:spPr>
          <a:xfrm>
            <a:off x="8168640" y="2340864"/>
            <a:ext cx="-292608" cy="0"/>
          </a:xfrm>
          <a:prstGeom prst="line">
            <a:avLst/>
          </a:prstGeom>
          <a:noFill/>
          <a:ln w="15875">
            <a:solidFill>
              <a:srgbClr val="444C52"/>
            </a:solidFill>
            <a:prstDash val="solid"/>
            <a:tailEnd type="triangle"/>
          </a:ln>
        </p:spPr>
      </p:sp>
      <p:sp>
        <p:nvSpPr>
          <p:cNvPr id="15" name="Shape 13"/>
          <p:cNvSpPr/>
          <p:nvPr/>
        </p:nvSpPr>
        <p:spPr>
          <a:xfrm>
            <a:off x="502920" y="3310128"/>
            <a:ext cx="11183112" cy="841248"/>
          </a:xfrm>
          <a:prstGeom prst="rect">
            <a:avLst/>
          </a:prstGeom>
          <a:solidFill>
            <a:srgbClr val="2B3136"/>
          </a:solidFill>
          <a:ln w="12700">
            <a:solidFill>
              <a:srgbClr val="2B3136"/>
            </a:solidFill>
            <a:prstDash val="solid"/>
          </a:ln>
        </p:spPr>
      </p:sp>
      <p:sp>
        <p:nvSpPr>
          <p:cNvPr id="16" name="Text 14"/>
          <p:cNvSpPr/>
          <p:nvPr/>
        </p:nvSpPr>
        <p:spPr>
          <a:xfrm>
            <a:off x="612648" y="3401568"/>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Run-scoped RC control — E2SM-RC slice PRB quota</a:t>
            </a:r>
            <a:endParaRPr lang="en-US" sz="1300" dirty="0"/>
          </a:p>
        </p:txBody>
      </p:sp>
      <p:sp>
        <p:nvSpPr>
          <p:cNvPr id="17" name="Text 15"/>
          <p:cNvSpPr/>
          <p:nvPr/>
        </p:nvSpPr>
        <p:spPr>
          <a:xfrm>
            <a:off x="612648" y="3694176"/>
            <a:ext cx="10963656" cy="365760"/>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A ran_policy belongs to a run: every action recorded in control.csv, reverted on stop, failure, replacement, admin loss and after a crash.</a:t>
            </a:r>
            <a:endParaRPr lang="en-US" sz="1100" dirty="0"/>
          </a:p>
        </p:txBody>
      </p:sp>
      <p:sp>
        <p:nvSpPr>
          <p:cNvPr id="18" name="Shape 16"/>
          <p:cNvSpPr/>
          <p:nvPr/>
        </p:nvSpPr>
        <p:spPr>
          <a:xfrm>
            <a:off x="502920" y="4334256"/>
            <a:ext cx="5394960" cy="1143000"/>
          </a:xfrm>
          <a:prstGeom prst="rect">
            <a:avLst/>
          </a:prstGeom>
          <a:solidFill>
            <a:srgbClr val="F1F2F3"/>
          </a:solidFill>
          <a:ln w="12700">
            <a:solidFill>
              <a:srgbClr val="B9BDC0"/>
            </a:solidFill>
            <a:prstDash val="solid"/>
          </a:ln>
        </p:spPr>
      </p:sp>
      <p:sp>
        <p:nvSpPr>
          <p:cNvPr id="19" name="Text 17"/>
          <p:cNvSpPr/>
          <p:nvPr/>
        </p:nvSpPr>
        <p:spPr>
          <a:xfrm>
            <a:off x="612648"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Cross-checked</a:t>
            </a:r>
            <a:endParaRPr lang="en-US" sz="1300" dirty="0"/>
          </a:p>
        </p:txBody>
      </p:sp>
      <p:sp>
        <p:nvSpPr>
          <p:cNvPr id="20" name="Text 18"/>
          <p:cNvSpPr/>
          <p:nvPr/>
        </p:nvSpPr>
        <p:spPr>
          <a:xfrm>
            <a:off x="612648"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Both sources measure UE throughput; the admin flags a gap.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25 % cap read 0.252 in KPM, 0.250 in the JSON tap.</a:t>
            </a:r>
            <a:endParaRPr lang="en-US" sz="1100" dirty="0"/>
          </a:p>
        </p:txBody>
      </p:sp>
      <p:sp>
        <p:nvSpPr>
          <p:cNvPr id="21" name="Shape 19"/>
          <p:cNvSpPr/>
          <p:nvPr/>
        </p:nvSpPr>
        <p:spPr>
          <a:xfrm>
            <a:off x="6291072" y="4334256"/>
            <a:ext cx="5394960" cy="1143000"/>
          </a:xfrm>
          <a:prstGeom prst="rect">
            <a:avLst/>
          </a:prstGeom>
          <a:solidFill>
            <a:srgbClr val="F1F2F3"/>
          </a:solidFill>
          <a:ln w="12700">
            <a:solidFill>
              <a:srgbClr val="B9BDC0"/>
            </a:solidFill>
            <a:prstDash val="solid"/>
          </a:ln>
        </p:spPr>
      </p:sp>
      <p:sp>
        <p:nvSpPr>
          <p:cNvPr id="22" name="Text 20"/>
          <p:cNvSpPr/>
          <p:nvPr/>
        </p:nvSpPr>
        <p:spPr>
          <a:xfrm>
            <a:off x="6400800"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Not yet verified</a:t>
            </a:r>
            <a:endParaRPr lang="en-US" sz="1300" dirty="0"/>
          </a:p>
        </p:txBody>
      </p:sp>
      <p:sp>
        <p:nvSpPr>
          <p:cNvPr id="23" name="Text 21"/>
          <p:cNvSpPr/>
          <p:nvPr/>
        </p:nvSpPr>
        <p:spPr>
          <a:xfrm>
            <a:off x="6400800"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Against a srsRAN E2 agent and on the lab gNB.</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Units marked verify in ran/schema/metrics.md.</a:t>
            </a:r>
            <a:endParaRPr lang="en-US" sz="1100" dirty="0"/>
          </a:p>
        </p:txBody>
      </p:sp>
      <p:sp>
        <p:nvSpPr>
          <p:cNvPr id="24" name="Text 22"/>
          <p:cNvSpPr/>
          <p:nvPr/>
        </p:nvSpPr>
        <p:spPr>
          <a:xfrm>
            <a:off x="502920" y="5650992"/>
            <a:ext cx="11183112" cy="45720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ADR-0010 keeps both sources; ADR-0011 sets the control rules. Tested end to end against gnb-sim, without a radio.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an experimentation testbed for industrial communication over private 5G is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PRB reservation for the LiDAR UE, via run-scoped RC</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Closed loop: PRBs adjusted from application p99</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2026-10-09T23:32:36Z</dcterms:created>
  <dcterms:modified xsi:type="dcterms:W3CDTF">2026-10-09T23:32:36Z</dcterms:modified>
</cp:coreProperties>
</file>