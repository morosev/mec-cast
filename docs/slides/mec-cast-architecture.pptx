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Architecture overview</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An experimentation testbed for industrial communication over private 5G (srsRAN + Open5GS) — used to study large-payload transport, teleoperation latency, and peer-to-edge offload. Precise timing is one instrument, not the purpose.</a:t>
            </a:r>
            <a:endParaRPr lang="en-US" sz="1300" dirty="0"/>
          </a:p>
        </p:txBody>
      </p:sp>
      <p:sp>
        <p:nvSpPr>
          <p:cNvPr id="4" name="Shape 2"/>
          <p:cNvSpPr/>
          <p:nvPr/>
        </p:nvSpPr>
        <p:spPr>
          <a:xfrm>
            <a:off x="502920" y="1600200"/>
            <a:ext cx="3392424" cy="1188720"/>
          </a:xfrm>
          <a:prstGeom prst="rect">
            <a:avLst/>
          </a:prstGeom>
          <a:solidFill>
            <a:srgbClr val="F1F2F3"/>
          </a:solidFill>
          <a:ln w="12700">
            <a:solidFill>
              <a:srgbClr val="B9BDC0"/>
            </a:solidFill>
            <a:prstDash val="solid"/>
          </a:ln>
        </p:spPr>
      </p:sp>
      <p:sp>
        <p:nvSpPr>
          <p:cNvPr id="5" name="Text 3"/>
          <p:cNvSpPr/>
          <p:nvPr/>
        </p:nvSpPr>
        <p:spPr>
          <a:xfrm>
            <a:off x="612648"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 — robot compute</a:t>
            </a:r>
            <a:endParaRPr lang="en-US" sz="1300" dirty="0"/>
          </a:p>
        </p:txBody>
      </p:sp>
      <p:sp>
        <p:nvSpPr>
          <p:cNvPr id="6" name="Text 4"/>
          <p:cNvSpPr/>
          <p:nvPr/>
        </p:nvSpPr>
        <p:spPr>
          <a:xfrm>
            <a:off x="612648"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LiDAR + 5G modem</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ROS2 client publishes PointCloud2</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stamps capture_ns, send_ns</a:t>
            </a:r>
            <a:endParaRPr lang="en-US" sz="1050" dirty="0"/>
          </a:p>
        </p:txBody>
      </p:sp>
      <p:sp>
        <p:nvSpPr>
          <p:cNvPr id="7" name="Shape 5"/>
          <p:cNvSpPr/>
          <p:nvPr/>
        </p:nvSpPr>
        <p:spPr>
          <a:xfrm>
            <a:off x="4398264" y="1600200"/>
            <a:ext cx="3392424" cy="1188720"/>
          </a:xfrm>
          <a:prstGeom prst="rect">
            <a:avLst/>
          </a:prstGeom>
          <a:solidFill>
            <a:srgbClr val="F1F2F3"/>
          </a:solidFill>
          <a:ln w="12700">
            <a:solidFill>
              <a:srgbClr val="B9BDC0"/>
            </a:solidFill>
            <a:prstDash val="solid"/>
          </a:ln>
        </p:spPr>
      </p:sp>
      <p:sp>
        <p:nvSpPr>
          <p:cNvPr id="8" name="Text 6"/>
          <p:cNvSpPr/>
          <p:nvPr/>
        </p:nvSpPr>
        <p:spPr>
          <a:xfrm>
            <a:off x="4507992"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5G network (lab)</a:t>
            </a:r>
            <a:endParaRPr lang="en-US" sz="1300" dirty="0"/>
          </a:p>
        </p:txBody>
      </p:sp>
      <p:sp>
        <p:nvSpPr>
          <p:cNvPr id="9" name="Text 7"/>
          <p:cNvSpPr/>
          <p:nvPr/>
        </p:nvSpPr>
        <p:spPr>
          <a:xfrm>
            <a:off x="4507992"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srsRAN O-CU / O-DU on USRP radios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Open5GS core, UPF / N6</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impairment under test</a:t>
            </a:r>
            <a:endParaRPr lang="en-US" sz="1050" dirty="0"/>
          </a:p>
        </p:txBody>
      </p:sp>
      <p:sp>
        <p:nvSpPr>
          <p:cNvPr id="10" name="Shape 8"/>
          <p:cNvSpPr/>
          <p:nvPr/>
        </p:nvSpPr>
        <p:spPr>
          <a:xfrm>
            <a:off x="8293608" y="1600200"/>
            <a:ext cx="3392424" cy="1188720"/>
          </a:xfrm>
          <a:prstGeom prst="rect">
            <a:avLst/>
          </a:prstGeom>
          <a:solidFill>
            <a:srgbClr val="F1F2F3"/>
          </a:solidFill>
          <a:ln w="12700">
            <a:solidFill>
              <a:srgbClr val="B9BDC0"/>
            </a:solidFill>
            <a:prstDash val="solid"/>
          </a:ln>
        </p:spPr>
      </p:sp>
      <p:sp>
        <p:nvSpPr>
          <p:cNvPr id="11" name="Text 9"/>
          <p:cNvSpPr/>
          <p:nvPr/>
        </p:nvSpPr>
        <p:spPr>
          <a:xfrm>
            <a:off x="8403336"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MEC edge server</a:t>
            </a:r>
            <a:endParaRPr lang="en-US" sz="1300" dirty="0"/>
          </a:p>
        </p:txBody>
      </p:sp>
      <p:sp>
        <p:nvSpPr>
          <p:cNvPr id="12" name="Text 10"/>
          <p:cNvSpPr/>
          <p:nvPr/>
        </p:nvSpPr>
        <p:spPr>
          <a:xfrm>
            <a:off x="8403336"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Zenoh ingest node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stamps recv_ns, process_done_ns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processes the cloud</a:t>
            </a:r>
            <a:endParaRPr lang="en-US" sz="1050" dirty="0"/>
          </a:p>
        </p:txBody>
      </p:sp>
      <p:sp>
        <p:nvSpPr>
          <p:cNvPr id="13" name="Shape 11"/>
          <p:cNvSpPr/>
          <p:nvPr/>
        </p:nvSpPr>
        <p:spPr>
          <a:xfrm>
            <a:off x="3950208" y="2194560"/>
            <a:ext cx="393192" cy="0"/>
          </a:xfrm>
          <a:prstGeom prst="line">
            <a:avLst/>
          </a:prstGeom>
          <a:noFill/>
          <a:ln w="15875">
            <a:solidFill>
              <a:srgbClr val="444C52"/>
            </a:solidFill>
            <a:prstDash val="solid"/>
            <a:tailEnd type="triangle"/>
          </a:ln>
        </p:spPr>
      </p:sp>
      <p:sp>
        <p:nvSpPr>
          <p:cNvPr id="14" name="Text 12"/>
          <p:cNvSpPr/>
          <p:nvPr/>
        </p:nvSpPr>
        <p:spPr>
          <a:xfrm>
            <a:off x="3813048" y="1901952"/>
            <a:ext cx="667512" cy="256032"/>
          </a:xfrm>
          <a:prstGeom prst="rect">
            <a:avLst/>
          </a:prstGeom>
          <a:noFill/>
          <a:ln/>
        </p:spPr>
        <p:txBody>
          <a:bodyPr wrap="square" lIns="0" tIns="0" rIns="0" bIns="0" rtlCol="0" anchor="ctr"/>
          <a:lstStyle/>
          <a:p>
            <a:pPr algn="ctr" indent="0" marL="0">
              <a:buNone/>
            </a:pPr>
            <a:r>
              <a:rPr lang="en-US" sz="900" dirty="0">
                <a:solidFill>
                  <a:srgbClr val="76797C"/>
                </a:solidFill>
                <a:latin typeface="Calibri" pitchFamily="34" charset="0"/>
                <a:ea typeface="Calibri" pitchFamily="34" charset="-122"/>
                <a:cs typeface="Calibri" pitchFamily="34" charset="-120"/>
              </a:rPr>
              <a:t>Uu</a:t>
            </a:r>
            <a:endParaRPr lang="en-US" sz="900" dirty="0"/>
          </a:p>
        </p:txBody>
      </p:sp>
      <p:sp>
        <p:nvSpPr>
          <p:cNvPr id="15" name="Shape 13"/>
          <p:cNvSpPr/>
          <p:nvPr/>
        </p:nvSpPr>
        <p:spPr>
          <a:xfrm>
            <a:off x="7845552" y="2194560"/>
            <a:ext cx="393192" cy="0"/>
          </a:xfrm>
          <a:prstGeom prst="line">
            <a:avLst/>
          </a:prstGeom>
          <a:noFill/>
          <a:ln w="15875">
            <a:solidFill>
              <a:srgbClr val="444C52"/>
            </a:solidFill>
            <a:prstDash val="solid"/>
            <a:tailEnd type="triangle"/>
          </a:ln>
        </p:spPr>
      </p:sp>
      <p:sp>
        <p:nvSpPr>
          <p:cNvPr id="16" name="Text 14"/>
          <p:cNvSpPr/>
          <p:nvPr/>
        </p:nvSpPr>
        <p:spPr>
          <a:xfrm>
            <a:off x="7708392" y="1901952"/>
            <a:ext cx="667512" cy="256032"/>
          </a:xfrm>
          <a:prstGeom prst="rect">
            <a:avLst/>
          </a:prstGeom>
          <a:noFill/>
          <a:ln/>
        </p:spPr>
        <p:txBody>
          <a:bodyPr wrap="square" lIns="0" tIns="0" rIns="0" bIns="0" rtlCol="0" anchor="ctr"/>
          <a:lstStyle/>
          <a:p>
            <a:pPr algn="ctr" indent="0" marL="0">
              <a:buNone/>
            </a:pPr>
            <a:r>
              <a:rPr lang="en-US" sz="900" dirty="0">
                <a:solidFill>
                  <a:srgbClr val="76797C"/>
                </a:solidFill>
                <a:latin typeface="Calibri" pitchFamily="34" charset="0"/>
                <a:ea typeface="Calibri" pitchFamily="34" charset="-122"/>
                <a:cs typeface="Calibri" pitchFamily="34" charset="-120"/>
              </a:rPr>
              <a:t>UPF</a:t>
            </a:r>
            <a:endParaRPr lang="en-US" sz="900" dirty="0"/>
          </a:p>
        </p:txBody>
      </p:sp>
      <p:sp>
        <p:nvSpPr>
          <p:cNvPr id="17" name="Shape 15"/>
          <p:cNvSpPr/>
          <p:nvPr/>
        </p:nvSpPr>
        <p:spPr>
          <a:xfrm>
            <a:off x="4398264" y="2980944"/>
            <a:ext cx="3392424" cy="868680"/>
          </a:xfrm>
          <a:prstGeom prst="rect">
            <a:avLst/>
          </a:prstGeom>
          <a:solidFill>
            <a:srgbClr val="F1F2F3"/>
          </a:solidFill>
          <a:ln w="12700">
            <a:solidFill>
              <a:srgbClr val="B9BDC0"/>
            </a:solidFill>
            <a:prstDash val="solid"/>
          </a:ln>
        </p:spPr>
      </p:sp>
      <p:sp>
        <p:nvSpPr>
          <p:cNvPr id="18" name="Text 16"/>
          <p:cNvSpPr/>
          <p:nvPr/>
        </p:nvSpPr>
        <p:spPr>
          <a:xfrm>
            <a:off x="4507992" y="3072384"/>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ran-collector</a:t>
            </a:r>
            <a:endParaRPr lang="en-US" sz="1300" dirty="0"/>
          </a:p>
        </p:txBody>
      </p:sp>
      <p:sp>
        <p:nvSpPr>
          <p:cNvPr id="19" name="Text 17"/>
          <p:cNvSpPr/>
          <p:nvPr/>
        </p:nvSpPr>
        <p:spPr>
          <a:xfrm>
            <a:off x="4507992" y="3364992"/>
            <a:ext cx="3172968" cy="3931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O-DU MAC / scheduler KPIs over UDP JSON</a:t>
            </a:r>
            <a:endParaRPr lang="en-US" sz="1050" dirty="0"/>
          </a:p>
        </p:txBody>
      </p:sp>
      <p:sp>
        <p:nvSpPr>
          <p:cNvPr id="20" name="Shape 18"/>
          <p:cNvSpPr/>
          <p:nvPr/>
        </p:nvSpPr>
        <p:spPr>
          <a:xfrm>
            <a:off x="8293608" y="2980944"/>
            <a:ext cx="3392424" cy="868680"/>
          </a:xfrm>
          <a:prstGeom prst="rect">
            <a:avLst/>
          </a:prstGeom>
          <a:solidFill>
            <a:srgbClr val="F1F2F3"/>
          </a:solidFill>
          <a:ln w="12700">
            <a:solidFill>
              <a:srgbClr val="B9BDC0"/>
            </a:solidFill>
            <a:prstDash val="solid"/>
          </a:ln>
        </p:spPr>
      </p:sp>
      <p:sp>
        <p:nvSpPr>
          <p:cNvPr id="21" name="Text 19"/>
          <p:cNvSpPr/>
          <p:nvPr/>
        </p:nvSpPr>
        <p:spPr>
          <a:xfrm>
            <a:off x="8403336" y="3072384"/>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Outputs</a:t>
            </a:r>
            <a:endParaRPr lang="en-US" sz="1300" dirty="0"/>
          </a:p>
        </p:txBody>
      </p:sp>
      <p:sp>
        <p:nvSpPr>
          <p:cNvPr id="22" name="Text 20"/>
          <p:cNvSpPr/>
          <p:nvPr/>
        </p:nvSpPr>
        <p:spPr>
          <a:xfrm>
            <a:off x="8403336" y="3364992"/>
            <a:ext cx="3172968" cy="3931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per-frame CSV  +  2 s aggregated snapshots</a:t>
            </a:r>
            <a:endParaRPr lang="en-US" sz="1050" dirty="0"/>
          </a:p>
        </p:txBody>
      </p:sp>
      <p:sp>
        <p:nvSpPr>
          <p:cNvPr id="23" name="Shape 21"/>
          <p:cNvSpPr/>
          <p:nvPr/>
        </p:nvSpPr>
        <p:spPr>
          <a:xfrm>
            <a:off x="502920" y="4023360"/>
            <a:ext cx="11183112" cy="804672"/>
          </a:xfrm>
          <a:prstGeom prst="rect">
            <a:avLst/>
          </a:prstGeom>
          <a:solidFill>
            <a:srgbClr val="2B3136"/>
          </a:solidFill>
          <a:ln w="12700">
            <a:solidFill>
              <a:srgbClr val="2B3136"/>
            </a:solidFill>
            <a:prstDash val="solid"/>
          </a:ln>
        </p:spPr>
      </p:sp>
      <p:sp>
        <p:nvSpPr>
          <p:cNvPr id="24" name="Text 22"/>
          <p:cNvSpPr/>
          <p:nvPr/>
        </p:nvSpPr>
        <p:spPr>
          <a:xfrm>
            <a:off x="612648" y="4114800"/>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mec-cast-telemetry — the shared spine</a:t>
            </a:r>
            <a:endParaRPr lang="en-US" sz="1300" dirty="0"/>
          </a:p>
        </p:txBody>
      </p:sp>
      <p:sp>
        <p:nvSpPr>
          <p:cNvPr id="25" name="Text 23"/>
          <p:cNvSpPr/>
          <p:nvPr/>
        </p:nvSpPr>
        <p:spPr>
          <a:xfrm>
            <a:off x="612648" y="4407408"/>
            <a:ext cx="10963656" cy="329184"/>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64-byte TimingEnvelope · DelayStats with exact percentiles · clocks and PTP monitor · lock-free recorder</a:t>
            </a:r>
            <a:endParaRPr lang="en-US" sz="1100" dirty="0"/>
          </a:p>
        </p:txBody>
      </p:sp>
      <p:sp>
        <p:nvSpPr>
          <p:cNvPr id="26" name="Shape 24"/>
          <p:cNvSpPr/>
          <p:nvPr/>
        </p:nvSpPr>
        <p:spPr>
          <a:xfrm>
            <a:off x="502920" y="4992624"/>
            <a:ext cx="11183112" cy="713232"/>
          </a:xfrm>
          <a:prstGeom prst="rect">
            <a:avLst/>
          </a:prstGeom>
          <a:solidFill>
            <a:srgbClr val="FFFFFF"/>
          </a:solidFill>
          <a:ln w="12700">
            <a:solidFill>
              <a:srgbClr val="B9BDC0"/>
            </a:solidFill>
            <a:prstDash val="solid"/>
          </a:ln>
        </p:spPr>
      </p:sp>
      <p:sp>
        <p:nvSpPr>
          <p:cNvPr id="27" name="Text 25"/>
          <p:cNvSpPr/>
          <p:nvPr/>
        </p:nvSpPr>
        <p:spPr>
          <a:xfrm>
            <a:off x="612648" y="5084064"/>
            <a:ext cx="10963656" cy="274320"/>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Logging service — PostgreSQL</a:t>
            </a:r>
            <a:endParaRPr lang="en-US" sz="1200" dirty="0"/>
          </a:p>
        </p:txBody>
      </p:sp>
      <p:sp>
        <p:nvSpPr>
          <p:cNvPr id="28" name="Text 26"/>
          <p:cNvSpPr/>
          <p:nvPr/>
        </p:nvSpPr>
        <p:spPr>
          <a:xfrm>
            <a:off x="612648" y="5376672"/>
            <a:ext cx="10963656" cy="237744"/>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Every component posts snapshots here; RUN_ID is the trace_id that joins UE, edge and RAN for one experiment.</a:t>
            </a:r>
            <a:endParaRPr lang="en-US" sz="1100" dirty="0"/>
          </a:p>
        </p:txBody>
      </p:sp>
      <p:sp>
        <p:nvSpPr>
          <p:cNvPr id="29" name="Text 27"/>
          <p:cNvSpPr/>
          <p:nvPr/>
        </p:nvSpPr>
        <p:spPr>
          <a:xfrm>
            <a:off x="502920" y="5870448"/>
            <a:ext cx="11183112" cy="457200"/>
          </a:xfrm>
          <a:prstGeom prst="rect">
            <a:avLst/>
          </a:prstGeom>
          <a:noFill/>
          <a:ln/>
        </p:spPr>
        <p:txBody>
          <a:bodyPr wrap="square" lIns="0" tIns="0" rIns="0" bIns="0" rtlCol="0" anchor="t"/>
          <a:lstStyle/>
          <a:p>
            <a:pPr indent="0" marL="0">
              <a:lnSpc>
                <a:spcPct val="115000"/>
              </a:lnSpc>
              <a:buNone/>
            </a:pPr>
            <a:r>
              <a:rPr lang="en-US" sz="1050" dirty="0">
                <a:solidFill>
                  <a:srgbClr val="444C52"/>
                </a:solidFill>
                <a:latin typeface="Calibri" pitchFamily="34" charset="0"/>
                <a:ea typeface="Calibri" pitchFamily="34" charset="-122"/>
                <a:cs typeface="Calibri" pitchFamily="34" charset="-120"/>
              </a:rPr>
              <a:t>PTP (ptp4l + phc2sys) disciplines every measuring host over the management LAN — never the 5G user plane, which carries no time sync.</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Deployment — local (development)</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One docker network, no hardware. Network impairment is simulated so the pipeline can be exercised end to end on a laptop.</a:t>
            </a:r>
            <a:endParaRPr lang="en-US" sz="1300" dirty="0"/>
          </a:p>
        </p:txBody>
      </p:sp>
      <p:sp>
        <p:nvSpPr>
          <p:cNvPr id="4" name="Shape 2"/>
          <p:cNvSpPr/>
          <p:nvPr/>
        </p:nvSpPr>
        <p:spPr>
          <a:xfrm>
            <a:off x="502920" y="1600200"/>
            <a:ext cx="2507742" cy="1051560"/>
          </a:xfrm>
          <a:prstGeom prst="rect">
            <a:avLst/>
          </a:prstGeom>
          <a:solidFill>
            <a:srgbClr val="F1F2F3"/>
          </a:solidFill>
          <a:ln w="12700">
            <a:solidFill>
              <a:srgbClr val="B9BDC0"/>
            </a:solidFill>
            <a:prstDash val="solid"/>
          </a:ln>
        </p:spPr>
      </p:sp>
      <p:sp>
        <p:nvSpPr>
          <p:cNvPr id="5" name="Text 3"/>
          <p:cNvSpPr/>
          <p:nvPr/>
        </p:nvSpPr>
        <p:spPr>
          <a:xfrm>
            <a:off x="61264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lidar-client</a:t>
            </a:r>
            <a:endParaRPr lang="en-US" sz="1300" dirty="0"/>
          </a:p>
        </p:txBody>
      </p:sp>
      <p:sp>
        <p:nvSpPr>
          <p:cNvPr id="6" name="Text 4"/>
          <p:cNvSpPr/>
          <p:nvPr/>
        </p:nvSpPr>
        <p:spPr>
          <a:xfrm>
            <a:off x="61264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synthetic PointCloud2</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seed · num_points · rate_hz</a:t>
            </a:r>
            <a:endParaRPr lang="en-US" sz="1050" dirty="0"/>
          </a:p>
        </p:txBody>
      </p:sp>
      <p:sp>
        <p:nvSpPr>
          <p:cNvPr id="7" name="Shape 5"/>
          <p:cNvSpPr/>
          <p:nvPr/>
        </p:nvSpPr>
        <p:spPr>
          <a:xfrm>
            <a:off x="3394710" y="1600200"/>
            <a:ext cx="2507742" cy="1051560"/>
          </a:xfrm>
          <a:prstGeom prst="rect">
            <a:avLst/>
          </a:prstGeom>
          <a:solidFill>
            <a:srgbClr val="F1F2F3"/>
          </a:solidFill>
          <a:ln w="12700">
            <a:solidFill>
              <a:srgbClr val="B9BDC0"/>
            </a:solidFill>
            <a:prstDash val="solid"/>
          </a:ln>
        </p:spPr>
      </p:sp>
      <p:sp>
        <p:nvSpPr>
          <p:cNvPr id="8" name="Text 6"/>
          <p:cNvSpPr/>
          <p:nvPr/>
        </p:nvSpPr>
        <p:spPr>
          <a:xfrm>
            <a:off x="350443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netem sidecar</a:t>
            </a:r>
            <a:endParaRPr lang="en-US" sz="1300" dirty="0"/>
          </a:p>
        </p:txBody>
      </p:sp>
      <p:sp>
        <p:nvSpPr>
          <p:cNvPr id="9" name="Text 7"/>
          <p:cNvSpPr/>
          <p:nvPr/>
        </p:nvSpPr>
        <p:spPr>
          <a:xfrm>
            <a:off x="350443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shares the client netns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delay · jitter · loss</a:t>
            </a:r>
            <a:endParaRPr lang="en-US" sz="1050" dirty="0"/>
          </a:p>
        </p:txBody>
      </p:sp>
      <p:sp>
        <p:nvSpPr>
          <p:cNvPr id="10" name="Shape 8"/>
          <p:cNvSpPr/>
          <p:nvPr/>
        </p:nvSpPr>
        <p:spPr>
          <a:xfrm>
            <a:off x="6286500" y="1600200"/>
            <a:ext cx="2507742" cy="1051560"/>
          </a:xfrm>
          <a:prstGeom prst="rect">
            <a:avLst/>
          </a:prstGeom>
          <a:solidFill>
            <a:srgbClr val="F1F2F3"/>
          </a:solidFill>
          <a:ln w="12700">
            <a:solidFill>
              <a:srgbClr val="B9BDC0"/>
            </a:solidFill>
            <a:prstDash val="solid"/>
          </a:ln>
        </p:spPr>
      </p:sp>
      <p:sp>
        <p:nvSpPr>
          <p:cNvPr id="11" name="Text 9"/>
          <p:cNvSpPr/>
          <p:nvPr/>
        </p:nvSpPr>
        <p:spPr>
          <a:xfrm>
            <a:off x="639622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zenoh-router</a:t>
            </a:r>
            <a:endParaRPr lang="en-US" sz="1300" dirty="0"/>
          </a:p>
        </p:txBody>
      </p:sp>
      <p:sp>
        <p:nvSpPr>
          <p:cNvPr id="12" name="Text 10"/>
          <p:cNvSpPr/>
          <p:nvPr/>
        </p:nvSpPr>
        <p:spPr>
          <a:xfrm>
            <a:off x="639622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rendezvous point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port 7447</a:t>
            </a:r>
            <a:endParaRPr lang="en-US" sz="1050" dirty="0"/>
          </a:p>
        </p:txBody>
      </p:sp>
      <p:sp>
        <p:nvSpPr>
          <p:cNvPr id="13" name="Shape 11"/>
          <p:cNvSpPr/>
          <p:nvPr/>
        </p:nvSpPr>
        <p:spPr>
          <a:xfrm>
            <a:off x="9178290" y="1600200"/>
            <a:ext cx="2507742" cy="1051560"/>
          </a:xfrm>
          <a:prstGeom prst="rect">
            <a:avLst/>
          </a:prstGeom>
          <a:solidFill>
            <a:srgbClr val="F1F2F3"/>
          </a:solidFill>
          <a:ln w="12700">
            <a:solidFill>
              <a:srgbClr val="B9BDC0"/>
            </a:solidFill>
            <a:prstDash val="solid"/>
          </a:ln>
        </p:spPr>
      </p:sp>
      <p:sp>
        <p:nvSpPr>
          <p:cNvPr id="14" name="Text 12"/>
          <p:cNvSpPr/>
          <p:nvPr/>
        </p:nvSpPr>
        <p:spPr>
          <a:xfrm>
            <a:off x="928801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a:t>
            </a:r>
            <a:endParaRPr lang="en-US" sz="1300" dirty="0"/>
          </a:p>
        </p:txBody>
      </p:sp>
      <p:sp>
        <p:nvSpPr>
          <p:cNvPr id="15" name="Text 13"/>
          <p:cNvSpPr/>
          <p:nvPr/>
        </p:nvSpPr>
        <p:spPr>
          <a:xfrm>
            <a:off x="928801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ingest + processing</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writes CSV</a:t>
            </a:r>
            <a:endParaRPr lang="en-US" sz="1050" dirty="0"/>
          </a:p>
        </p:txBody>
      </p:sp>
      <p:sp>
        <p:nvSpPr>
          <p:cNvPr id="16" name="Shape 14"/>
          <p:cNvSpPr/>
          <p:nvPr/>
        </p:nvSpPr>
        <p:spPr>
          <a:xfrm>
            <a:off x="3056382" y="2125980"/>
            <a:ext cx="292608" cy="0"/>
          </a:xfrm>
          <a:prstGeom prst="line">
            <a:avLst/>
          </a:prstGeom>
          <a:noFill/>
          <a:ln w="15875">
            <a:solidFill>
              <a:srgbClr val="444C52"/>
            </a:solidFill>
            <a:prstDash val="solid"/>
            <a:tailEnd type="triangle"/>
          </a:ln>
        </p:spPr>
      </p:sp>
      <p:sp>
        <p:nvSpPr>
          <p:cNvPr id="17" name="Shape 15"/>
          <p:cNvSpPr/>
          <p:nvPr/>
        </p:nvSpPr>
        <p:spPr>
          <a:xfrm>
            <a:off x="5948172" y="2125980"/>
            <a:ext cx="292608" cy="0"/>
          </a:xfrm>
          <a:prstGeom prst="line">
            <a:avLst/>
          </a:prstGeom>
          <a:noFill/>
          <a:ln w="15875">
            <a:solidFill>
              <a:srgbClr val="444C52"/>
            </a:solidFill>
            <a:prstDash val="solid"/>
            <a:tailEnd type="triangle"/>
          </a:ln>
        </p:spPr>
      </p:sp>
      <p:sp>
        <p:nvSpPr>
          <p:cNvPr id="18" name="Shape 16"/>
          <p:cNvSpPr/>
          <p:nvPr/>
        </p:nvSpPr>
        <p:spPr>
          <a:xfrm>
            <a:off x="8839962" y="2125980"/>
            <a:ext cx="292608" cy="0"/>
          </a:xfrm>
          <a:prstGeom prst="line">
            <a:avLst/>
          </a:prstGeom>
          <a:noFill/>
          <a:ln w="15875">
            <a:solidFill>
              <a:srgbClr val="444C52"/>
            </a:solidFill>
            <a:prstDash val="solid"/>
            <a:tailEnd type="triangle"/>
          </a:ln>
        </p:spPr>
      </p:sp>
      <p:sp>
        <p:nvSpPr>
          <p:cNvPr id="19" name="Shape 17"/>
          <p:cNvSpPr/>
          <p:nvPr/>
        </p:nvSpPr>
        <p:spPr>
          <a:xfrm>
            <a:off x="502920" y="2880360"/>
            <a:ext cx="5394960" cy="91440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logging + postgres</a:t>
            </a:r>
            <a:endParaRPr lang="en-US" sz="1300" dirty="0"/>
          </a:p>
        </p:txBody>
      </p:sp>
      <p:sp>
        <p:nvSpPr>
          <p:cNvPr id="21" name="Text 19"/>
          <p:cNvSpPr/>
          <p:nvPr/>
        </p:nvSpPr>
        <p:spPr>
          <a:xfrm>
            <a:off x="612648" y="3264408"/>
            <a:ext cx="5175504" cy="4389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postgres:16 has no host port — reachable only inside the compose network</a:t>
            </a:r>
            <a:endParaRPr lang="en-US" sz="1050" dirty="0"/>
          </a:p>
        </p:txBody>
      </p:sp>
      <p:sp>
        <p:nvSpPr>
          <p:cNvPr id="22" name="Shape 20"/>
          <p:cNvSpPr/>
          <p:nvPr/>
        </p:nvSpPr>
        <p:spPr>
          <a:xfrm>
            <a:off x="6291072" y="2880360"/>
            <a:ext cx="5394960" cy="914400"/>
          </a:xfrm>
          <a:prstGeom prst="rect">
            <a:avLst/>
          </a:prstGeom>
          <a:solidFill>
            <a:srgbClr val="F1F2F3"/>
          </a:solidFill>
          <a:ln w="12700">
            <a:solidFill>
              <a:srgbClr val="B9BDC0"/>
            </a:solidFill>
            <a:prstDash val="solid"/>
          </a:ln>
        </p:spPr>
      </p:sp>
      <p:sp>
        <p:nvSpPr>
          <p:cNvPr id="23" name="Text 21"/>
          <p:cNvSpPr/>
          <p:nvPr/>
        </p:nvSpPr>
        <p:spPr>
          <a:xfrm>
            <a:off x="6400800"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runs/  (bind mount)</a:t>
            </a:r>
            <a:endParaRPr lang="en-US" sz="1300" dirty="0"/>
          </a:p>
        </p:txBody>
      </p:sp>
      <p:sp>
        <p:nvSpPr>
          <p:cNvPr id="24" name="Text 22"/>
          <p:cNvSpPr/>
          <p:nvPr/>
        </p:nvSpPr>
        <p:spPr>
          <a:xfrm>
            <a:off x="6400800" y="3264408"/>
            <a:ext cx="5175504" cy="4389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per-frame CSV lands on the host and survives docker compose down</a:t>
            </a:r>
            <a:endParaRPr lang="en-US" sz="1050" dirty="0"/>
          </a:p>
        </p:txBody>
      </p:sp>
      <p:sp>
        <p:nvSpPr>
          <p:cNvPr id="25" name="Text 23"/>
          <p:cNvSpPr/>
          <p:nvPr/>
        </p:nvSpPr>
        <p:spPr>
          <a:xfrm>
            <a:off x="502920" y="4023360"/>
            <a:ext cx="5394960" cy="2103120"/>
          </a:xfrm>
          <a:prstGeom prst="rect">
            <a:avLst/>
          </a:prstGeom>
          <a:noFill/>
          <a:ln/>
        </p:spPr>
        <p:txBody>
          <a:bodyPr wrap="square" lIns="0" tIns="0" rIns="0" bIns="0" rtlCol="0" anchor="t"/>
          <a:lstStyle/>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Bring it all up:</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make up-local</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make logs        make down</a:t>
            </a:r>
            <a:endParaRPr lang="en-US" sz="1150" dirty="0"/>
          </a:p>
          <a:p>
            <a:pPr indent="0" marL="0">
              <a:lnSpc>
                <a:spcPct val="115000"/>
              </a:lnSpc>
              <a:buNone/>
            </a:pPr>
            <a:endParaRPr lang="en-US" sz="1150" dirty="0"/>
          </a:p>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Or one container per terminal:</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$COMPOSE up --no-deps &lt;service&gt;</a:t>
            </a:r>
            <a:endParaRPr lang="en-US" sz="1150" dirty="0"/>
          </a:p>
        </p:txBody>
      </p:sp>
      <p:sp>
        <p:nvSpPr>
          <p:cNvPr id="26" name="Text 24"/>
          <p:cNvSpPr/>
          <p:nvPr/>
        </p:nvSpPr>
        <p:spPr>
          <a:xfrm>
            <a:off x="6291072" y="4023360"/>
            <a:ext cx="5394960" cy="210312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Two compose files are always passed together so the containers share one network.</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netem sidecar impairs the client's egress — modelling the 5G uplink without touching host networking.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Same containers as the lab; only the composition differs.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Deployment — lab testbed</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Four roles on four hosts. The impairment is now the real 5G uplink, and clock discipline becomes a hard requirement.</a:t>
            </a:r>
            <a:endParaRPr lang="en-US" sz="1300" dirty="0"/>
          </a:p>
        </p:txBody>
      </p:sp>
      <p:sp>
        <p:nvSpPr>
          <p:cNvPr id="4" name="Shape 2"/>
          <p:cNvSpPr/>
          <p:nvPr/>
        </p:nvSpPr>
        <p:spPr>
          <a:xfrm>
            <a:off x="502920" y="1600200"/>
            <a:ext cx="2507742" cy="1188720"/>
          </a:xfrm>
          <a:prstGeom prst="rect">
            <a:avLst/>
          </a:prstGeom>
          <a:solidFill>
            <a:srgbClr val="F1F2F3"/>
          </a:solidFill>
          <a:ln w="12700">
            <a:solidFill>
              <a:srgbClr val="B9BDC0"/>
            </a:solidFill>
            <a:prstDash val="solid"/>
          </a:ln>
        </p:spPr>
      </p:sp>
      <p:sp>
        <p:nvSpPr>
          <p:cNvPr id="5" name="Text 3"/>
          <p:cNvSpPr/>
          <p:nvPr/>
        </p:nvSpPr>
        <p:spPr>
          <a:xfrm>
            <a:off x="61264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a:t>
            </a:r>
            <a:endParaRPr lang="en-US" sz="1300" dirty="0"/>
          </a:p>
        </p:txBody>
      </p:sp>
      <p:sp>
        <p:nvSpPr>
          <p:cNvPr id="6" name="Text 4"/>
          <p:cNvSpPr/>
          <p:nvPr/>
        </p:nvSpPr>
        <p:spPr>
          <a:xfrm>
            <a:off x="61264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lidar-client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behind the 5G modem</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needs EDGE_HOST</a:t>
            </a:r>
            <a:endParaRPr lang="en-US" sz="1050" dirty="0"/>
          </a:p>
        </p:txBody>
      </p:sp>
      <p:sp>
        <p:nvSpPr>
          <p:cNvPr id="7" name="Shape 5"/>
          <p:cNvSpPr/>
          <p:nvPr/>
        </p:nvSpPr>
        <p:spPr>
          <a:xfrm>
            <a:off x="3394710" y="1600200"/>
            <a:ext cx="2507742" cy="1188720"/>
          </a:xfrm>
          <a:prstGeom prst="rect">
            <a:avLst/>
          </a:prstGeom>
          <a:solidFill>
            <a:srgbClr val="F1F2F3"/>
          </a:solidFill>
          <a:ln w="12700">
            <a:solidFill>
              <a:srgbClr val="B9BDC0"/>
            </a:solidFill>
            <a:prstDash val="solid"/>
          </a:ln>
        </p:spPr>
      </p:sp>
      <p:sp>
        <p:nvSpPr>
          <p:cNvPr id="8" name="Text 6"/>
          <p:cNvSpPr/>
          <p:nvPr/>
        </p:nvSpPr>
        <p:spPr>
          <a:xfrm>
            <a:off x="350443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gnb</a:t>
            </a:r>
            <a:endParaRPr lang="en-US" sz="1300" dirty="0"/>
          </a:p>
        </p:txBody>
      </p:sp>
      <p:sp>
        <p:nvSpPr>
          <p:cNvPr id="9" name="Text 7"/>
          <p:cNvSpPr/>
          <p:nvPr/>
        </p:nvSpPr>
        <p:spPr>
          <a:xfrm>
            <a:off x="350443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ran-collector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beside the srsRAN O-DU</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UDP :55555</a:t>
            </a:r>
            <a:endParaRPr lang="en-US" sz="1050" dirty="0"/>
          </a:p>
        </p:txBody>
      </p:sp>
      <p:sp>
        <p:nvSpPr>
          <p:cNvPr id="10" name="Shape 8"/>
          <p:cNvSpPr/>
          <p:nvPr/>
        </p:nvSpPr>
        <p:spPr>
          <a:xfrm>
            <a:off x="6286500" y="1600200"/>
            <a:ext cx="2507742" cy="1188720"/>
          </a:xfrm>
          <a:prstGeom prst="rect">
            <a:avLst/>
          </a:prstGeom>
          <a:solidFill>
            <a:srgbClr val="F1F2F3"/>
          </a:solidFill>
          <a:ln w="12700">
            <a:solidFill>
              <a:srgbClr val="B9BDC0"/>
            </a:solidFill>
            <a:prstDash val="solid"/>
          </a:ln>
        </p:spPr>
      </p:sp>
      <p:sp>
        <p:nvSpPr>
          <p:cNvPr id="11" name="Text 9"/>
          <p:cNvSpPr/>
          <p:nvPr/>
        </p:nvSpPr>
        <p:spPr>
          <a:xfrm>
            <a:off x="639622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a:t>
            </a:r>
            <a:endParaRPr lang="en-US" sz="1300" dirty="0"/>
          </a:p>
        </p:txBody>
      </p:sp>
      <p:sp>
        <p:nvSpPr>
          <p:cNvPr id="12" name="Text 10"/>
          <p:cNvSpPr/>
          <p:nvPr/>
        </p:nvSpPr>
        <p:spPr>
          <a:xfrm>
            <a:off x="639622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zenoh-router + edge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MEC app server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behind the UPF</a:t>
            </a:r>
            <a:endParaRPr lang="en-US" sz="1050" dirty="0"/>
          </a:p>
        </p:txBody>
      </p:sp>
      <p:sp>
        <p:nvSpPr>
          <p:cNvPr id="13" name="Shape 11"/>
          <p:cNvSpPr/>
          <p:nvPr/>
        </p:nvSpPr>
        <p:spPr>
          <a:xfrm>
            <a:off x="9178290" y="1600200"/>
            <a:ext cx="2507742" cy="1188720"/>
          </a:xfrm>
          <a:prstGeom prst="rect">
            <a:avLst/>
          </a:prstGeom>
          <a:solidFill>
            <a:srgbClr val="F1F2F3"/>
          </a:solidFill>
          <a:ln w="12700">
            <a:solidFill>
              <a:srgbClr val="B9BDC0"/>
            </a:solidFill>
            <a:prstDash val="solid"/>
          </a:ln>
        </p:spPr>
      </p:sp>
      <p:sp>
        <p:nvSpPr>
          <p:cNvPr id="14" name="Text 12"/>
          <p:cNvSpPr/>
          <p:nvPr/>
        </p:nvSpPr>
        <p:spPr>
          <a:xfrm>
            <a:off x="928801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infra</a:t>
            </a:r>
            <a:endParaRPr lang="en-US" sz="1300" dirty="0"/>
          </a:p>
        </p:txBody>
      </p:sp>
      <p:sp>
        <p:nvSpPr>
          <p:cNvPr id="15" name="Text 13"/>
          <p:cNvSpPr/>
          <p:nvPr/>
        </p:nvSpPr>
        <p:spPr>
          <a:xfrm>
            <a:off x="928801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logging + postgres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pgdata volume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deploy this first</a:t>
            </a:r>
            <a:endParaRPr lang="en-US" sz="1050" dirty="0"/>
          </a:p>
        </p:txBody>
      </p:sp>
      <p:sp>
        <p:nvSpPr>
          <p:cNvPr id="16" name="Shape 14"/>
          <p:cNvSpPr/>
          <p:nvPr/>
        </p:nvSpPr>
        <p:spPr>
          <a:xfrm>
            <a:off x="3056382" y="2194560"/>
            <a:ext cx="292608" cy="0"/>
          </a:xfrm>
          <a:prstGeom prst="line">
            <a:avLst/>
          </a:prstGeom>
          <a:noFill/>
          <a:ln w="15875">
            <a:solidFill>
              <a:srgbClr val="444C52"/>
            </a:solidFill>
            <a:prstDash val="solid"/>
            <a:tailEnd type="triangle"/>
          </a:ln>
        </p:spPr>
      </p:sp>
      <p:sp>
        <p:nvSpPr>
          <p:cNvPr id="17" name="Shape 15"/>
          <p:cNvSpPr/>
          <p:nvPr/>
        </p:nvSpPr>
        <p:spPr>
          <a:xfrm>
            <a:off x="5948172" y="2194560"/>
            <a:ext cx="292608" cy="0"/>
          </a:xfrm>
          <a:prstGeom prst="line">
            <a:avLst/>
          </a:prstGeom>
          <a:noFill/>
          <a:ln w="15875">
            <a:solidFill>
              <a:srgbClr val="444C52"/>
            </a:solidFill>
            <a:prstDash val="solid"/>
            <a:tailEnd type="triangle"/>
          </a:ln>
        </p:spPr>
      </p:sp>
      <p:sp>
        <p:nvSpPr>
          <p:cNvPr id="18" name="Shape 16"/>
          <p:cNvSpPr/>
          <p:nvPr/>
        </p:nvSpPr>
        <p:spPr>
          <a:xfrm>
            <a:off x="8839962" y="2194560"/>
            <a:ext cx="292608" cy="0"/>
          </a:xfrm>
          <a:prstGeom prst="line">
            <a:avLst/>
          </a:prstGeom>
          <a:noFill/>
          <a:ln w="15875">
            <a:solidFill>
              <a:srgbClr val="444C52"/>
            </a:solidFill>
            <a:prstDash val="solid"/>
            <a:tailEnd type="triangle"/>
          </a:ln>
        </p:spPr>
      </p:sp>
      <p:sp>
        <p:nvSpPr>
          <p:cNvPr id="19" name="Shape 17"/>
          <p:cNvSpPr/>
          <p:nvPr/>
        </p:nvSpPr>
        <p:spPr>
          <a:xfrm>
            <a:off x="502920" y="2999232"/>
            <a:ext cx="11183112" cy="777240"/>
          </a:xfrm>
          <a:prstGeom prst="rect">
            <a:avLst/>
          </a:prstGeom>
          <a:solidFill>
            <a:srgbClr val="2B3136"/>
          </a:solidFill>
          <a:ln w="12700">
            <a:solidFill>
              <a:srgbClr val="2B3136"/>
            </a:solidFill>
            <a:prstDash val="solid"/>
          </a:ln>
        </p:spPr>
      </p:sp>
      <p:sp>
        <p:nvSpPr>
          <p:cNvPr id="20" name="Text 18"/>
          <p:cNvSpPr/>
          <p:nvPr/>
        </p:nvSpPr>
        <p:spPr>
          <a:xfrm>
            <a:off x="612648" y="3090672"/>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PTP grandmaster — management / backhaul LAN</a:t>
            </a:r>
            <a:endParaRPr lang="en-US" sz="1300" dirty="0"/>
          </a:p>
        </p:txBody>
      </p:sp>
      <p:sp>
        <p:nvSpPr>
          <p:cNvPr id="21" name="Text 19"/>
          <p:cNvSpPr/>
          <p:nvPr/>
        </p:nvSpPr>
        <p:spPr>
          <a:xfrm>
            <a:off x="612648" y="3383280"/>
            <a:ext cx="10963656" cy="301752"/>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ptp4l + phc2sys on every measuring host. srsRAN and Open5GS implement no 5G-TSN, so the user plane cannot carry time sync.</a:t>
            </a:r>
            <a:endParaRPr lang="en-US" sz="1100" dirty="0"/>
          </a:p>
        </p:txBody>
      </p:sp>
      <p:sp>
        <p:nvSpPr>
          <p:cNvPr id="22" name="Text 20"/>
          <p:cNvSpPr/>
          <p:nvPr/>
        </p:nvSpPr>
        <p:spPr>
          <a:xfrm>
            <a:off x="502920" y="4005072"/>
            <a:ext cx="5394960" cy="2194560"/>
          </a:xfrm>
          <a:prstGeom prst="rect">
            <a:avLst/>
          </a:prstGeom>
          <a:noFill/>
          <a:ln/>
        </p:spPr>
        <p:txBody>
          <a:bodyPr wrap="square" lIns="0" tIns="0" rIns="0" bIns="0" rtlCol="0" anchor="t"/>
          <a:lstStyle/>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Deploy one role to one host:</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bash deploy/lab/deploy.sh infra ops@infra-host</a:t>
            </a:r>
            <a:endParaRPr lang="en-US" sz="1150" dirty="0"/>
          </a:p>
          <a:p>
            <a:pPr indent="0" marL="0">
              <a:lnSpc>
                <a:spcPct val="115000"/>
              </a:lnSpc>
              <a:buNone/>
            </a:pP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Start order: infra → edge → gnb → ue</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Everything posts to the logging service, and the UE dials the edge's router.</a:t>
            </a:r>
            <a:endParaRPr lang="en-US" sz="1150" dirty="0"/>
          </a:p>
        </p:txBody>
      </p:sp>
      <p:sp>
        <p:nvSpPr>
          <p:cNvPr id="23" name="Text 21"/>
          <p:cNvSpPr/>
          <p:nvPr/>
        </p:nvSpPr>
        <p:spPr>
          <a:xfrm>
            <a:off x="6291072" y="4005072"/>
            <a:ext cx="5394960" cy="21945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UE dials out across the UPF — no multicast discovery is possible on a cellular user plane.</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Each role mounts /dev/ptp0 so timestamps come from the disciplined hardware clock.</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Every snapshot records ptp.reliable, so analysis can filter by clock health after the fact.</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Logging service — PostgreSQL + FastAPI</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mec-cast-logging-service: where aggregated results land. FastAPI + asyncpg over PostgreSQL, consumed as a git submodule at services/logging.</a:t>
            </a:r>
            <a:endParaRPr lang="en-US" sz="1300" dirty="0"/>
          </a:p>
        </p:txBody>
      </p:sp>
      <p:sp>
        <p:nvSpPr>
          <p:cNvPr id="4" name="Shape 2"/>
          <p:cNvSpPr/>
          <p:nvPr/>
        </p:nvSpPr>
        <p:spPr>
          <a:xfrm>
            <a:off x="502920" y="1600200"/>
            <a:ext cx="5394960" cy="2286000"/>
          </a:xfrm>
          <a:prstGeom prst="rect">
            <a:avLst/>
          </a:prstGeom>
          <a:solidFill>
            <a:srgbClr val="F1F2F3"/>
          </a:solidFill>
          <a:ln w="12700">
            <a:solidFill>
              <a:srgbClr val="B9BDC0"/>
            </a:solidFill>
            <a:prstDash val="solid"/>
          </a:ln>
        </p:spPr>
      </p:sp>
      <p:sp>
        <p:nvSpPr>
          <p:cNvPr id="5" name="Text 3"/>
          <p:cNvSpPr/>
          <p:nvPr/>
        </p:nvSpPr>
        <p:spPr>
          <a:xfrm>
            <a:off x="612648" y="169164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HTTP API  (/api/v1)</a:t>
            </a:r>
            <a:endParaRPr lang="en-US" sz="1300" dirty="0"/>
          </a:p>
        </p:txBody>
      </p:sp>
      <p:sp>
        <p:nvSpPr>
          <p:cNvPr id="6" name="Text 4"/>
          <p:cNvSpPr/>
          <p:nvPr/>
        </p:nvSpPr>
        <p:spPr>
          <a:xfrm>
            <a:off x="612648" y="1984248"/>
            <a:ext cx="5175504" cy="1810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POST /logs      one entry or a batch</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/logs      filter by service, level, time, trace_id</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/stats     counts by level and service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/health/ready   503 when the database is down</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Batch insert is one round trip regardless of size: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INSERT … SELECT FROM unnest(…)</a:t>
            </a:r>
            <a:endParaRPr lang="en-US" sz="1100" dirty="0"/>
          </a:p>
        </p:txBody>
      </p:sp>
      <p:sp>
        <p:nvSpPr>
          <p:cNvPr id="7" name="Shape 5"/>
          <p:cNvSpPr/>
          <p:nvPr/>
        </p:nvSpPr>
        <p:spPr>
          <a:xfrm>
            <a:off x="6291072" y="1600200"/>
            <a:ext cx="5394960" cy="2286000"/>
          </a:xfrm>
          <a:prstGeom prst="rect">
            <a:avLst/>
          </a:prstGeom>
          <a:solidFill>
            <a:srgbClr val="F1F2F3"/>
          </a:solidFill>
          <a:ln w="12700">
            <a:solidFill>
              <a:srgbClr val="B9BDC0"/>
            </a:solidFill>
            <a:prstDash val="solid"/>
          </a:ln>
        </p:spPr>
      </p:sp>
      <p:sp>
        <p:nvSpPr>
          <p:cNvPr id="8" name="Text 6"/>
          <p:cNvSpPr/>
          <p:nvPr/>
        </p:nvSpPr>
        <p:spPr>
          <a:xfrm>
            <a:off x="6400800" y="169164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Data model — log_entries</a:t>
            </a:r>
            <a:endParaRPr lang="en-US" sz="1300" dirty="0"/>
          </a:p>
        </p:txBody>
      </p:sp>
      <p:sp>
        <p:nvSpPr>
          <p:cNvPr id="9" name="Text 7"/>
          <p:cNvSpPr/>
          <p:nvPr/>
        </p:nvSpPr>
        <p:spPr>
          <a:xfrm>
            <a:off x="6400800" y="1984248"/>
            <a:ext cx="5175504" cy="1810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timestamp · level · service · host · logger · message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context   JSONB, GIN indexed — all metrics live here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trace_id  = RUN_ID, joins every component of one run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severity  numeric mirror of level, so min_level ranks</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Keyset pagination on (timestamp, id) — a walk through a</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busy table never skips or duplicates rows.</a:t>
            </a:r>
            <a:endParaRPr lang="en-US" sz="1100" dirty="0"/>
          </a:p>
        </p:txBody>
      </p:sp>
      <p:sp>
        <p:nvSpPr>
          <p:cNvPr id="10" name="Shape 8"/>
          <p:cNvSpPr/>
          <p:nvPr/>
        </p:nvSpPr>
        <p:spPr>
          <a:xfrm>
            <a:off x="502920" y="4069080"/>
            <a:ext cx="5394960" cy="1371600"/>
          </a:xfrm>
          <a:prstGeom prst="rect">
            <a:avLst/>
          </a:prstGeom>
          <a:solidFill>
            <a:srgbClr val="F1F2F3"/>
          </a:solidFill>
          <a:ln w="12700">
            <a:solidFill>
              <a:srgbClr val="B9BDC0"/>
            </a:solidFill>
            <a:prstDash val="solid"/>
          </a:ln>
        </p:spPr>
      </p:sp>
      <p:sp>
        <p:nvSpPr>
          <p:cNvPr id="11" name="Text 9"/>
          <p:cNvSpPr/>
          <p:nvPr/>
        </p:nvSpPr>
        <p:spPr>
          <a:xfrm>
            <a:off x="612648" y="416052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Schema is a contract</a:t>
            </a:r>
            <a:endParaRPr lang="en-US" sz="1300" dirty="0"/>
          </a:p>
        </p:txBody>
      </p:sp>
      <p:sp>
        <p:nvSpPr>
          <p:cNvPr id="12" name="Text 10"/>
          <p:cNvSpPr/>
          <p:nvPr/>
        </p:nvSpPr>
        <p:spPr>
          <a:xfrm>
            <a:off x="612648" y="4453128"/>
            <a:ext cx="5175504" cy="8961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LogEntryCreate is extra="forbid": any unexpected top-level</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field is a runtime 422. Everything mec-cast-specific goes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inside context. Migrations apply automatically at startup.</a:t>
            </a:r>
            <a:endParaRPr lang="en-US" sz="1100" dirty="0"/>
          </a:p>
        </p:txBody>
      </p:sp>
      <p:sp>
        <p:nvSpPr>
          <p:cNvPr id="13" name="Shape 11"/>
          <p:cNvSpPr/>
          <p:nvPr/>
        </p:nvSpPr>
        <p:spPr>
          <a:xfrm>
            <a:off x="6291072" y="4069080"/>
            <a:ext cx="5394960" cy="1371600"/>
          </a:xfrm>
          <a:prstGeom prst="rect">
            <a:avLst/>
          </a:prstGeom>
          <a:solidFill>
            <a:srgbClr val="F1F2F3"/>
          </a:solidFill>
          <a:ln w="12700">
            <a:solidFill>
              <a:srgbClr val="B9BDC0"/>
            </a:solidFill>
            <a:prstDash val="solid"/>
          </a:ln>
        </p:spPr>
      </p:sp>
      <p:sp>
        <p:nvSpPr>
          <p:cNvPr id="14" name="Text 12"/>
          <p:cNvSpPr/>
          <p:nvPr/>
        </p:nvSpPr>
        <p:spPr>
          <a:xfrm>
            <a:off x="6400800" y="416052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Operational posture</a:t>
            </a:r>
            <a:endParaRPr lang="en-US" sz="1300" dirty="0"/>
          </a:p>
        </p:txBody>
      </p:sp>
      <p:sp>
        <p:nvSpPr>
          <p:cNvPr id="15" name="Text 13"/>
          <p:cNvSpPr/>
          <p:nvPr/>
        </p:nvSpPr>
        <p:spPr>
          <a:xfrm>
            <a:off x="6400800" y="4453128"/>
            <a:ext cx="5175504" cy="8961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 authentication and no rate limiting by design — bind it</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to the management LAN only. Bulk deletion is a CLI command,</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not an endpoint: mec-cast-logs purge --days 30</a:t>
            </a:r>
            <a:endParaRPr lang="en-US" sz="1100" dirty="0"/>
          </a:p>
        </p:txBody>
      </p:sp>
      <p:sp>
        <p:nvSpPr>
          <p:cNvPr id="16" name="Text 14"/>
          <p:cNvSpPr/>
          <p:nvPr/>
        </p:nvSpPr>
        <p:spPr>
          <a:xfrm>
            <a:off x="502920" y="5623560"/>
            <a:ext cx="11183112" cy="50292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Per-frame samples do NOT go here — that firehose goes to CSV under runs/&lt;RUN_ID&gt;/. This service holds 2-second aggregated snapshots plus lifecycle and error events, which is what makes it queryable rather than merely large.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ROS2 client — mec_cast_lidar_client</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Runs on the UE. Vanilla ROS2 application code; only the middleware underneath is unusual.</a:t>
            </a:r>
            <a:endParaRPr lang="en-US" sz="1300" dirty="0"/>
          </a:p>
        </p:txBody>
      </p:sp>
      <p:sp>
        <p:nvSpPr>
          <p:cNvPr id="4" name="Shape 2"/>
          <p:cNvSpPr/>
          <p:nvPr/>
        </p:nvSpPr>
        <p:spPr>
          <a:xfrm>
            <a:off x="502920" y="1600200"/>
            <a:ext cx="3429000" cy="1143000"/>
          </a:xfrm>
          <a:prstGeom prst="rect">
            <a:avLst/>
          </a:prstGeom>
          <a:solidFill>
            <a:srgbClr val="F1F2F3"/>
          </a:solidFill>
          <a:ln w="12700">
            <a:solidFill>
              <a:srgbClr val="B9BDC0"/>
            </a:solidFill>
            <a:prstDash val="solid"/>
          </a:ln>
        </p:spPr>
      </p:sp>
      <p:sp>
        <p:nvSpPr>
          <p:cNvPr id="5" name="Text 3"/>
          <p:cNvSpPr/>
          <p:nvPr/>
        </p:nvSpPr>
        <p:spPr>
          <a:xfrm>
            <a:off x="6126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1 — generate</a:t>
            </a:r>
            <a:endParaRPr lang="en-US" sz="1300" dirty="0"/>
          </a:p>
        </p:txBody>
      </p:sp>
      <p:sp>
        <p:nvSpPr>
          <p:cNvPr id="6" name="Text 4"/>
          <p:cNvSpPr/>
          <p:nvPr/>
        </p:nvSpPr>
        <p:spPr>
          <a:xfrm>
            <a:off x="612648" y="1984248"/>
            <a:ext cx="320954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deterministic cloud from a seed</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capture_ns stamped</a:t>
            </a:r>
            <a:endParaRPr lang="en-US" sz="1050" dirty="0"/>
          </a:p>
        </p:txBody>
      </p:sp>
      <p:sp>
        <p:nvSpPr>
          <p:cNvPr id="7" name="Shape 5"/>
          <p:cNvSpPr/>
          <p:nvPr/>
        </p:nvSpPr>
        <p:spPr>
          <a:xfrm>
            <a:off x="4389120" y="1600200"/>
            <a:ext cx="3429000" cy="1143000"/>
          </a:xfrm>
          <a:prstGeom prst="rect">
            <a:avLst/>
          </a:prstGeom>
          <a:solidFill>
            <a:srgbClr val="F1F2F3"/>
          </a:solidFill>
          <a:ln w="12700">
            <a:solidFill>
              <a:srgbClr val="B9BDC0"/>
            </a:solidFill>
            <a:prstDash val="solid"/>
          </a:ln>
        </p:spPr>
      </p:sp>
      <p:sp>
        <p:nvSpPr>
          <p:cNvPr id="8" name="Text 6"/>
          <p:cNvSpPr/>
          <p:nvPr/>
        </p:nvSpPr>
        <p:spPr>
          <a:xfrm>
            <a:off x="44988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2 — publish</a:t>
            </a:r>
            <a:endParaRPr lang="en-US" sz="1300" dirty="0"/>
          </a:p>
        </p:txBody>
      </p:sp>
      <p:sp>
        <p:nvSpPr>
          <p:cNvPr id="9" name="Text 7"/>
          <p:cNvSpPr/>
          <p:nvPr/>
        </p:nvSpPr>
        <p:spPr>
          <a:xfrm>
            <a:off x="4498848" y="1984248"/>
            <a:ext cx="320954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CloudWithTelemetry</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send_ns stamped last</a:t>
            </a:r>
            <a:endParaRPr lang="en-US" sz="1050" dirty="0"/>
          </a:p>
        </p:txBody>
      </p:sp>
      <p:sp>
        <p:nvSpPr>
          <p:cNvPr id="10" name="Shape 8"/>
          <p:cNvSpPr/>
          <p:nvPr/>
        </p:nvSpPr>
        <p:spPr>
          <a:xfrm>
            <a:off x="8275320" y="1600200"/>
            <a:ext cx="3410712" cy="1143000"/>
          </a:xfrm>
          <a:prstGeom prst="rect">
            <a:avLst/>
          </a:prstGeom>
          <a:solidFill>
            <a:srgbClr val="F1F2F3"/>
          </a:solidFill>
          <a:ln w="12700">
            <a:solidFill>
              <a:srgbClr val="B9BDC0"/>
            </a:solidFill>
            <a:prstDash val="solid"/>
          </a:ln>
        </p:spPr>
      </p:sp>
      <p:sp>
        <p:nvSpPr>
          <p:cNvPr id="11" name="Text 9"/>
          <p:cNvSpPr/>
          <p:nvPr/>
        </p:nvSpPr>
        <p:spPr>
          <a:xfrm>
            <a:off x="8385048" y="1691640"/>
            <a:ext cx="319125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3 — record</a:t>
            </a:r>
            <a:endParaRPr lang="en-US" sz="1300" dirty="0"/>
          </a:p>
        </p:txBody>
      </p:sp>
      <p:sp>
        <p:nvSpPr>
          <p:cNvPr id="12" name="Text 10"/>
          <p:cNvSpPr/>
          <p:nvPr/>
        </p:nvSpPr>
        <p:spPr>
          <a:xfrm>
            <a:off x="8385048" y="1984248"/>
            <a:ext cx="3191256"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sender-side CSV</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snapshots to logging</a:t>
            </a:r>
            <a:endParaRPr lang="en-US" sz="1050" dirty="0"/>
          </a:p>
        </p:txBody>
      </p:sp>
      <p:sp>
        <p:nvSpPr>
          <p:cNvPr id="13" name="Shape 11"/>
          <p:cNvSpPr/>
          <p:nvPr/>
        </p:nvSpPr>
        <p:spPr>
          <a:xfrm>
            <a:off x="3986784" y="2171700"/>
            <a:ext cx="347472" cy="0"/>
          </a:xfrm>
          <a:prstGeom prst="line">
            <a:avLst/>
          </a:prstGeom>
          <a:noFill/>
          <a:ln w="15875">
            <a:solidFill>
              <a:srgbClr val="444C52"/>
            </a:solidFill>
            <a:prstDash val="solid"/>
            <a:tailEnd type="triangle"/>
          </a:ln>
        </p:spPr>
      </p:sp>
      <p:sp>
        <p:nvSpPr>
          <p:cNvPr id="14" name="Shape 12"/>
          <p:cNvSpPr/>
          <p:nvPr/>
        </p:nvSpPr>
        <p:spPr>
          <a:xfrm>
            <a:off x="7872984" y="2171700"/>
            <a:ext cx="347472" cy="0"/>
          </a:xfrm>
          <a:prstGeom prst="line">
            <a:avLst/>
          </a:prstGeom>
          <a:noFill/>
          <a:ln w="15875">
            <a:solidFill>
              <a:srgbClr val="444C52"/>
            </a:solidFill>
            <a:prstDash val="solid"/>
            <a:tailEnd type="triangle"/>
          </a:ln>
        </p:spPr>
      </p:sp>
      <p:sp>
        <p:nvSpPr>
          <p:cNvPr id="15" name="Shape 13"/>
          <p:cNvSpPr/>
          <p:nvPr/>
        </p:nvSpPr>
        <p:spPr>
          <a:xfrm>
            <a:off x="502920" y="2880360"/>
            <a:ext cx="5394960" cy="1783080"/>
          </a:xfrm>
          <a:prstGeom prst="rect">
            <a:avLst/>
          </a:prstGeom>
          <a:solidFill>
            <a:srgbClr val="F1F2F3"/>
          </a:solidFill>
          <a:ln w="12700">
            <a:solidFill>
              <a:srgbClr val="B9BDC0"/>
            </a:solidFill>
            <a:prstDash val="solid"/>
          </a:ln>
        </p:spPr>
      </p:sp>
      <p:sp>
        <p:nvSpPr>
          <p:cNvPr id="16" name="Text 14"/>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Test vectors are a controlled variable</a:t>
            </a:r>
            <a:endParaRPr lang="en-US" sz="1300" dirty="0"/>
          </a:p>
        </p:txBody>
      </p:sp>
      <p:sp>
        <p:nvSpPr>
          <p:cNvPr id="17" name="Text 15"/>
          <p:cNvSpPr/>
          <p:nvPr/>
        </p:nvSpPr>
        <p:spPr>
          <a:xfrm>
            <a:off x="612648" y="3264408"/>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seed         42               reproducible contents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num_points   30000            payload size — the main sweep</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rate_hz      10.0             publish rate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pattern      uniform_cube     or rotating_plane</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Fixing the seed across a size sweep means only size varies.</a:t>
            </a:r>
            <a:endParaRPr lang="en-US" sz="1100" dirty="0"/>
          </a:p>
        </p:txBody>
      </p:sp>
      <p:sp>
        <p:nvSpPr>
          <p:cNvPr id="18" name="Text 16"/>
          <p:cNvSpPr/>
          <p:nvPr/>
        </p:nvSpPr>
        <p:spPr>
          <a:xfrm>
            <a:off x="6355080" y="2880360"/>
            <a:ext cx="5330952" cy="178308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timing envelope rides in-band as a message field, because rmw_zenoh does not expose per-publish attachments to the application layer.</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same synthetic source stands in for a real LiDAR, so the pipeline is testable with no hardware and reproducible in CI.</a:t>
            </a:r>
            <a:endParaRPr lang="en-US" sz="1150" dirty="0"/>
          </a:p>
        </p:txBody>
      </p:sp>
      <p:sp>
        <p:nvSpPr>
          <p:cNvPr id="19" name="Text 17"/>
          <p:cNvSpPr/>
          <p:nvPr/>
        </p:nvSpPr>
        <p:spPr>
          <a:xfrm>
            <a:off x="502920" y="493776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Why synthetic first: an Ouster OS1-64 at 10 Hz is roughly 2 MB per frame, about 160 Mbps raw — well beyond a lab 5G uplink. Establishing the latency floor with a controllable payload comes before adding compression, so the cost of compression can be measured rather than assumed.</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Edge — mec_cast_edge</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Runs on the MEC application server. The first line of the callback is a timestamp; everything else follows from it.</a:t>
            </a:r>
            <a:endParaRPr lang="en-US" sz="1300" dirty="0"/>
          </a:p>
        </p:txBody>
      </p:sp>
      <p:sp>
        <p:nvSpPr>
          <p:cNvPr id="4" name="Shape 2"/>
          <p:cNvSpPr/>
          <p:nvPr/>
        </p:nvSpPr>
        <p:spPr>
          <a:xfrm>
            <a:off x="502920" y="1600200"/>
            <a:ext cx="2606040" cy="1143000"/>
          </a:xfrm>
          <a:prstGeom prst="rect">
            <a:avLst/>
          </a:prstGeom>
          <a:solidFill>
            <a:srgbClr val="F1F2F3"/>
          </a:solidFill>
          <a:ln w="12700">
            <a:solidFill>
              <a:srgbClr val="B9BDC0"/>
            </a:solidFill>
            <a:prstDash val="solid"/>
          </a:ln>
        </p:spPr>
      </p:sp>
      <p:sp>
        <p:nvSpPr>
          <p:cNvPr id="5" name="Text 3"/>
          <p:cNvSpPr/>
          <p:nvPr/>
        </p:nvSpPr>
        <p:spPr>
          <a:xfrm>
            <a:off x="61264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recv_ns</a:t>
            </a:r>
            <a:endParaRPr lang="en-US" sz="1300" dirty="0"/>
          </a:p>
        </p:txBody>
      </p:sp>
      <p:sp>
        <p:nvSpPr>
          <p:cNvPr id="6" name="Text 4"/>
          <p:cNvSpPr/>
          <p:nvPr/>
        </p:nvSpPr>
        <p:spPr>
          <a:xfrm>
            <a:off x="61264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stamped on arrival</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before any work</a:t>
            </a:r>
            <a:endParaRPr lang="en-US" sz="1050" dirty="0"/>
          </a:p>
        </p:txBody>
      </p:sp>
      <p:sp>
        <p:nvSpPr>
          <p:cNvPr id="7" name="Shape 5"/>
          <p:cNvSpPr/>
          <p:nvPr/>
        </p:nvSpPr>
        <p:spPr>
          <a:xfrm>
            <a:off x="3566160" y="1600200"/>
            <a:ext cx="2606040" cy="1143000"/>
          </a:xfrm>
          <a:prstGeom prst="rect">
            <a:avLst/>
          </a:prstGeom>
          <a:solidFill>
            <a:srgbClr val="F1F2F3"/>
          </a:solidFill>
          <a:ln w="12700">
            <a:solidFill>
              <a:srgbClr val="B9BDC0"/>
            </a:solidFill>
            <a:prstDash val="solid"/>
          </a:ln>
        </p:spPr>
      </p:sp>
      <p:sp>
        <p:nvSpPr>
          <p:cNvPr id="8" name="Text 6"/>
          <p:cNvSpPr/>
          <p:nvPr/>
        </p:nvSpPr>
        <p:spPr>
          <a:xfrm>
            <a:off x="367588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process</a:t>
            </a:r>
            <a:endParaRPr lang="en-US" sz="1300" dirty="0"/>
          </a:p>
        </p:txBody>
      </p:sp>
      <p:sp>
        <p:nvSpPr>
          <p:cNvPr id="9" name="Text 7"/>
          <p:cNvSpPr/>
          <p:nvPr/>
        </p:nvSpPr>
        <p:spPr>
          <a:xfrm>
            <a:off x="367588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centroid + voxel count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deterministic</a:t>
            </a:r>
            <a:endParaRPr lang="en-US" sz="1050" dirty="0"/>
          </a:p>
        </p:txBody>
      </p:sp>
      <p:sp>
        <p:nvSpPr>
          <p:cNvPr id="10" name="Shape 8"/>
          <p:cNvSpPr/>
          <p:nvPr/>
        </p:nvSpPr>
        <p:spPr>
          <a:xfrm>
            <a:off x="6629400" y="1600200"/>
            <a:ext cx="2606040" cy="1143000"/>
          </a:xfrm>
          <a:prstGeom prst="rect">
            <a:avLst/>
          </a:prstGeom>
          <a:solidFill>
            <a:srgbClr val="F1F2F3"/>
          </a:solidFill>
          <a:ln w="12700">
            <a:solidFill>
              <a:srgbClr val="B9BDC0"/>
            </a:solidFill>
            <a:prstDash val="solid"/>
          </a:ln>
        </p:spPr>
      </p:sp>
      <p:sp>
        <p:nvSpPr>
          <p:cNvPr id="11" name="Text 9"/>
          <p:cNvSpPr/>
          <p:nvPr/>
        </p:nvSpPr>
        <p:spPr>
          <a:xfrm>
            <a:off x="673912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process_done_ns</a:t>
            </a:r>
            <a:endParaRPr lang="en-US" sz="1300" dirty="0"/>
          </a:p>
        </p:txBody>
      </p:sp>
      <p:sp>
        <p:nvSpPr>
          <p:cNvPr id="12" name="Text 10"/>
          <p:cNvSpPr/>
          <p:nvPr/>
        </p:nvSpPr>
        <p:spPr>
          <a:xfrm>
            <a:off x="673912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stamped after work</a:t>
            </a:r>
            <a:endParaRPr lang="en-US" sz="1050" dirty="0"/>
          </a:p>
        </p:txBody>
      </p:sp>
      <p:sp>
        <p:nvSpPr>
          <p:cNvPr id="13" name="Shape 11"/>
          <p:cNvSpPr/>
          <p:nvPr/>
        </p:nvSpPr>
        <p:spPr>
          <a:xfrm>
            <a:off x="9692640" y="1600200"/>
            <a:ext cx="1993392" cy="1143000"/>
          </a:xfrm>
          <a:prstGeom prst="rect">
            <a:avLst/>
          </a:prstGeom>
          <a:solidFill>
            <a:srgbClr val="F1F2F3"/>
          </a:solidFill>
          <a:ln w="12700">
            <a:solidFill>
              <a:srgbClr val="B9BDC0"/>
            </a:solidFill>
            <a:prstDash val="solid"/>
          </a:ln>
        </p:spPr>
      </p:sp>
      <p:sp>
        <p:nvSpPr>
          <p:cNvPr id="14" name="Text 12"/>
          <p:cNvSpPr/>
          <p:nvPr/>
        </p:nvSpPr>
        <p:spPr>
          <a:xfrm>
            <a:off x="9802368" y="1691640"/>
            <a:ext cx="177393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record</a:t>
            </a:r>
            <a:endParaRPr lang="en-US" sz="1300" dirty="0"/>
          </a:p>
        </p:txBody>
      </p:sp>
      <p:sp>
        <p:nvSpPr>
          <p:cNvPr id="15" name="Text 13"/>
          <p:cNvSpPr/>
          <p:nvPr/>
        </p:nvSpPr>
        <p:spPr>
          <a:xfrm>
            <a:off x="9802368" y="1984248"/>
            <a:ext cx="1773936"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CSV + snapshot</a:t>
            </a:r>
            <a:endParaRPr lang="en-US" sz="1050" dirty="0"/>
          </a:p>
        </p:txBody>
      </p:sp>
      <p:sp>
        <p:nvSpPr>
          <p:cNvPr id="16" name="Shape 14"/>
          <p:cNvSpPr/>
          <p:nvPr/>
        </p:nvSpPr>
        <p:spPr>
          <a:xfrm>
            <a:off x="3163824" y="2171700"/>
            <a:ext cx="347472" cy="0"/>
          </a:xfrm>
          <a:prstGeom prst="line">
            <a:avLst/>
          </a:prstGeom>
          <a:noFill/>
          <a:ln w="15875">
            <a:solidFill>
              <a:srgbClr val="444C52"/>
            </a:solidFill>
            <a:prstDash val="solid"/>
            <a:tailEnd type="triangle"/>
          </a:ln>
        </p:spPr>
      </p:sp>
      <p:sp>
        <p:nvSpPr>
          <p:cNvPr id="17" name="Shape 15"/>
          <p:cNvSpPr/>
          <p:nvPr/>
        </p:nvSpPr>
        <p:spPr>
          <a:xfrm>
            <a:off x="6227064" y="2171700"/>
            <a:ext cx="347472" cy="0"/>
          </a:xfrm>
          <a:prstGeom prst="line">
            <a:avLst/>
          </a:prstGeom>
          <a:noFill/>
          <a:ln w="15875">
            <a:solidFill>
              <a:srgbClr val="444C52"/>
            </a:solidFill>
            <a:prstDash val="solid"/>
            <a:tailEnd type="triangle"/>
          </a:ln>
        </p:spPr>
      </p:sp>
      <p:sp>
        <p:nvSpPr>
          <p:cNvPr id="18" name="Shape 16"/>
          <p:cNvSpPr/>
          <p:nvPr/>
        </p:nvSpPr>
        <p:spPr>
          <a:xfrm>
            <a:off x="9290304" y="2171700"/>
            <a:ext cx="347472" cy="0"/>
          </a:xfrm>
          <a:prstGeom prst="line">
            <a:avLst/>
          </a:prstGeom>
          <a:noFill/>
          <a:ln w="15875">
            <a:solidFill>
              <a:srgbClr val="444C52"/>
            </a:solidFill>
            <a:prstDash val="solid"/>
            <a:tailEnd type="triangle"/>
          </a:ln>
        </p:spPr>
      </p:sp>
      <p:sp>
        <p:nvSpPr>
          <p:cNvPr id="19" name="Shape 17"/>
          <p:cNvSpPr/>
          <p:nvPr/>
        </p:nvSpPr>
        <p:spPr>
          <a:xfrm>
            <a:off x="502920" y="2880360"/>
            <a:ext cx="5394960" cy="182880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Derived per sample</a:t>
            </a:r>
            <a:endParaRPr lang="en-US" sz="1300" dirty="0"/>
          </a:p>
        </p:txBody>
      </p:sp>
      <p:sp>
        <p:nvSpPr>
          <p:cNvPr id="21" name="Text 19"/>
          <p:cNvSpPr/>
          <p:nvPr/>
        </p:nvSpPr>
        <p:spPr>
          <a:xfrm>
            <a:off x="612648" y="3264408"/>
            <a:ext cx="5175504" cy="13533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network      = recv_ns − send_ns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e2e          = process_done_ns − capture_ns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processing   = process_done_ns − recv_ns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sender       = send_ns − capture_ns</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Statistics: Welford mean and stddev, exact windowed percentiles.</a:t>
            </a:r>
            <a:endParaRPr lang="en-US" sz="1100" dirty="0"/>
          </a:p>
        </p:txBody>
      </p:sp>
      <p:sp>
        <p:nvSpPr>
          <p:cNvPr id="22" name="Text 20"/>
          <p:cNvSpPr/>
          <p:nvPr/>
        </p:nvSpPr>
        <p:spPr>
          <a:xfrm>
            <a:off x="6355080" y="2880360"/>
            <a:ext cx="5330952" cy="18288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hot path never blocks: samples go into a bounded lock-free ring, and a writer thread drains it.</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 full ring drops the sample and counts it — dropping is always preferable to perturbing the measurement.</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 separate uploader thread posts snapshots, so a stalled logging service cannot stall CSV writing.</a:t>
            </a:r>
            <a:endParaRPr lang="en-US" sz="1150" dirty="0"/>
          </a:p>
        </p:txBody>
      </p:sp>
      <p:sp>
        <p:nvSpPr>
          <p:cNvPr id="23" name="Text 21"/>
          <p:cNvSpPr/>
          <p:nvPr/>
        </p:nvSpPr>
        <p:spPr>
          <a:xfrm>
            <a:off x="502920" y="498348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Percentiles are exact over a sliding window, computed by sorting a copy off the hot path — not a streaming estimator. P² was rejected because its error is unbounded on multimodal distributions, and 5G latency under HARQ retransmission is exactly that.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Zenoh communication layer</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rmw_zenoh rather than raw DDS. The application stays vanilla ROS2; only the middleware swaps.</a:t>
            </a:r>
            <a:endParaRPr lang="en-US" sz="1300" dirty="0"/>
          </a:p>
        </p:txBody>
      </p:sp>
      <p:sp>
        <p:nvSpPr>
          <p:cNvPr id="4" name="Shape 2"/>
          <p:cNvSpPr/>
          <p:nvPr/>
        </p:nvSpPr>
        <p:spPr>
          <a:xfrm>
            <a:off x="502920" y="1600200"/>
            <a:ext cx="3108960" cy="1097280"/>
          </a:xfrm>
          <a:prstGeom prst="rect">
            <a:avLst/>
          </a:prstGeom>
          <a:solidFill>
            <a:srgbClr val="F1F2F3"/>
          </a:solidFill>
          <a:ln w="12700">
            <a:solidFill>
              <a:srgbClr val="B9BDC0"/>
            </a:solidFill>
            <a:prstDash val="solid"/>
          </a:ln>
        </p:spPr>
      </p:sp>
      <p:sp>
        <p:nvSpPr>
          <p:cNvPr id="5" name="Text 3"/>
          <p:cNvSpPr/>
          <p:nvPr/>
        </p:nvSpPr>
        <p:spPr>
          <a:xfrm>
            <a:off x="612648" y="1691640"/>
            <a:ext cx="2889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 session</a:t>
            </a:r>
            <a:endParaRPr lang="en-US" sz="1300" dirty="0"/>
          </a:p>
        </p:txBody>
      </p:sp>
      <p:sp>
        <p:nvSpPr>
          <p:cNvPr id="6" name="Text 4"/>
          <p:cNvSpPr/>
          <p:nvPr/>
        </p:nvSpPr>
        <p:spPr>
          <a:xfrm>
            <a:off x="612648" y="1984248"/>
            <a:ext cx="2889504"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dials out to the router</a:t>
            </a:r>
            <a:endParaRPr lang="en-US" sz="1050" dirty="0"/>
          </a:p>
        </p:txBody>
      </p:sp>
      <p:sp>
        <p:nvSpPr>
          <p:cNvPr id="7" name="Shape 5"/>
          <p:cNvSpPr/>
          <p:nvPr/>
        </p:nvSpPr>
        <p:spPr>
          <a:xfrm>
            <a:off x="4069080" y="1600200"/>
            <a:ext cx="3931920" cy="1097280"/>
          </a:xfrm>
          <a:prstGeom prst="rect">
            <a:avLst/>
          </a:prstGeom>
          <a:solidFill>
            <a:srgbClr val="F1F2F3"/>
          </a:solidFill>
          <a:ln w="12700">
            <a:solidFill>
              <a:srgbClr val="B9BDC0"/>
            </a:solidFill>
            <a:prstDash val="solid"/>
          </a:ln>
        </p:spPr>
      </p:sp>
      <p:sp>
        <p:nvSpPr>
          <p:cNvPr id="8" name="Text 6"/>
          <p:cNvSpPr/>
          <p:nvPr/>
        </p:nvSpPr>
        <p:spPr>
          <a:xfrm>
            <a:off x="4178808" y="1691640"/>
            <a:ext cx="371246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 router (edge host)</a:t>
            </a:r>
            <a:endParaRPr lang="en-US" sz="1300" dirty="0"/>
          </a:p>
        </p:txBody>
      </p:sp>
      <p:sp>
        <p:nvSpPr>
          <p:cNvPr id="9" name="Text 7"/>
          <p:cNvSpPr/>
          <p:nvPr/>
        </p:nvSpPr>
        <p:spPr>
          <a:xfrm>
            <a:off x="4178808" y="1984248"/>
            <a:ext cx="3712464"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unicast rendezvous — no multicast anywhere</a:t>
            </a:r>
            <a:endParaRPr lang="en-US" sz="1050" dirty="0"/>
          </a:p>
        </p:txBody>
      </p:sp>
      <p:sp>
        <p:nvSpPr>
          <p:cNvPr id="10" name="Shape 8"/>
          <p:cNvSpPr/>
          <p:nvPr/>
        </p:nvSpPr>
        <p:spPr>
          <a:xfrm>
            <a:off x="8458200" y="1600200"/>
            <a:ext cx="3227832" cy="1097280"/>
          </a:xfrm>
          <a:prstGeom prst="rect">
            <a:avLst/>
          </a:prstGeom>
          <a:solidFill>
            <a:srgbClr val="F1F2F3"/>
          </a:solidFill>
          <a:ln w="12700">
            <a:solidFill>
              <a:srgbClr val="B9BDC0"/>
            </a:solidFill>
            <a:prstDash val="solid"/>
          </a:ln>
        </p:spPr>
      </p:sp>
      <p:sp>
        <p:nvSpPr>
          <p:cNvPr id="11" name="Text 9"/>
          <p:cNvSpPr/>
          <p:nvPr/>
        </p:nvSpPr>
        <p:spPr>
          <a:xfrm>
            <a:off x="8567928" y="1691640"/>
            <a:ext cx="300837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 session</a:t>
            </a:r>
            <a:endParaRPr lang="en-US" sz="1300" dirty="0"/>
          </a:p>
        </p:txBody>
      </p:sp>
      <p:sp>
        <p:nvSpPr>
          <p:cNvPr id="12" name="Text 10"/>
          <p:cNvSpPr/>
          <p:nvPr/>
        </p:nvSpPr>
        <p:spPr>
          <a:xfrm>
            <a:off x="8567928" y="1984248"/>
            <a:ext cx="3008376"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subscribes via the router</a:t>
            </a:r>
            <a:endParaRPr lang="en-US" sz="1050" dirty="0"/>
          </a:p>
        </p:txBody>
      </p:sp>
      <p:sp>
        <p:nvSpPr>
          <p:cNvPr id="13" name="Shape 11"/>
          <p:cNvSpPr/>
          <p:nvPr/>
        </p:nvSpPr>
        <p:spPr>
          <a:xfrm>
            <a:off x="3666744" y="2148840"/>
            <a:ext cx="347472" cy="0"/>
          </a:xfrm>
          <a:prstGeom prst="line">
            <a:avLst/>
          </a:prstGeom>
          <a:noFill/>
          <a:ln w="15875">
            <a:solidFill>
              <a:srgbClr val="444C52"/>
            </a:solidFill>
            <a:prstDash val="solid"/>
            <a:tailEnd type="triangle"/>
          </a:ln>
        </p:spPr>
      </p:sp>
      <p:sp>
        <p:nvSpPr>
          <p:cNvPr id="14" name="Shape 12"/>
          <p:cNvSpPr/>
          <p:nvPr/>
        </p:nvSpPr>
        <p:spPr>
          <a:xfrm>
            <a:off x="8055864" y="2148840"/>
            <a:ext cx="347472" cy="0"/>
          </a:xfrm>
          <a:prstGeom prst="line">
            <a:avLst/>
          </a:prstGeom>
          <a:noFill/>
          <a:ln w="15875">
            <a:solidFill>
              <a:srgbClr val="444C52"/>
            </a:solidFill>
            <a:prstDash val="solid"/>
            <a:tailEnd type="triangle"/>
          </a:ln>
        </p:spPr>
      </p:sp>
      <p:sp>
        <p:nvSpPr>
          <p:cNvPr id="15" name="Shape 13"/>
          <p:cNvSpPr/>
          <p:nvPr/>
        </p:nvSpPr>
        <p:spPr>
          <a:xfrm>
            <a:off x="502920" y="2926080"/>
            <a:ext cx="3566160" cy="2148840"/>
          </a:xfrm>
          <a:prstGeom prst="rect">
            <a:avLst/>
          </a:prstGeom>
          <a:solidFill>
            <a:srgbClr val="F1F2F3"/>
          </a:solidFill>
          <a:ln w="12700">
            <a:solidFill>
              <a:srgbClr val="B9BDC0"/>
            </a:solidFill>
            <a:prstDash val="solid"/>
          </a:ln>
        </p:spPr>
      </p:sp>
      <p:sp>
        <p:nvSpPr>
          <p:cNvPr id="16" name="Text 14"/>
          <p:cNvSpPr/>
          <p:nvPr/>
        </p:nvSpPr>
        <p:spPr>
          <a:xfrm>
            <a:off x="612648" y="3017520"/>
            <a:ext cx="33467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Concern on a 5G link</a:t>
            </a:r>
            <a:endParaRPr lang="en-US" sz="1300" dirty="0"/>
          </a:p>
        </p:txBody>
      </p:sp>
      <p:sp>
        <p:nvSpPr>
          <p:cNvPr id="17" name="Text 15"/>
          <p:cNvSpPr/>
          <p:nvPr/>
        </p:nvSpPr>
        <p:spPr>
          <a:xfrm>
            <a:off x="612648" y="3310128"/>
            <a:ext cx="3346704" cy="1673352"/>
          </a:xfrm>
          <a:prstGeom prst="rect">
            <a:avLst/>
          </a:prstGeom>
          <a:noFill/>
          <a:ln/>
        </p:spPr>
        <p:txBody>
          <a:bodyPr wrap="square" lIns="0" tIns="0" rIns="0" bIns="0" rtlCol="0" anchor="t"/>
          <a:lstStyle/>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Discovery across NAT / UPF</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Data-path NAT traversal</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Large samples (~2 MB)</a:t>
            </a:r>
            <a:endParaRPr lang="en-US" sz="1100" dirty="0"/>
          </a:p>
        </p:txBody>
      </p:sp>
      <p:sp>
        <p:nvSpPr>
          <p:cNvPr id="18" name="Shape 16"/>
          <p:cNvSpPr/>
          <p:nvPr/>
        </p:nvSpPr>
        <p:spPr>
          <a:xfrm>
            <a:off x="4297680" y="2926080"/>
            <a:ext cx="3566160" cy="2148840"/>
          </a:xfrm>
          <a:prstGeom prst="rect">
            <a:avLst/>
          </a:prstGeom>
          <a:solidFill>
            <a:srgbClr val="F1F2F3"/>
          </a:solidFill>
          <a:ln w="12700">
            <a:solidFill>
              <a:srgbClr val="B9BDC0"/>
            </a:solidFill>
            <a:prstDash val="solid"/>
          </a:ln>
        </p:spPr>
      </p:sp>
      <p:sp>
        <p:nvSpPr>
          <p:cNvPr id="19" name="Text 17"/>
          <p:cNvSpPr/>
          <p:nvPr/>
        </p:nvSpPr>
        <p:spPr>
          <a:xfrm>
            <a:off x="4407408" y="3017520"/>
            <a:ext cx="33467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DDS</a:t>
            </a:r>
            <a:endParaRPr lang="en-US" sz="1300" dirty="0"/>
          </a:p>
        </p:txBody>
      </p:sp>
      <p:sp>
        <p:nvSpPr>
          <p:cNvPr id="20" name="Text 18"/>
          <p:cNvSpPr/>
          <p:nvPr/>
        </p:nvSpPr>
        <p:spPr>
          <a:xfrm>
            <a:off x="4407408" y="3310128"/>
            <a:ext cx="3346704" cy="1673352"/>
          </a:xfrm>
          <a:prstGeom prst="rect">
            <a:avLst/>
          </a:prstGeom>
          <a:noFill/>
          <a:ln/>
        </p:spPr>
        <p:txBody>
          <a:bodyPr wrap="square" lIns="0" tIns="0" rIns="0" bIns="0" rtlCol="0" anchor="t"/>
          <a:lstStyle/>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SPDP is multicast — the cellular user plane drops it</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announces private-IP locators the peer cannot reach</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RTPS fragments; one lost fragment loses the sample</a:t>
            </a:r>
            <a:endParaRPr lang="en-US" sz="1050" dirty="0"/>
          </a:p>
        </p:txBody>
      </p:sp>
      <p:sp>
        <p:nvSpPr>
          <p:cNvPr id="21" name="Shape 19"/>
          <p:cNvSpPr/>
          <p:nvPr/>
        </p:nvSpPr>
        <p:spPr>
          <a:xfrm>
            <a:off x="8092440" y="2926080"/>
            <a:ext cx="3593592" cy="2148840"/>
          </a:xfrm>
          <a:prstGeom prst="rect">
            <a:avLst/>
          </a:prstGeom>
          <a:solidFill>
            <a:srgbClr val="F1F2F3"/>
          </a:solidFill>
          <a:ln w="12700">
            <a:solidFill>
              <a:srgbClr val="B9BDC0"/>
            </a:solidFill>
            <a:prstDash val="solid"/>
          </a:ln>
        </p:spPr>
      </p:sp>
      <p:sp>
        <p:nvSpPr>
          <p:cNvPr id="22" name="Text 20"/>
          <p:cNvSpPr/>
          <p:nvPr/>
        </p:nvSpPr>
        <p:spPr>
          <a:xfrm>
            <a:off x="8202168" y="3017520"/>
            <a:ext cx="337413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a:t>
            </a:r>
            <a:endParaRPr lang="en-US" sz="1300" dirty="0"/>
          </a:p>
        </p:txBody>
      </p:sp>
      <p:sp>
        <p:nvSpPr>
          <p:cNvPr id="23" name="Text 21"/>
          <p:cNvSpPr/>
          <p:nvPr/>
        </p:nvSpPr>
        <p:spPr>
          <a:xfrm>
            <a:off x="8202168" y="3310128"/>
            <a:ext cx="3374136" cy="1673352"/>
          </a:xfrm>
          <a:prstGeom prst="rect">
            <a:avLst/>
          </a:prstGeom>
          <a:noFill/>
          <a:ln/>
        </p:spPr>
        <p:txBody>
          <a:bodyPr wrap="square" lIns="0" tIns="0" rIns="0" bIns="0" rtlCol="0" anchor="t"/>
          <a:lstStyle/>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router-based unicast dial-out, traverses NAT natively</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UE dials out — an outbound connection just works</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built for large payloads over lossy links; TCP / QUIC</a:t>
            </a:r>
            <a:endParaRPr lang="en-US" sz="1050" dirty="0"/>
          </a:p>
        </p:txBody>
      </p:sp>
      <p:sp>
        <p:nvSpPr>
          <p:cNvPr id="24" name="Text 22"/>
          <p:cNvSpPr/>
          <p:nvPr/>
        </p:nvSpPr>
        <p:spPr>
          <a:xfrm>
            <a:off x="502920" y="5257800"/>
            <a:ext cx="11183112" cy="109728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DDS is the more popular and more mature industrial standard — but that popularity is measured on local networks, and this path is NAT'd, lossy and uplink-constrained. Because the edge subscriber depends only on the telemetry crate, "Zenoh versus DDS over 5G" remains a measurable result rather than a closed door.</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Profile B — WebRTC, current model</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The platform's second transport profile: real-time media over WebRTC, measured with the same telemetry spine.</a:t>
            </a:r>
            <a:endParaRPr lang="en-US" sz="1300" dirty="0"/>
          </a:p>
        </p:txBody>
      </p:sp>
      <p:sp>
        <p:nvSpPr>
          <p:cNvPr id="4" name="Shape 2"/>
          <p:cNvSpPr/>
          <p:nvPr/>
        </p:nvSpPr>
        <p:spPr>
          <a:xfrm>
            <a:off x="502920" y="1600200"/>
            <a:ext cx="3429000" cy="1188720"/>
          </a:xfrm>
          <a:prstGeom prst="rect">
            <a:avLst/>
          </a:prstGeom>
          <a:solidFill>
            <a:srgbClr val="F1F2F3"/>
          </a:solidFill>
          <a:ln w="12700">
            <a:solidFill>
              <a:srgbClr val="B9BDC0"/>
            </a:solidFill>
            <a:prstDash val="solid"/>
          </a:ln>
        </p:spPr>
      </p:sp>
      <p:sp>
        <p:nvSpPr>
          <p:cNvPr id="5" name="Text 3"/>
          <p:cNvSpPr/>
          <p:nvPr/>
        </p:nvSpPr>
        <p:spPr>
          <a:xfrm>
            <a:off x="6126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Native client</a:t>
            </a:r>
            <a:endParaRPr lang="en-US" sz="1300" dirty="0"/>
          </a:p>
        </p:txBody>
      </p:sp>
      <p:sp>
        <p:nvSpPr>
          <p:cNvPr id="6" name="Text 4"/>
          <p:cNvSpPr/>
          <p:nvPr/>
        </p:nvSpPr>
        <p:spPr>
          <a:xfrm>
            <a:off x="612648" y="1984248"/>
            <a:ext cx="320954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Node.js console app</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 N-API addon</a:t>
            </a:r>
            <a:endParaRPr lang="en-US" sz="1050" dirty="0"/>
          </a:p>
        </p:txBody>
      </p:sp>
      <p:sp>
        <p:nvSpPr>
          <p:cNvPr id="7" name="Shape 5"/>
          <p:cNvSpPr/>
          <p:nvPr/>
        </p:nvSpPr>
        <p:spPr>
          <a:xfrm>
            <a:off x="4389120" y="1600200"/>
            <a:ext cx="3429000" cy="1188720"/>
          </a:xfrm>
          <a:prstGeom prst="rect">
            <a:avLst/>
          </a:prstGeom>
          <a:solidFill>
            <a:srgbClr val="F1F2F3"/>
          </a:solidFill>
          <a:ln w="12700">
            <a:solidFill>
              <a:srgbClr val="B9BDC0"/>
            </a:solidFill>
            <a:prstDash val="solid"/>
          </a:ln>
        </p:spPr>
      </p:sp>
      <p:sp>
        <p:nvSpPr>
          <p:cNvPr id="8" name="Text 6"/>
          <p:cNvSpPr/>
          <p:nvPr/>
        </p:nvSpPr>
        <p:spPr>
          <a:xfrm>
            <a:off x="44988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Signaling server</a:t>
            </a:r>
            <a:endParaRPr lang="en-US" sz="1300" dirty="0"/>
          </a:p>
        </p:txBody>
      </p:sp>
      <p:sp>
        <p:nvSpPr>
          <p:cNvPr id="9" name="Text 7"/>
          <p:cNvSpPr/>
          <p:nvPr/>
        </p:nvSpPr>
        <p:spPr>
          <a:xfrm>
            <a:off x="4498848" y="1984248"/>
            <a:ext cx="320954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WebSocket, JSON</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offer / answer / ICE</a:t>
            </a:r>
            <a:endParaRPr lang="en-US" sz="1050" dirty="0"/>
          </a:p>
        </p:txBody>
      </p:sp>
      <p:sp>
        <p:nvSpPr>
          <p:cNvPr id="10" name="Shape 8"/>
          <p:cNvSpPr/>
          <p:nvPr/>
        </p:nvSpPr>
        <p:spPr>
          <a:xfrm>
            <a:off x="8275320" y="1600200"/>
            <a:ext cx="3410712" cy="1188720"/>
          </a:xfrm>
          <a:prstGeom prst="rect">
            <a:avLst/>
          </a:prstGeom>
          <a:solidFill>
            <a:srgbClr val="F1F2F3"/>
          </a:solidFill>
          <a:ln w="12700">
            <a:solidFill>
              <a:srgbClr val="B9BDC0"/>
            </a:solidFill>
            <a:prstDash val="solid"/>
          </a:ln>
        </p:spPr>
      </p:sp>
      <p:sp>
        <p:nvSpPr>
          <p:cNvPr id="11" name="Text 9"/>
          <p:cNvSpPr/>
          <p:nvPr/>
        </p:nvSpPr>
        <p:spPr>
          <a:xfrm>
            <a:off x="8385048" y="1691640"/>
            <a:ext cx="319125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Peer client</a:t>
            </a:r>
            <a:endParaRPr lang="en-US" sz="1300" dirty="0"/>
          </a:p>
        </p:txBody>
      </p:sp>
      <p:sp>
        <p:nvSpPr>
          <p:cNvPr id="12" name="Text 10"/>
          <p:cNvSpPr/>
          <p:nvPr/>
        </p:nvSpPr>
        <p:spPr>
          <a:xfrm>
            <a:off x="8385048" y="1984248"/>
            <a:ext cx="319125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P2P after ICE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renders + measures</a:t>
            </a:r>
            <a:endParaRPr lang="en-US" sz="1050" dirty="0"/>
          </a:p>
        </p:txBody>
      </p:sp>
      <p:sp>
        <p:nvSpPr>
          <p:cNvPr id="13" name="Shape 11"/>
          <p:cNvSpPr/>
          <p:nvPr/>
        </p:nvSpPr>
        <p:spPr>
          <a:xfrm>
            <a:off x="3986784" y="2194560"/>
            <a:ext cx="347472" cy="0"/>
          </a:xfrm>
          <a:prstGeom prst="line">
            <a:avLst/>
          </a:prstGeom>
          <a:noFill/>
          <a:ln w="15875">
            <a:solidFill>
              <a:srgbClr val="444C52"/>
            </a:solidFill>
            <a:prstDash val="solid"/>
            <a:tailEnd type="triangle"/>
          </a:ln>
        </p:spPr>
      </p:sp>
      <p:sp>
        <p:nvSpPr>
          <p:cNvPr id="14" name="Shape 12"/>
          <p:cNvSpPr/>
          <p:nvPr/>
        </p:nvSpPr>
        <p:spPr>
          <a:xfrm>
            <a:off x="7872984" y="2194560"/>
            <a:ext cx="347472" cy="0"/>
          </a:xfrm>
          <a:prstGeom prst="line">
            <a:avLst/>
          </a:prstGeom>
          <a:noFill/>
          <a:ln w="15875">
            <a:solidFill>
              <a:srgbClr val="444C52"/>
            </a:solidFill>
            <a:prstDash val="solid"/>
            <a:tailEnd type="triangle"/>
          </a:ln>
        </p:spPr>
      </p:sp>
      <p:sp>
        <p:nvSpPr>
          <p:cNvPr id="15" name="Shape 13"/>
          <p:cNvSpPr/>
          <p:nvPr/>
        </p:nvSpPr>
        <p:spPr>
          <a:xfrm>
            <a:off x="502920" y="2999232"/>
            <a:ext cx="5394960" cy="1783080"/>
          </a:xfrm>
          <a:prstGeom prst="rect">
            <a:avLst/>
          </a:prstGeom>
          <a:solidFill>
            <a:srgbClr val="F1F2F3"/>
          </a:solidFill>
          <a:ln w="12700">
            <a:solidFill>
              <a:srgbClr val="B9BDC0"/>
            </a:solidFill>
            <a:prstDash val="solid"/>
          </a:ln>
        </p:spPr>
      </p:sp>
      <p:sp>
        <p:nvSpPr>
          <p:cNvPr id="16" name="Text 14"/>
          <p:cNvSpPr/>
          <p:nvPr/>
        </p:nvSpPr>
        <p:spPr>
          <a:xfrm>
            <a:off x="612648" y="3090672"/>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How the timing gets across</a:t>
            </a:r>
            <a:endParaRPr lang="en-US" sz="1300" dirty="0"/>
          </a:p>
        </p:txBody>
      </p:sp>
      <p:sp>
        <p:nvSpPr>
          <p:cNvPr id="17" name="Text 15"/>
          <p:cNvSpPr/>
          <p:nvPr/>
        </p:nvSpPr>
        <p:spPr>
          <a:xfrm>
            <a:off x="612648" y="3383280"/>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patched libwebrtc fork adds a custom 16-byte RTP header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extension carrying capture_ns and send_ns, and forces every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frame to be a timing frame — upstream only samples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periodically, which is useless per-frame.</a:t>
            </a:r>
            <a:endParaRPr lang="en-US" sz="1100" dirty="0"/>
          </a:p>
        </p:txBody>
      </p:sp>
      <p:sp>
        <p:nvSpPr>
          <p:cNvPr id="18" name="Shape 16"/>
          <p:cNvSpPr/>
          <p:nvPr/>
        </p:nvSpPr>
        <p:spPr>
          <a:xfrm>
            <a:off x="6291072" y="2999232"/>
            <a:ext cx="5394960" cy="1783080"/>
          </a:xfrm>
          <a:prstGeom prst="rect">
            <a:avLst/>
          </a:prstGeom>
          <a:solidFill>
            <a:srgbClr val="F1F2F3"/>
          </a:solidFill>
          <a:ln w="12700">
            <a:solidFill>
              <a:srgbClr val="B9BDC0"/>
            </a:solidFill>
            <a:prstDash val="solid"/>
          </a:ln>
        </p:spPr>
      </p:sp>
      <p:sp>
        <p:nvSpPr>
          <p:cNvPr id="19" name="Text 17"/>
          <p:cNvSpPr/>
          <p:nvPr/>
        </p:nvSpPr>
        <p:spPr>
          <a:xfrm>
            <a:off x="6400800" y="3090672"/>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Attached to the shared spine</a:t>
            </a:r>
            <a:endParaRPr lang="en-US" sz="1300" dirty="0"/>
          </a:p>
        </p:txBody>
      </p:sp>
      <p:sp>
        <p:nvSpPr>
          <p:cNvPr id="20" name="Text 18"/>
          <p:cNvSpPr/>
          <p:nvPr/>
        </p:nvSpPr>
        <p:spPr>
          <a:xfrm>
            <a:off x="6400800" y="3383280"/>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The addon links the telemetry crate over a C ABI and records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one sample per rendered frame, so media runs land in the same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CSV schema and the same database as the point-cloud profile.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One RUN_ID joins both.</a:t>
            </a:r>
            <a:endParaRPr lang="en-US" sz="1100" dirty="0"/>
          </a:p>
        </p:txBody>
      </p:sp>
      <p:sp>
        <p:nvSpPr>
          <p:cNvPr id="21" name="Text 19"/>
          <p:cNvSpPr/>
          <p:nvPr/>
        </p:nvSpPr>
        <p:spPr>
          <a:xfrm>
            <a:off x="502920" y="498348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The cost of this approach: the fork is a ~20 GB source tree that takes hours to build, and the measurement points are only as good as the places the patch can reach. Encode duration, for example, arrives quantised to whole milliseconds in a system that otherwise measures in nanoseconds.</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Profile B — planned: str0m with an SFU</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Replacing the patched fork with a sans-IO library, so precise timestamps fall out of the architecture instead of a patch.</a:t>
            </a:r>
            <a:endParaRPr lang="en-US" sz="1300" dirty="0"/>
          </a:p>
        </p:txBody>
      </p:sp>
      <p:sp>
        <p:nvSpPr>
          <p:cNvPr id="4" name="Shape 2"/>
          <p:cNvSpPr/>
          <p:nvPr/>
        </p:nvSpPr>
        <p:spPr>
          <a:xfrm>
            <a:off x="502920" y="1600200"/>
            <a:ext cx="3108960" cy="1188720"/>
          </a:xfrm>
          <a:prstGeom prst="rect">
            <a:avLst/>
          </a:prstGeom>
          <a:solidFill>
            <a:srgbClr val="F1F2F3"/>
          </a:solidFill>
          <a:ln w="12700">
            <a:solidFill>
              <a:srgbClr val="B9BDC0"/>
            </a:solidFill>
            <a:prstDash val="solid"/>
          </a:ln>
        </p:spPr>
      </p:sp>
      <p:sp>
        <p:nvSpPr>
          <p:cNvPr id="5" name="Text 3"/>
          <p:cNvSpPr/>
          <p:nvPr/>
        </p:nvSpPr>
        <p:spPr>
          <a:xfrm>
            <a:off x="612648" y="1691640"/>
            <a:ext cx="2889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Publisher</a:t>
            </a:r>
            <a:endParaRPr lang="en-US" sz="1300" dirty="0"/>
          </a:p>
        </p:txBody>
      </p:sp>
      <p:sp>
        <p:nvSpPr>
          <p:cNvPr id="6" name="Text 4"/>
          <p:cNvSpPr/>
          <p:nvPr/>
        </p:nvSpPr>
        <p:spPr>
          <a:xfrm>
            <a:off x="612648" y="1984248"/>
            <a:ext cx="288950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encodes and sends</a:t>
            </a:r>
            <a:endParaRPr lang="en-US" sz="1050" dirty="0"/>
          </a:p>
        </p:txBody>
      </p:sp>
      <p:sp>
        <p:nvSpPr>
          <p:cNvPr id="7" name="Shape 5"/>
          <p:cNvSpPr/>
          <p:nvPr/>
        </p:nvSpPr>
        <p:spPr>
          <a:xfrm>
            <a:off x="4069080" y="1600200"/>
            <a:ext cx="3931920" cy="1188720"/>
          </a:xfrm>
          <a:prstGeom prst="rect">
            <a:avLst/>
          </a:prstGeom>
          <a:solidFill>
            <a:srgbClr val="2B3136"/>
          </a:solidFill>
          <a:ln w="12700">
            <a:solidFill>
              <a:srgbClr val="2B3136"/>
            </a:solidFill>
            <a:prstDash val="solid"/>
          </a:ln>
        </p:spPr>
      </p:sp>
      <p:sp>
        <p:nvSpPr>
          <p:cNvPr id="8" name="Text 6"/>
          <p:cNvSpPr/>
          <p:nvPr/>
        </p:nvSpPr>
        <p:spPr>
          <a:xfrm>
            <a:off x="4178808" y="1691640"/>
            <a:ext cx="3712464"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SFU on the MEC edge</a:t>
            </a:r>
            <a:endParaRPr lang="en-US" sz="1300" dirty="0"/>
          </a:p>
        </p:txBody>
      </p:sp>
      <p:sp>
        <p:nvSpPr>
          <p:cNvPr id="9" name="Text 7"/>
          <p:cNvSpPr/>
          <p:nvPr/>
        </p:nvSpPr>
        <p:spPr>
          <a:xfrm>
            <a:off x="4178808" y="1984248"/>
            <a:ext cx="3712464" cy="713232"/>
          </a:xfrm>
          <a:prstGeom prst="rect">
            <a:avLst/>
          </a:prstGeom>
          <a:noFill/>
          <a:ln/>
        </p:spPr>
        <p:txBody>
          <a:bodyPr wrap="square" lIns="0" tIns="0" rIns="0" bIns="0" rtlCol="0" anchor="t"/>
          <a:lstStyle/>
          <a:p>
            <a:pPr indent="0" marL="0">
              <a:lnSpc>
                <a:spcPct val="108000"/>
              </a:lnSpc>
              <a:buNone/>
            </a:pPr>
            <a:r>
              <a:rPr lang="en-US" sz="1050" dirty="0">
                <a:solidFill>
                  <a:srgbClr val="D5D8DA"/>
                </a:solidFill>
                <a:latin typeface="Calibri" pitchFamily="34" charset="0"/>
                <a:ea typeface="Calibri" pitchFamily="34" charset="-122"/>
                <a:cs typeface="Calibri" pitchFamily="34" charset="-120"/>
              </a:rPr>
              <a:t>str0m state machine, owns its UDP socket</a:t>
            </a:r>
            <a:endParaRPr lang="en-US" sz="1050" dirty="0"/>
          </a:p>
          <a:p>
            <a:pPr indent="0" marL="0">
              <a:lnSpc>
                <a:spcPct val="108000"/>
              </a:lnSpc>
              <a:buNone/>
            </a:pPr>
            <a:r>
              <a:rPr lang="en-US" sz="1050" dirty="0">
                <a:solidFill>
                  <a:srgbClr val="D5D8DA"/>
                </a:solidFill>
                <a:latin typeface="Calibri" pitchFamily="34" charset="0"/>
                <a:ea typeface="Calibri" pitchFamily="34" charset="-122"/>
                <a:cs typeface="Calibri" pitchFamily="34" charset="-120"/>
              </a:rPr>
              <a:t>selective forwarding — one upstream, many down</a:t>
            </a:r>
            <a:endParaRPr lang="en-US" sz="1050" dirty="0"/>
          </a:p>
        </p:txBody>
      </p:sp>
      <p:sp>
        <p:nvSpPr>
          <p:cNvPr id="10" name="Shape 8"/>
          <p:cNvSpPr/>
          <p:nvPr/>
        </p:nvSpPr>
        <p:spPr>
          <a:xfrm>
            <a:off x="8458200" y="1600200"/>
            <a:ext cx="3227832" cy="1188720"/>
          </a:xfrm>
          <a:prstGeom prst="rect">
            <a:avLst/>
          </a:prstGeom>
          <a:solidFill>
            <a:srgbClr val="F1F2F3"/>
          </a:solidFill>
          <a:ln w="12700">
            <a:solidFill>
              <a:srgbClr val="B9BDC0"/>
            </a:solidFill>
            <a:prstDash val="solid"/>
          </a:ln>
        </p:spPr>
      </p:sp>
      <p:sp>
        <p:nvSpPr>
          <p:cNvPr id="11" name="Text 9"/>
          <p:cNvSpPr/>
          <p:nvPr/>
        </p:nvSpPr>
        <p:spPr>
          <a:xfrm>
            <a:off x="8567928" y="1691640"/>
            <a:ext cx="300837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Subscribers</a:t>
            </a:r>
            <a:endParaRPr lang="en-US" sz="1300" dirty="0"/>
          </a:p>
        </p:txBody>
      </p:sp>
      <p:sp>
        <p:nvSpPr>
          <p:cNvPr id="12" name="Text 10"/>
          <p:cNvSpPr/>
          <p:nvPr/>
        </p:nvSpPr>
        <p:spPr>
          <a:xfrm>
            <a:off x="8567928" y="1984248"/>
            <a:ext cx="300837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many receivers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no mesh, no re-encode</a:t>
            </a:r>
            <a:endParaRPr lang="en-US" sz="1050" dirty="0"/>
          </a:p>
        </p:txBody>
      </p:sp>
      <p:sp>
        <p:nvSpPr>
          <p:cNvPr id="13" name="Shape 11"/>
          <p:cNvSpPr/>
          <p:nvPr/>
        </p:nvSpPr>
        <p:spPr>
          <a:xfrm>
            <a:off x="3666744" y="2194560"/>
            <a:ext cx="347472" cy="0"/>
          </a:xfrm>
          <a:prstGeom prst="line">
            <a:avLst/>
          </a:prstGeom>
          <a:noFill/>
          <a:ln w="15875">
            <a:solidFill>
              <a:srgbClr val="444C52"/>
            </a:solidFill>
            <a:prstDash val="solid"/>
            <a:tailEnd type="triangle"/>
          </a:ln>
        </p:spPr>
      </p:sp>
      <p:sp>
        <p:nvSpPr>
          <p:cNvPr id="14" name="Shape 12"/>
          <p:cNvSpPr/>
          <p:nvPr/>
        </p:nvSpPr>
        <p:spPr>
          <a:xfrm>
            <a:off x="8055864" y="2194560"/>
            <a:ext cx="347472" cy="0"/>
          </a:xfrm>
          <a:prstGeom prst="line">
            <a:avLst/>
          </a:prstGeom>
          <a:noFill/>
          <a:ln w="15875">
            <a:solidFill>
              <a:srgbClr val="444C52"/>
            </a:solidFill>
            <a:prstDash val="solid"/>
            <a:tailEnd type="triangle"/>
          </a:ln>
        </p:spPr>
      </p:sp>
      <p:sp>
        <p:nvSpPr>
          <p:cNvPr id="15" name="Text 13"/>
          <p:cNvSpPr/>
          <p:nvPr/>
        </p:nvSpPr>
        <p:spPr>
          <a:xfrm>
            <a:off x="502920" y="2999232"/>
            <a:ext cx="5394960" cy="19202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Sans-IO: the application owns the socket and the event loop.</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send_ns is stamped at the actual socket write, recv_ns at the socket read.</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No forked media stack to maintain, and no 20 GB build.</a:t>
            </a:r>
            <a:endParaRPr lang="en-US" sz="1150" dirty="0"/>
          </a:p>
        </p:txBody>
      </p:sp>
      <p:sp>
        <p:nvSpPr>
          <p:cNvPr id="16" name="Text 14"/>
          <p:cNvSpPr/>
          <p:nvPr/>
        </p:nvSpPr>
        <p:spPr>
          <a:xfrm>
            <a:off x="6291072" y="2999232"/>
            <a:ext cx="5394960" cy="19202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An SFU scales to many viewers — the natural shape for teleoperation and multi-operator monitoring.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Feeds the identical recorder, so media and point-cloud runs stay directly comparable.</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SFU is a MEC server component; the library fork stays vendored separately.</a:t>
            </a:r>
            <a:endParaRPr lang="en-US" sz="1150" dirty="0"/>
          </a:p>
        </p:txBody>
      </p:sp>
      <p:sp>
        <p:nvSpPr>
          <p:cNvPr id="17" name="Text 15"/>
          <p:cNvSpPr/>
          <p:nvPr/>
        </p:nvSpPr>
        <p:spPr>
          <a:xfrm>
            <a:off x="502920" y="5120640"/>
            <a:ext cx="11183112" cy="118872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Open design point: the 64-byte envelope exceeds the 16-byte limit of the one-byte RTP extension format, so either the two-byte format is used or the extension carries the timestamps only, with the rest inferred per session. The CSV and snapshot contract is unaffected either way.</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Applications and future work</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What a per-frame, clock-disciplined latency platform over private 5G is actually for.</a:t>
            </a:r>
            <a:endParaRPr lang="en-US" sz="1300" dirty="0"/>
          </a:p>
        </p:txBody>
      </p:sp>
      <p:sp>
        <p:nvSpPr>
          <p:cNvPr id="4" name="Shape 2"/>
          <p:cNvSpPr/>
          <p:nvPr/>
        </p:nvSpPr>
        <p:spPr>
          <a:xfrm>
            <a:off x="502920" y="1572768"/>
            <a:ext cx="3538728" cy="1874520"/>
          </a:xfrm>
          <a:prstGeom prst="rect">
            <a:avLst/>
          </a:prstGeom>
          <a:solidFill>
            <a:srgbClr val="F1F2F3"/>
          </a:solidFill>
          <a:ln w="12700">
            <a:solidFill>
              <a:srgbClr val="B9BDC0"/>
            </a:solidFill>
            <a:prstDash val="solid"/>
          </a:ln>
        </p:spPr>
      </p:sp>
      <p:sp>
        <p:nvSpPr>
          <p:cNvPr id="5" name="Text 3"/>
          <p:cNvSpPr/>
          <p:nvPr/>
        </p:nvSpPr>
        <p:spPr>
          <a:xfrm>
            <a:off x="612648"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Industrial robotics</a:t>
            </a:r>
            <a:endParaRPr lang="en-US" sz="1300" dirty="0"/>
          </a:p>
        </p:txBody>
      </p:sp>
      <p:sp>
        <p:nvSpPr>
          <p:cNvPr id="6" name="Text 4"/>
          <p:cNvSpPr/>
          <p:nvPr/>
        </p:nvSpPr>
        <p:spPr>
          <a:xfrm>
            <a:off x="612648"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ROS2 fleets on private 5G instead of cabling or Wi-Fi.</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Offloading perception to a MEC server lets robots carry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less compute — but only if the latency budget is known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rather than hoped for.</a:t>
            </a:r>
            <a:endParaRPr lang="en-US" sz="1100" dirty="0"/>
          </a:p>
        </p:txBody>
      </p:sp>
      <p:sp>
        <p:nvSpPr>
          <p:cNvPr id="7" name="Shape 5"/>
          <p:cNvSpPr/>
          <p:nvPr/>
        </p:nvSpPr>
        <p:spPr>
          <a:xfrm>
            <a:off x="4325112" y="1572768"/>
            <a:ext cx="3538728" cy="1874520"/>
          </a:xfrm>
          <a:prstGeom prst="rect">
            <a:avLst/>
          </a:prstGeom>
          <a:solidFill>
            <a:srgbClr val="F1F2F3"/>
          </a:solidFill>
          <a:ln w="12700">
            <a:solidFill>
              <a:srgbClr val="B9BDC0"/>
            </a:solidFill>
            <a:prstDash val="solid"/>
          </a:ln>
        </p:spPr>
      </p:sp>
      <p:sp>
        <p:nvSpPr>
          <p:cNvPr id="8" name="Text 6"/>
          <p:cNvSpPr/>
          <p:nvPr/>
        </p:nvSpPr>
        <p:spPr>
          <a:xfrm>
            <a:off x="4434840"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Teleoperation</a:t>
            </a:r>
            <a:endParaRPr lang="en-US" sz="1300" dirty="0"/>
          </a:p>
        </p:txBody>
      </p:sp>
      <p:sp>
        <p:nvSpPr>
          <p:cNvPr id="9" name="Text 7"/>
          <p:cNvSpPr/>
          <p:nvPr/>
        </p:nvSpPr>
        <p:spPr>
          <a:xfrm>
            <a:off x="4434840"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Remote driving, cranes, mining, inspection. The operator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needs a defensible glass-to-glass figure and its tail —</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p99 that occasionally doubles is a safety property,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not a statistic.</a:t>
            </a:r>
            <a:endParaRPr lang="en-US" sz="1100" dirty="0"/>
          </a:p>
        </p:txBody>
      </p:sp>
      <p:sp>
        <p:nvSpPr>
          <p:cNvPr id="10" name="Shape 8"/>
          <p:cNvSpPr/>
          <p:nvPr/>
        </p:nvSpPr>
        <p:spPr>
          <a:xfrm>
            <a:off x="8147304" y="1572768"/>
            <a:ext cx="3538728" cy="1874520"/>
          </a:xfrm>
          <a:prstGeom prst="rect">
            <a:avLst/>
          </a:prstGeom>
          <a:solidFill>
            <a:srgbClr val="F1F2F3"/>
          </a:solidFill>
          <a:ln w="12700">
            <a:solidFill>
              <a:srgbClr val="B9BDC0"/>
            </a:solidFill>
            <a:prstDash val="solid"/>
          </a:ln>
        </p:spPr>
      </p:sp>
      <p:sp>
        <p:nvSpPr>
          <p:cNvPr id="11" name="Text 9"/>
          <p:cNvSpPr/>
          <p:nvPr/>
        </p:nvSpPr>
        <p:spPr>
          <a:xfrm>
            <a:off x="8257032"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Vehicle to vehicle / V2X</a:t>
            </a:r>
            <a:endParaRPr lang="en-US" sz="1300" dirty="0"/>
          </a:p>
        </p:txBody>
      </p:sp>
      <p:sp>
        <p:nvSpPr>
          <p:cNvPr id="12" name="Text 10"/>
          <p:cNvSpPr/>
          <p:nvPr/>
        </p:nvSpPr>
        <p:spPr>
          <a:xfrm>
            <a:off x="8257032"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Cooperative perception: vehicles sharing point clouds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through an edge server. Sensor sharing is only useful</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if the data arrives inside the reaction window, which</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is exactly what this measures.</a:t>
            </a:r>
            <a:endParaRPr lang="en-US" sz="1100" dirty="0"/>
          </a:p>
        </p:txBody>
      </p:sp>
      <p:sp>
        <p:nvSpPr>
          <p:cNvPr id="13" name="Shape 11"/>
          <p:cNvSpPr/>
          <p:nvPr/>
        </p:nvSpPr>
        <p:spPr>
          <a:xfrm>
            <a:off x="502920" y="3584448"/>
            <a:ext cx="3538728" cy="1874520"/>
          </a:xfrm>
          <a:prstGeom prst="rect">
            <a:avLst/>
          </a:prstGeom>
          <a:solidFill>
            <a:srgbClr val="F1F2F3"/>
          </a:solidFill>
          <a:ln w="12700">
            <a:solidFill>
              <a:srgbClr val="B9BDC0"/>
            </a:solidFill>
            <a:prstDash val="solid"/>
          </a:ln>
        </p:spPr>
      </p:sp>
      <p:sp>
        <p:nvSpPr>
          <p:cNvPr id="14" name="Text 12"/>
          <p:cNvSpPr/>
          <p:nvPr/>
        </p:nvSpPr>
        <p:spPr>
          <a:xfrm>
            <a:off x="612648" y="367588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Other latency-critical uses</a:t>
            </a:r>
            <a:endParaRPr lang="en-US" sz="1300" dirty="0"/>
          </a:p>
        </p:txBody>
      </p:sp>
      <p:sp>
        <p:nvSpPr>
          <p:cNvPr id="15" name="Text 13"/>
          <p:cNvSpPr/>
          <p:nvPr/>
        </p:nvSpPr>
        <p:spPr>
          <a:xfrm>
            <a:off x="612648"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Closed-loop motion control and AGV coordination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Drone swarms and remote inspection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AR / VR assistance on the factory floor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Haptics and force feedback, where budgets are tightest</a:t>
            </a:r>
            <a:endParaRPr lang="en-US" sz="1100" dirty="0"/>
          </a:p>
        </p:txBody>
      </p:sp>
      <p:sp>
        <p:nvSpPr>
          <p:cNvPr id="16" name="Shape 14"/>
          <p:cNvSpPr/>
          <p:nvPr/>
        </p:nvSpPr>
        <p:spPr>
          <a:xfrm>
            <a:off x="4325112" y="3584448"/>
            <a:ext cx="3538728" cy="1874520"/>
          </a:xfrm>
          <a:prstGeom prst="rect">
            <a:avLst/>
          </a:prstGeom>
          <a:solidFill>
            <a:srgbClr val="F1F2F3"/>
          </a:solidFill>
          <a:ln w="12700">
            <a:solidFill>
              <a:srgbClr val="B9BDC0"/>
            </a:solidFill>
            <a:prstDash val="solid"/>
          </a:ln>
        </p:spPr>
      </p:sp>
      <p:sp>
        <p:nvSpPr>
          <p:cNvPr id="17" name="Text 15"/>
          <p:cNvSpPr/>
          <p:nvPr/>
        </p:nvSpPr>
        <p:spPr>
          <a:xfrm>
            <a:off x="4434840" y="367588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Near-term platform work</a:t>
            </a:r>
            <a:endParaRPr lang="en-US" sz="1300" dirty="0"/>
          </a:p>
        </p:txBody>
      </p:sp>
      <p:sp>
        <p:nvSpPr>
          <p:cNvPr id="18" name="Text 16"/>
          <p:cNvSpPr/>
          <p:nvPr/>
        </p:nvSpPr>
        <p:spPr>
          <a:xfrm>
            <a:off x="4434840"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Draco compression as a measured variable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Latency versus payload-size sweeps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Zenoh versus DDS over the same 5G link</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Real LiDAR replacing the synthetic source</a:t>
            </a:r>
            <a:endParaRPr lang="en-US" sz="1100" dirty="0"/>
          </a:p>
        </p:txBody>
      </p:sp>
      <p:sp>
        <p:nvSpPr>
          <p:cNvPr id="19" name="Shape 17"/>
          <p:cNvSpPr/>
          <p:nvPr/>
        </p:nvSpPr>
        <p:spPr>
          <a:xfrm>
            <a:off x="8147304" y="3584448"/>
            <a:ext cx="3538728" cy="1874520"/>
          </a:xfrm>
          <a:prstGeom prst="rect">
            <a:avLst/>
          </a:prstGeom>
          <a:solidFill>
            <a:srgbClr val="2B3136"/>
          </a:solidFill>
          <a:ln w="12700">
            <a:solidFill>
              <a:srgbClr val="2B3136"/>
            </a:solidFill>
            <a:prstDash val="solid"/>
          </a:ln>
        </p:spPr>
      </p:sp>
      <p:sp>
        <p:nvSpPr>
          <p:cNvPr id="20" name="Text 18"/>
          <p:cNvSpPr/>
          <p:nvPr/>
        </p:nvSpPr>
        <p:spPr>
          <a:xfrm>
            <a:off x="8257032" y="3675888"/>
            <a:ext cx="3319272"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Research directions</a:t>
            </a:r>
            <a:endParaRPr lang="en-US" sz="1300" dirty="0"/>
          </a:p>
        </p:txBody>
      </p:sp>
      <p:sp>
        <p:nvSpPr>
          <p:cNvPr id="21" name="Text 19"/>
          <p:cNvSpPr/>
          <p:nvPr/>
        </p:nvSpPr>
        <p:spPr>
          <a:xfrm>
            <a:off x="8257032"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E2 / near-RT RIC xApp for standardised RAN KPIs</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RAN-aware scheduling: prioritise the sensor QoS flow</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Network slicing per application class</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Correlating MAC-layer events with application tails</a:t>
            </a:r>
            <a:endParaRPr lang="en-US" sz="1100" dirty="0"/>
          </a:p>
        </p:txBody>
      </p:sp>
      <p:sp>
        <p:nvSpPr>
          <p:cNvPr id="22" name="Text 20"/>
          <p:cNvSpPr/>
          <p:nvPr/>
        </p:nvSpPr>
        <p:spPr>
          <a:xfrm>
            <a:off x="502920" y="5577840"/>
            <a:ext cx="11183112" cy="50292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The common thread: each of these needs a number someone is willing to defend. Reproducibility artifacts — run identifiers, per-frame CSV and recorded clock health — are what turn a demonstration into evidence.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mec-cast platform architecture</dc:title>
  <dc:subject>PptxGenJS Presentation</dc:subject>
  <dc:creator>mec-cast</dc:creator>
  <cp:lastModifiedBy>mec-cast</cp:lastModifiedBy>
  <cp:revision>1</cp:revision>
  <dcterms:created xsi:type="dcterms:W3CDTF">2026-08-17T18:11:37Z</dcterms:created>
  <dcterms:modified xsi:type="dcterms:W3CDTF">2026-08-17T18:11:37Z</dcterms:modified>
</cp:coreProperties>
</file>