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Architecture overview</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An experimentation testbed for industrial communication over private 5G (srsRAN + Open5GS) — used to study large-payload transport, teleoperation latency, and peer-to-edge offload. Precise timing is one instrument, not the purpose.</a:t>
            </a:r>
            <a:endParaRPr lang="en-US" sz="1300" dirty="0"/>
          </a:p>
        </p:txBody>
      </p:sp>
      <p:sp>
        <p:nvSpPr>
          <p:cNvPr id="4" name="Shape 2"/>
          <p:cNvSpPr/>
          <p:nvPr/>
        </p:nvSpPr>
        <p:spPr>
          <a:xfrm>
            <a:off x="502920" y="1600200"/>
            <a:ext cx="3392424" cy="1188720"/>
          </a:xfrm>
          <a:prstGeom prst="rect">
            <a:avLst/>
          </a:prstGeom>
          <a:solidFill>
            <a:srgbClr val="F1F2F3"/>
          </a:solidFill>
          <a:ln w="12700">
            <a:solidFill>
              <a:srgbClr val="B9BDC0"/>
            </a:solidFill>
            <a:prstDash val="solid"/>
          </a:ln>
        </p:spPr>
      </p:sp>
      <p:sp>
        <p:nvSpPr>
          <p:cNvPr id="5" name="Text 3"/>
          <p:cNvSpPr/>
          <p:nvPr/>
        </p:nvSpPr>
        <p:spPr>
          <a:xfrm>
            <a:off x="612648"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 robot compute</a:t>
            </a:r>
            <a:endParaRPr lang="en-US" sz="1300" dirty="0"/>
          </a:p>
        </p:txBody>
      </p:sp>
      <p:sp>
        <p:nvSpPr>
          <p:cNvPr id="6" name="Text 4"/>
          <p:cNvSpPr/>
          <p:nvPr/>
        </p:nvSpPr>
        <p:spPr>
          <a:xfrm>
            <a:off x="612648"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 + 5G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ROS2 client publishes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capture_ns, send_ns</a:t>
            </a:r>
            <a:endParaRPr lang="en-US" sz="1050" dirty="0"/>
          </a:p>
        </p:txBody>
      </p:sp>
      <p:sp>
        <p:nvSpPr>
          <p:cNvPr id="7" name="Shape 5"/>
          <p:cNvSpPr/>
          <p:nvPr/>
        </p:nvSpPr>
        <p:spPr>
          <a:xfrm>
            <a:off x="4398264" y="1600200"/>
            <a:ext cx="3392424" cy="1188720"/>
          </a:xfrm>
          <a:prstGeom prst="rect">
            <a:avLst/>
          </a:prstGeom>
          <a:solidFill>
            <a:srgbClr val="F1F2F3"/>
          </a:solidFill>
          <a:ln w="12700">
            <a:solidFill>
              <a:srgbClr val="B9BDC0"/>
            </a:solidFill>
            <a:prstDash val="solid"/>
          </a:ln>
        </p:spPr>
      </p:sp>
      <p:sp>
        <p:nvSpPr>
          <p:cNvPr id="8" name="Text 6"/>
          <p:cNvSpPr/>
          <p:nvPr/>
        </p:nvSpPr>
        <p:spPr>
          <a:xfrm>
            <a:off x="4507992"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5G network (lab)</a:t>
            </a:r>
            <a:endParaRPr lang="en-US" sz="1300" dirty="0"/>
          </a:p>
        </p:txBody>
      </p:sp>
      <p:sp>
        <p:nvSpPr>
          <p:cNvPr id="9" name="Text 7"/>
          <p:cNvSpPr/>
          <p:nvPr/>
        </p:nvSpPr>
        <p:spPr>
          <a:xfrm>
            <a:off x="4507992"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srsRAN O-CU / O-DU on USRP radios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Open5GS core, UPF / N6</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impairment under test</a:t>
            </a:r>
            <a:endParaRPr lang="en-US" sz="1050" dirty="0"/>
          </a:p>
        </p:txBody>
      </p:sp>
      <p:sp>
        <p:nvSpPr>
          <p:cNvPr id="10" name="Shape 8"/>
          <p:cNvSpPr/>
          <p:nvPr/>
        </p:nvSpPr>
        <p:spPr>
          <a:xfrm>
            <a:off x="8293608" y="1600200"/>
            <a:ext cx="3392424" cy="1188720"/>
          </a:xfrm>
          <a:prstGeom prst="rect">
            <a:avLst/>
          </a:prstGeom>
          <a:solidFill>
            <a:srgbClr val="F1F2F3"/>
          </a:solidFill>
          <a:ln w="12700">
            <a:solidFill>
              <a:srgbClr val="B9BDC0"/>
            </a:solidFill>
            <a:prstDash val="solid"/>
          </a:ln>
        </p:spPr>
      </p:sp>
      <p:sp>
        <p:nvSpPr>
          <p:cNvPr id="11" name="Text 9"/>
          <p:cNvSpPr/>
          <p:nvPr/>
        </p:nvSpPr>
        <p:spPr>
          <a:xfrm>
            <a:off x="8403336"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MEC edge server</a:t>
            </a:r>
            <a:endParaRPr lang="en-US" sz="1300" dirty="0"/>
          </a:p>
        </p:txBody>
      </p:sp>
      <p:sp>
        <p:nvSpPr>
          <p:cNvPr id="12" name="Text 10"/>
          <p:cNvSpPr/>
          <p:nvPr/>
        </p:nvSpPr>
        <p:spPr>
          <a:xfrm>
            <a:off x="8403336"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ROS2 ingest node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recv_ns, process_done_ns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processes the cloud</a:t>
            </a:r>
            <a:endParaRPr lang="en-US" sz="1050" dirty="0"/>
          </a:p>
        </p:txBody>
      </p:sp>
      <p:sp>
        <p:nvSpPr>
          <p:cNvPr id="13" name="Shape 11"/>
          <p:cNvSpPr/>
          <p:nvPr/>
        </p:nvSpPr>
        <p:spPr>
          <a:xfrm>
            <a:off x="3950208" y="2194560"/>
            <a:ext cx="393192" cy="0"/>
          </a:xfrm>
          <a:prstGeom prst="line">
            <a:avLst/>
          </a:prstGeom>
          <a:noFill/>
          <a:ln w="15875">
            <a:solidFill>
              <a:srgbClr val="444C52"/>
            </a:solidFill>
            <a:prstDash val="solid"/>
            <a:tailEnd type="triangle"/>
          </a:ln>
        </p:spPr>
      </p:sp>
      <p:sp>
        <p:nvSpPr>
          <p:cNvPr id="14" name="Text 12"/>
          <p:cNvSpPr/>
          <p:nvPr/>
        </p:nvSpPr>
        <p:spPr>
          <a:xfrm>
            <a:off x="3813048"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Uu</a:t>
            </a:r>
            <a:endParaRPr lang="en-US" sz="900" dirty="0"/>
          </a:p>
        </p:txBody>
      </p:sp>
      <p:sp>
        <p:nvSpPr>
          <p:cNvPr id="15" name="Shape 13"/>
          <p:cNvSpPr/>
          <p:nvPr/>
        </p:nvSpPr>
        <p:spPr>
          <a:xfrm>
            <a:off x="7845552" y="2194560"/>
            <a:ext cx="393192" cy="0"/>
          </a:xfrm>
          <a:prstGeom prst="line">
            <a:avLst/>
          </a:prstGeom>
          <a:noFill/>
          <a:ln w="15875">
            <a:solidFill>
              <a:srgbClr val="444C52"/>
            </a:solidFill>
            <a:prstDash val="solid"/>
            <a:tailEnd type="triangle"/>
          </a:ln>
        </p:spPr>
      </p:sp>
      <p:sp>
        <p:nvSpPr>
          <p:cNvPr id="16" name="Text 14"/>
          <p:cNvSpPr/>
          <p:nvPr/>
        </p:nvSpPr>
        <p:spPr>
          <a:xfrm>
            <a:off x="7708392"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UPF</a:t>
            </a:r>
            <a:endParaRPr lang="en-US" sz="900" dirty="0"/>
          </a:p>
        </p:txBody>
      </p:sp>
      <p:sp>
        <p:nvSpPr>
          <p:cNvPr id="17" name="Shape 15"/>
          <p:cNvSpPr/>
          <p:nvPr/>
        </p:nvSpPr>
        <p:spPr>
          <a:xfrm>
            <a:off x="4398264" y="2980944"/>
            <a:ext cx="3392424" cy="868680"/>
          </a:xfrm>
          <a:prstGeom prst="rect">
            <a:avLst/>
          </a:prstGeom>
          <a:solidFill>
            <a:srgbClr val="F1F2F3"/>
          </a:solidFill>
          <a:ln w="12700">
            <a:solidFill>
              <a:srgbClr val="B9BDC0"/>
            </a:solidFill>
            <a:prstDash val="solid"/>
          </a:ln>
        </p:spPr>
      </p:sp>
      <p:sp>
        <p:nvSpPr>
          <p:cNvPr id="18" name="Text 16"/>
          <p:cNvSpPr/>
          <p:nvPr/>
        </p:nvSpPr>
        <p:spPr>
          <a:xfrm>
            <a:off x="4507992"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RAN — two sources</a:t>
            </a:r>
            <a:endParaRPr lang="en-US" sz="1300" dirty="0"/>
          </a:p>
        </p:txBody>
      </p:sp>
      <p:sp>
        <p:nvSpPr>
          <p:cNvPr id="19" name="Text 17"/>
          <p:cNvSpPr/>
          <p:nvPr/>
        </p:nvSpPr>
        <p:spPr>
          <a:xfrm>
            <a:off x="4507992"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JSON tap: O-DU scheduler KPIs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E2 xApp: KPM + run-scoped RC</a:t>
            </a:r>
            <a:endParaRPr lang="en-US" sz="1050" dirty="0"/>
          </a:p>
        </p:txBody>
      </p:sp>
      <p:sp>
        <p:nvSpPr>
          <p:cNvPr id="20" name="Shape 18"/>
          <p:cNvSpPr/>
          <p:nvPr/>
        </p:nvSpPr>
        <p:spPr>
          <a:xfrm>
            <a:off x="8293608" y="2980944"/>
            <a:ext cx="3392424" cy="868680"/>
          </a:xfrm>
          <a:prstGeom prst="rect">
            <a:avLst/>
          </a:prstGeom>
          <a:solidFill>
            <a:srgbClr val="F1F2F3"/>
          </a:solidFill>
          <a:ln w="12700">
            <a:solidFill>
              <a:srgbClr val="B9BDC0"/>
            </a:solidFill>
            <a:prstDash val="solid"/>
          </a:ln>
        </p:spPr>
      </p:sp>
      <p:sp>
        <p:nvSpPr>
          <p:cNvPr id="21" name="Text 19"/>
          <p:cNvSpPr/>
          <p:nvPr/>
        </p:nvSpPr>
        <p:spPr>
          <a:xfrm>
            <a:off x="8403336"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Outputs</a:t>
            </a:r>
            <a:endParaRPr lang="en-US" sz="1300" dirty="0"/>
          </a:p>
        </p:txBody>
      </p:sp>
      <p:sp>
        <p:nvSpPr>
          <p:cNvPr id="22" name="Text 20"/>
          <p:cNvSpPr/>
          <p:nvPr/>
        </p:nvSpPr>
        <p:spPr>
          <a:xfrm>
            <a:off x="8403336"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  2 s aggregated snapshots</a:t>
            </a:r>
            <a:endParaRPr lang="en-US" sz="1050" dirty="0"/>
          </a:p>
        </p:txBody>
      </p:sp>
      <p:sp>
        <p:nvSpPr>
          <p:cNvPr id="23" name="Shape 21"/>
          <p:cNvSpPr/>
          <p:nvPr/>
        </p:nvSpPr>
        <p:spPr>
          <a:xfrm>
            <a:off x="502920" y="4023360"/>
            <a:ext cx="11183112" cy="804672"/>
          </a:xfrm>
          <a:prstGeom prst="rect">
            <a:avLst/>
          </a:prstGeom>
          <a:solidFill>
            <a:srgbClr val="2B3136"/>
          </a:solidFill>
          <a:ln w="12700">
            <a:solidFill>
              <a:srgbClr val="2B3136"/>
            </a:solidFill>
            <a:prstDash val="solid"/>
          </a:ln>
        </p:spPr>
      </p:sp>
      <p:sp>
        <p:nvSpPr>
          <p:cNvPr id="24" name="Text 22"/>
          <p:cNvSpPr/>
          <p:nvPr/>
        </p:nvSpPr>
        <p:spPr>
          <a:xfrm>
            <a:off x="612648" y="4114800"/>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mec-cast-telemetry — the shared spine</a:t>
            </a:r>
            <a:endParaRPr lang="en-US" sz="1300" dirty="0"/>
          </a:p>
        </p:txBody>
      </p:sp>
      <p:sp>
        <p:nvSpPr>
          <p:cNvPr id="25" name="Text 23"/>
          <p:cNvSpPr/>
          <p:nvPr/>
        </p:nvSpPr>
        <p:spPr>
          <a:xfrm>
            <a:off x="612648" y="4407408"/>
            <a:ext cx="10963656" cy="329184"/>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64-byte TimingEnvelope · DelayStats with exact percentiles · clocks and PTP monitor · lock-free recorder</a:t>
            </a:r>
            <a:endParaRPr lang="en-US" sz="1100" dirty="0"/>
          </a:p>
        </p:txBody>
      </p:sp>
      <p:sp>
        <p:nvSpPr>
          <p:cNvPr id="26" name="Shape 24"/>
          <p:cNvSpPr/>
          <p:nvPr/>
        </p:nvSpPr>
        <p:spPr>
          <a:xfrm>
            <a:off x="502920" y="4992624"/>
            <a:ext cx="11183112" cy="713232"/>
          </a:xfrm>
          <a:prstGeom prst="rect">
            <a:avLst/>
          </a:prstGeom>
          <a:solidFill>
            <a:srgbClr val="FFFFFF"/>
          </a:solidFill>
          <a:ln w="12700">
            <a:solidFill>
              <a:srgbClr val="B9BDC0"/>
            </a:solidFill>
            <a:prstDash val="solid"/>
          </a:ln>
        </p:spPr>
      </p:sp>
      <p:sp>
        <p:nvSpPr>
          <p:cNvPr id="27" name="Text 25"/>
          <p:cNvSpPr/>
          <p:nvPr/>
        </p:nvSpPr>
        <p:spPr>
          <a:xfrm>
            <a:off x="612648" y="5084064"/>
            <a:ext cx="10963656" cy="274320"/>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Logging service — PostgreSQL</a:t>
            </a:r>
            <a:endParaRPr lang="en-US" sz="1200" dirty="0"/>
          </a:p>
        </p:txBody>
      </p:sp>
      <p:sp>
        <p:nvSpPr>
          <p:cNvPr id="28" name="Text 26"/>
          <p:cNvSpPr/>
          <p:nvPr/>
        </p:nvSpPr>
        <p:spPr>
          <a:xfrm>
            <a:off x="612648" y="5376672"/>
            <a:ext cx="10963656" cy="237744"/>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Every component posts snapshots here; RUN_ID is the trace_id that joins UE, edge and RAN for one experiment.</a:t>
            </a:r>
            <a:endParaRPr lang="en-US" sz="1100" dirty="0"/>
          </a:p>
        </p:txBody>
      </p:sp>
      <p:sp>
        <p:nvSpPr>
          <p:cNvPr id="29" name="Text 27"/>
          <p:cNvSpPr/>
          <p:nvPr/>
        </p:nvSpPr>
        <p:spPr>
          <a:xfrm>
            <a:off x="502920" y="5870448"/>
            <a:ext cx="11183112" cy="457200"/>
          </a:xfrm>
          <a:prstGeom prst="rect">
            <a:avLst/>
          </a:prstGeom>
          <a:noFill/>
          <a:ln/>
        </p:spPr>
        <p:txBody>
          <a:bodyPr wrap="square" lIns="0" tIns="0" rIns="0" bIns="0" rtlCol="0" anchor="t"/>
          <a:lstStyle/>
          <a:p>
            <a:pPr indent="0" marL="0">
              <a:lnSpc>
                <a:spcPct val="115000"/>
              </a:lnSpc>
              <a:buNone/>
            </a:pPr>
            <a:r>
              <a:rPr lang="en-US" sz="1050" dirty="0">
                <a:solidFill>
                  <a:srgbClr val="444C52"/>
                </a:solidFill>
                <a:latin typeface="Calibri" pitchFamily="34" charset="0"/>
                <a:ea typeface="Calibri" pitchFamily="34" charset="-122"/>
                <a:cs typeface="Calibri" pitchFamily="34" charset="-120"/>
              </a:rPr>
              <a:t>PTP disciplines every measuring host over the management LAN — never the 5G user plane, which carries no time sync. What makes a cross-host delay valid is that both ends trace to the SAME grandmaster, not which daemon gets them there.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local (development)</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One docker network, no hardware. Network impairment is simulated so the pipeline can be exercised end to end on a laptop.</a:t>
            </a:r>
            <a:endParaRPr lang="en-US" sz="1300" dirty="0"/>
          </a:p>
        </p:txBody>
      </p:sp>
      <p:sp>
        <p:nvSpPr>
          <p:cNvPr id="4" name="Shape 2"/>
          <p:cNvSpPr/>
          <p:nvPr/>
        </p:nvSpPr>
        <p:spPr>
          <a:xfrm>
            <a:off x="502920" y="1600200"/>
            <a:ext cx="2507742" cy="105156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lidar-client</a:t>
            </a:r>
            <a:endParaRPr lang="en-US" sz="1300" dirty="0"/>
          </a:p>
        </p:txBody>
      </p:sp>
      <p:sp>
        <p:nvSpPr>
          <p:cNvPr id="6" name="Text 4"/>
          <p:cNvSpPr/>
          <p:nvPr/>
        </p:nvSpPr>
        <p:spPr>
          <a:xfrm>
            <a:off x="61264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synthetic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seed · num_points · rate_hz</a:t>
            </a:r>
            <a:endParaRPr lang="en-US" sz="1050" dirty="0"/>
          </a:p>
        </p:txBody>
      </p:sp>
      <p:sp>
        <p:nvSpPr>
          <p:cNvPr id="7" name="Shape 5"/>
          <p:cNvSpPr/>
          <p:nvPr/>
        </p:nvSpPr>
        <p:spPr>
          <a:xfrm>
            <a:off x="3394710" y="1600200"/>
            <a:ext cx="2507742" cy="105156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netem sidecar</a:t>
            </a:r>
            <a:endParaRPr lang="en-US" sz="1300" dirty="0"/>
          </a:p>
        </p:txBody>
      </p:sp>
      <p:sp>
        <p:nvSpPr>
          <p:cNvPr id="9" name="Text 7"/>
          <p:cNvSpPr/>
          <p:nvPr/>
        </p:nvSpPr>
        <p:spPr>
          <a:xfrm>
            <a:off x="350443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shares the client netns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delay · jitter · loss</a:t>
            </a:r>
            <a:endParaRPr lang="en-US" sz="1050" dirty="0"/>
          </a:p>
        </p:txBody>
      </p:sp>
      <p:sp>
        <p:nvSpPr>
          <p:cNvPr id="10" name="Shape 8"/>
          <p:cNvSpPr/>
          <p:nvPr/>
        </p:nvSpPr>
        <p:spPr>
          <a:xfrm>
            <a:off x="6286500" y="1600200"/>
            <a:ext cx="2507742" cy="105156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middleware centre</a:t>
            </a:r>
            <a:endParaRPr lang="en-US" sz="1300" dirty="0"/>
          </a:p>
        </p:txBody>
      </p:sp>
      <p:sp>
        <p:nvSpPr>
          <p:cNvPr id="12" name="Text 10"/>
          <p:cNvSpPr/>
          <p:nvPr/>
        </p:nvSpPr>
        <p:spPr>
          <a:xfrm>
            <a:off x="639622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zenoh-router or dds-discovery</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MIDDLEWARE picks one</a:t>
            </a:r>
            <a:endParaRPr lang="en-US" sz="1050" dirty="0"/>
          </a:p>
        </p:txBody>
      </p:sp>
      <p:sp>
        <p:nvSpPr>
          <p:cNvPr id="13" name="Shape 11"/>
          <p:cNvSpPr/>
          <p:nvPr/>
        </p:nvSpPr>
        <p:spPr>
          <a:xfrm>
            <a:off x="9178290" y="1600200"/>
            <a:ext cx="2507742" cy="105156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5" name="Text 13"/>
          <p:cNvSpPr/>
          <p:nvPr/>
        </p:nvSpPr>
        <p:spPr>
          <a:xfrm>
            <a:off x="928801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ingest + processing</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writes CSV</a:t>
            </a:r>
            <a:endParaRPr lang="en-US" sz="1050" dirty="0"/>
          </a:p>
        </p:txBody>
      </p:sp>
      <p:sp>
        <p:nvSpPr>
          <p:cNvPr id="16" name="Shape 14"/>
          <p:cNvSpPr/>
          <p:nvPr/>
        </p:nvSpPr>
        <p:spPr>
          <a:xfrm>
            <a:off x="3056382" y="2125980"/>
            <a:ext cx="292608" cy="0"/>
          </a:xfrm>
          <a:prstGeom prst="line">
            <a:avLst/>
          </a:prstGeom>
          <a:noFill/>
          <a:ln w="15875">
            <a:solidFill>
              <a:srgbClr val="444C52"/>
            </a:solidFill>
            <a:prstDash val="solid"/>
            <a:tailEnd type="triangle"/>
          </a:ln>
        </p:spPr>
      </p:sp>
      <p:sp>
        <p:nvSpPr>
          <p:cNvPr id="17" name="Shape 15"/>
          <p:cNvSpPr/>
          <p:nvPr/>
        </p:nvSpPr>
        <p:spPr>
          <a:xfrm>
            <a:off x="5948172" y="2125980"/>
            <a:ext cx="292608" cy="0"/>
          </a:xfrm>
          <a:prstGeom prst="line">
            <a:avLst/>
          </a:prstGeom>
          <a:noFill/>
          <a:ln w="15875">
            <a:solidFill>
              <a:srgbClr val="444C52"/>
            </a:solidFill>
            <a:prstDash val="solid"/>
            <a:tailEnd type="triangle"/>
          </a:ln>
        </p:spPr>
      </p:sp>
      <p:sp>
        <p:nvSpPr>
          <p:cNvPr id="18" name="Shape 16"/>
          <p:cNvSpPr/>
          <p:nvPr/>
        </p:nvSpPr>
        <p:spPr>
          <a:xfrm>
            <a:off x="8839962" y="2125980"/>
            <a:ext cx="292608" cy="0"/>
          </a:xfrm>
          <a:prstGeom prst="line">
            <a:avLst/>
          </a:prstGeom>
          <a:noFill/>
          <a:ln w="15875">
            <a:solidFill>
              <a:srgbClr val="444C52"/>
            </a:solidFill>
            <a:prstDash val="solid"/>
            <a:tailEnd type="triangle"/>
          </a:ln>
        </p:spPr>
      </p:sp>
      <p:sp>
        <p:nvSpPr>
          <p:cNvPr id="19" name="Shape 17"/>
          <p:cNvSpPr/>
          <p:nvPr/>
        </p:nvSpPr>
        <p:spPr>
          <a:xfrm>
            <a:off x="502920" y="2880360"/>
            <a:ext cx="5394960" cy="9144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logging + postgres</a:t>
            </a:r>
            <a:endParaRPr lang="en-US" sz="1300" dirty="0"/>
          </a:p>
        </p:txBody>
      </p:sp>
      <p:sp>
        <p:nvSpPr>
          <p:cNvPr id="21" name="Text 19"/>
          <p:cNvSpPr/>
          <p:nvPr/>
        </p:nvSpPr>
        <p:spPr>
          <a:xfrm>
            <a:off x="612648"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postgres:16 has no host port — reachable only inside the compose network</a:t>
            </a:r>
            <a:endParaRPr lang="en-US" sz="1050" dirty="0"/>
          </a:p>
        </p:txBody>
      </p:sp>
      <p:sp>
        <p:nvSpPr>
          <p:cNvPr id="22" name="Shape 20"/>
          <p:cNvSpPr/>
          <p:nvPr/>
        </p:nvSpPr>
        <p:spPr>
          <a:xfrm>
            <a:off x="6291072" y="2880360"/>
            <a:ext cx="5394960" cy="914400"/>
          </a:xfrm>
          <a:prstGeom prst="rect">
            <a:avLst/>
          </a:prstGeom>
          <a:solidFill>
            <a:srgbClr val="F1F2F3"/>
          </a:solidFill>
          <a:ln w="12700">
            <a:solidFill>
              <a:srgbClr val="B9BDC0"/>
            </a:solidFill>
            <a:prstDash val="solid"/>
          </a:ln>
        </p:spPr>
      </p:sp>
      <p:sp>
        <p:nvSpPr>
          <p:cNvPr id="23" name="Text 21"/>
          <p:cNvSpPr/>
          <p:nvPr/>
        </p:nvSpPr>
        <p:spPr>
          <a:xfrm>
            <a:off x="6400800"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runs/  (bind mount)</a:t>
            </a:r>
            <a:endParaRPr lang="en-US" sz="1300" dirty="0"/>
          </a:p>
        </p:txBody>
      </p:sp>
      <p:sp>
        <p:nvSpPr>
          <p:cNvPr id="24" name="Text 22"/>
          <p:cNvSpPr/>
          <p:nvPr/>
        </p:nvSpPr>
        <p:spPr>
          <a:xfrm>
            <a:off x="6400800"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lands on the host and survives docker compose down</a:t>
            </a:r>
            <a:endParaRPr lang="en-US" sz="1050" dirty="0"/>
          </a:p>
        </p:txBody>
      </p:sp>
      <p:sp>
        <p:nvSpPr>
          <p:cNvPr id="25" name="Text 23"/>
          <p:cNvSpPr/>
          <p:nvPr/>
        </p:nvSpPr>
        <p:spPr>
          <a:xfrm>
            <a:off x="502920" y="4023360"/>
            <a:ext cx="5394960" cy="210312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Bring it all up:</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up-local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MIDDLEWARE=dds make up-local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logs        make down</a:t>
            </a:r>
            <a:endParaRPr lang="en-US" sz="1150" dirty="0"/>
          </a:p>
          <a:p>
            <a:pPr indent="0" marL="0">
              <a:lnSpc>
                <a:spcPct val="115000"/>
              </a:lnSpc>
              <a:buNone/>
            </a:pPr>
            <a:endParaRPr lang="en-US" sz="1150" dirty="0"/>
          </a:p>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Or one container per terminal: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$COMPOSE up --no-deps &lt;service&gt;</a:t>
            </a:r>
            <a:endParaRPr lang="en-US" sz="1150" dirty="0"/>
          </a:p>
        </p:txBody>
      </p:sp>
      <p:sp>
        <p:nvSpPr>
          <p:cNvPr id="26" name="Text 24"/>
          <p:cNvSpPr/>
          <p:nvPr/>
        </p:nvSpPr>
        <p:spPr>
          <a:xfrm>
            <a:off x="6291072" y="4023360"/>
            <a:ext cx="5394960" cy="210312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Two compose files are always passed together so the containers share one network.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netem sidecar impairs the client's egress — modelling the 5G uplink without touching host networking.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Same containers as the lab; only the composition differs.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lab testbed</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Four roles on four hosts. The impairment is now the real 5G uplink, and clock discipline becomes a hard requirement.</a:t>
            </a:r>
            <a:endParaRPr lang="en-US" sz="1300" dirty="0"/>
          </a:p>
        </p:txBody>
      </p:sp>
      <p:sp>
        <p:nvSpPr>
          <p:cNvPr id="4" name="Shape 2"/>
          <p:cNvSpPr/>
          <p:nvPr/>
        </p:nvSpPr>
        <p:spPr>
          <a:xfrm>
            <a:off x="502920" y="1600200"/>
            <a:ext cx="2507742" cy="118872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a:t>
            </a:r>
            <a:endParaRPr lang="en-US" sz="1300" dirty="0"/>
          </a:p>
        </p:txBody>
      </p:sp>
      <p:sp>
        <p:nvSpPr>
          <p:cNvPr id="6" name="Text 4"/>
          <p:cNvSpPr/>
          <p:nvPr/>
        </p:nvSpPr>
        <p:spPr>
          <a:xfrm>
            <a:off x="61264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lidar-client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EDGE_HOST, MIDDLEWARE</a:t>
            </a:r>
            <a:endParaRPr lang="en-US" sz="1050" dirty="0"/>
          </a:p>
        </p:txBody>
      </p:sp>
      <p:sp>
        <p:nvSpPr>
          <p:cNvPr id="7" name="Shape 5"/>
          <p:cNvSpPr/>
          <p:nvPr/>
        </p:nvSpPr>
        <p:spPr>
          <a:xfrm>
            <a:off x="3394710" y="1600200"/>
            <a:ext cx="2507742" cy="118872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gnb</a:t>
            </a:r>
            <a:endParaRPr lang="en-US" sz="1300" dirty="0"/>
          </a:p>
        </p:txBody>
      </p:sp>
      <p:sp>
        <p:nvSpPr>
          <p:cNvPr id="9" name="Text 7"/>
          <p:cNvSpPr/>
          <p:nvPr/>
        </p:nvSpPr>
        <p:spPr>
          <a:xfrm>
            <a:off x="350443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ran-collector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beside the srsRAN O-DU</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UDP :55555 or WS :8001</a:t>
            </a:r>
            <a:endParaRPr lang="en-US" sz="1050" dirty="0"/>
          </a:p>
        </p:txBody>
      </p:sp>
      <p:sp>
        <p:nvSpPr>
          <p:cNvPr id="10" name="Shape 8"/>
          <p:cNvSpPr/>
          <p:nvPr/>
        </p:nvSpPr>
        <p:spPr>
          <a:xfrm>
            <a:off x="6286500" y="1600200"/>
            <a:ext cx="2507742" cy="118872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2" name="Text 10"/>
          <p:cNvSpPr/>
          <p:nvPr/>
        </p:nvSpPr>
        <p:spPr>
          <a:xfrm>
            <a:off x="639622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router or DDS server +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MEC app server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UPF</a:t>
            </a:r>
            <a:endParaRPr lang="en-US" sz="1050" dirty="0"/>
          </a:p>
        </p:txBody>
      </p:sp>
      <p:sp>
        <p:nvSpPr>
          <p:cNvPr id="13" name="Shape 11"/>
          <p:cNvSpPr/>
          <p:nvPr/>
        </p:nvSpPr>
        <p:spPr>
          <a:xfrm>
            <a:off x="9178290" y="1600200"/>
            <a:ext cx="2507742" cy="118872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infra</a:t>
            </a:r>
            <a:endParaRPr lang="en-US" sz="1300" dirty="0"/>
          </a:p>
        </p:txBody>
      </p:sp>
      <p:sp>
        <p:nvSpPr>
          <p:cNvPr id="15" name="Text 13"/>
          <p:cNvSpPr/>
          <p:nvPr/>
        </p:nvSpPr>
        <p:spPr>
          <a:xfrm>
            <a:off x="928801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logging + postgres + admin</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optional: RIC + E2 xApp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deploy this first</a:t>
            </a:r>
            <a:endParaRPr lang="en-US" sz="1050" dirty="0"/>
          </a:p>
        </p:txBody>
      </p:sp>
      <p:sp>
        <p:nvSpPr>
          <p:cNvPr id="16" name="Shape 14"/>
          <p:cNvSpPr/>
          <p:nvPr/>
        </p:nvSpPr>
        <p:spPr>
          <a:xfrm>
            <a:off x="3056382" y="2194560"/>
            <a:ext cx="292608" cy="0"/>
          </a:xfrm>
          <a:prstGeom prst="line">
            <a:avLst/>
          </a:prstGeom>
          <a:noFill/>
          <a:ln w="15875">
            <a:solidFill>
              <a:srgbClr val="444C52"/>
            </a:solidFill>
            <a:prstDash val="solid"/>
            <a:tailEnd type="triangle"/>
          </a:ln>
        </p:spPr>
      </p:sp>
      <p:sp>
        <p:nvSpPr>
          <p:cNvPr id="17" name="Shape 15"/>
          <p:cNvSpPr/>
          <p:nvPr/>
        </p:nvSpPr>
        <p:spPr>
          <a:xfrm>
            <a:off x="5948172" y="2194560"/>
            <a:ext cx="292608" cy="0"/>
          </a:xfrm>
          <a:prstGeom prst="line">
            <a:avLst/>
          </a:prstGeom>
          <a:noFill/>
          <a:ln w="15875">
            <a:solidFill>
              <a:srgbClr val="444C52"/>
            </a:solidFill>
            <a:prstDash val="solid"/>
            <a:tailEnd type="triangle"/>
          </a:ln>
        </p:spPr>
      </p:sp>
      <p:sp>
        <p:nvSpPr>
          <p:cNvPr id="18" name="Shape 16"/>
          <p:cNvSpPr/>
          <p:nvPr/>
        </p:nvSpPr>
        <p:spPr>
          <a:xfrm>
            <a:off x="8839962" y="2194560"/>
            <a:ext cx="292608" cy="0"/>
          </a:xfrm>
          <a:prstGeom prst="line">
            <a:avLst/>
          </a:prstGeom>
          <a:noFill/>
          <a:ln w="15875">
            <a:solidFill>
              <a:srgbClr val="444C52"/>
            </a:solidFill>
            <a:prstDash val="solid"/>
            <a:tailEnd type="triangle"/>
          </a:ln>
        </p:spPr>
      </p:sp>
      <p:sp>
        <p:nvSpPr>
          <p:cNvPr id="19" name="Shape 17"/>
          <p:cNvSpPr/>
          <p:nvPr/>
        </p:nvSpPr>
        <p:spPr>
          <a:xfrm>
            <a:off x="502920" y="2999232"/>
            <a:ext cx="11183112" cy="777240"/>
          </a:xfrm>
          <a:prstGeom prst="rect">
            <a:avLst/>
          </a:prstGeom>
          <a:solidFill>
            <a:srgbClr val="2B3136"/>
          </a:solidFill>
          <a:ln w="12700">
            <a:solidFill>
              <a:srgbClr val="2B3136"/>
            </a:solidFill>
            <a:prstDash val="solid"/>
          </a:ln>
        </p:spPr>
      </p:sp>
      <p:sp>
        <p:nvSpPr>
          <p:cNvPr id="20" name="Text 18"/>
          <p:cNvSpPr/>
          <p:nvPr/>
        </p:nvSpPr>
        <p:spPr>
          <a:xfrm>
            <a:off x="612648" y="3090672"/>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PTP grandmaster — management / backhaul LAN</a:t>
            </a:r>
            <a:endParaRPr lang="en-US" sz="1300" dirty="0"/>
          </a:p>
        </p:txBody>
      </p:sp>
      <p:sp>
        <p:nvSpPr>
          <p:cNvPr id="21" name="Text 19"/>
          <p:cNvSpPr/>
          <p:nvPr/>
        </p:nvSpPr>
        <p:spPr>
          <a:xfrm>
            <a:off x="612648" y="3383280"/>
            <a:ext cx="10963656" cy="30175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One grandmaster for every measuring host; the daemon varies. srsRAN and Open5GS implement no 5G-TSN, so the user plane carries no time sync.</a:t>
            </a:r>
            <a:endParaRPr lang="en-US" sz="1100" dirty="0"/>
          </a:p>
        </p:txBody>
      </p:sp>
      <p:sp>
        <p:nvSpPr>
          <p:cNvPr id="22" name="Text 20"/>
          <p:cNvSpPr/>
          <p:nvPr/>
        </p:nvSpPr>
        <p:spPr>
          <a:xfrm>
            <a:off x="502920" y="4005072"/>
            <a:ext cx="5394960" cy="219456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Deploy one role to one host:</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bash deploy/lab/deploy.sh infra ops@infra-host</a:t>
            </a:r>
            <a:endParaRPr lang="en-US" sz="1150" dirty="0"/>
          </a:p>
          <a:p>
            <a:pPr indent="0" marL="0">
              <a:lnSpc>
                <a:spcPct val="115000"/>
              </a:lnSpc>
              <a:buNone/>
            </a:pP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Start order: infra → edge → gnb → ue</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Everything posts to the logging service, and the UE dials the edge's router.</a:t>
            </a:r>
            <a:endParaRPr lang="en-US" sz="1150" dirty="0"/>
          </a:p>
        </p:txBody>
      </p:sp>
      <p:sp>
        <p:nvSpPr>
          <p:cNvPr id="23" name="Text 21"/>
          <p:cNvSpPr/>
          <p:nvPr/>
        </p:nvSpPr>
        <p:spPr>
          <a:xfrm>
            <a:off x="6291072" y="4005072"/>
            <a:ext cx="539496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UE dials out across the UPF — no multicast discovery is possible on a cellular user plane.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Each role mounts /dev/ptp0 so timestamps come from the disciplined hardware clock.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Every snapshot records ptp.reliable, so analysis can filter by clock health after the fact.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services — logging and admin</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first-party services on the edge host. Logging is where aggregated results land; admin is where runs are started and stopped.</a:t>
            </a:r>
            <a:endParaRPr lang="en-US" sz="1300" dirty="0"/>
          </a:p>
        </p:txBody>
      </p:sp>
      <p:sp>
        <p:nvSpPr>
          <p:cNvPr id="4" name="Shape 2"/>
          <p:cNvSpPr/>
          <p:nvPr/>
        </p:nvSpPr>
        <p:spPr>
          <a:xfrm>
            <a:off x="502920" y="1600200"/>
            <a:ext cx="5394960" cy="2286000"/>
          </a:xfrm>
          <a:prstGeom prst="rect">
            <a:avLst/>
          </a:prstGeom>
          <a:solidFill>
            <a:srgbClr val="F1F2F3"/>
          </a:solidFill>
          <a:ln w="12700">
            <a:solidFill>
              <a:srgbClr val="B9BDC0"/>
            </a:solidFill>
            <a:prstDash val="solid"/>
          </a:ln>
        </p:spPr>
      </p:sp>
      <p:sp>
        <p:nvSpPr>
          <p:cNvPr id="5" name="Text 3"/>
          <p:cNvSpPr/>
          <p:nvPr/>
        </p:nvSpPr>
        <p:spPr>
          <a:xfrm>
            <a:off x="612648"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HTTP API  (/api/v1)</a:t>
            </a:r>
            <a:endParaRPr lang="en-US" sz="1300" dirty="0"/>
          </a:p>
        </p:txBody>
      </p:sp>
      <p:sp>
        <p:nvSpPr>
          <p:cNvPr id="6" name="Text 4"/>
          <p:cNvSpPr/>
          <p:nvPr/>
        </p:nvSpPr>
        <p:spPr>
          <a:xfrm>
            <a:off x="612648"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POST /logs      one entry or a batch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/logs      filter by service, level, time, trace_id</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/stats     counts by level and service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/health/ready   503 when the database is down</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Batch insert is one round trip regardless of size: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INSERT … SELECT FROM unnest(…)</a:t>
            </a:r>
            <a:endParaRPr lang="en-US" sz="1100" dirty="0"/>
          </a:p>
        </p:txBody>
      </p:sp>
      <p:sp>
        <p:nvSpPr>
          <p:cNvPr id="7" name="Shape 5"/>
          <p:cNvSpPr/>
          <p:nvPr/>
        </p:nvSpPr>
        <p:spPr>
          <a:xfrm>
            <a:off x="6291072" y="1600200"/>
            <a:ext cx="5394960" cy="2286000"/>
          </a:xfrm>
          <a:prstGeom prst="rect">
            <a:avLst/>
          </a:prstGeom>
          <a:solidFill>
            <a:srgbClr val="F1F2F3"/>
          </a:solidFill>
          <a:ln w="12700">
            <a:solidFill>
              <a:srgbClr val="B9BDC0"/>
            </a:solidFill>
            <a:prstDash val="solid"/>
          </a:ln>
        </p:spPr>
      </p:sp>
      <p:sp>
        <p:nvSpPr>
          <p:cNvPr id="8" name="Text 6"/>
          <p:cNvSpPr/>
          <p:nvPr/>
        </p:nvSpPr>
        <p:spPr>
          <a:xfrm>
            <a:off x="6400800"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Data model — log_entries</a:t>
            </a:r>
            <a:endParaRPr lang="en-US" sz="1300" dirty="0"/>
          </a:p>
        </p:txBody>
      </p:sp>
      <p:sp>
        <p:nvSpPr>
          <p:cNvPr id="9" name="Text 7"/>
          <p:cNvSpPr/>
          <p:nvPr/>
        </p:nvSpPr>
        <p:spPr>
          <a:xfrm>
            <a:off x="6400800"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timestamp · level · service · host · logger · message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context   JSONB, GIN indexed — all metrics live 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trace_id  = RUN_ID, joins every component of one run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severity  numeric mirror of level, so min_level ranks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Keyset pagination on (timestamp, id) — a walk through a</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busy table never skips or duplicates rows.</a:t>
            </a:r>
            <a:endParaRPr lang="en-US" sz="1100" dirty="0"/>
          </a:p>
        </p:txBody>
      </p:sp>
      <p:sp>
        <p:nvSpPr>
          <p:cNvPr id="10" name="Shape 8"/>
          <p:cNvSpPr/>
          <p:nvPr/>
        </p:nvSpPr>
        <p:spPr>
          <a:xfrm>
            <a:off x="502920" y="4069080"/>
            <a:ext cx="5394960" cy="1371600"/>
          </a:xfrm>
          <a:prstGeom prst="rect">
            <a:avLst/>
          </a:prstGeom>
          <a:solidFill>
            <a:srgbClr val="F1F2F3"/>
          </a:solidFill>
          <a:ln w="12700">
            <a:solidFill>
              <a:srgbClr val="B9BDC0"/>
            </a:solidFill>
            <a:prstDash val="solid"/>
          </a:ln>
        </p:spPr>
      </p:sp>
      <p:sp>
        <p:nvSpPr>
          <p:cNvPr id="11" name="Text 9"/>
          <p:cNvSpPr/>
          <p:nvPr/>
        </p:nvSpPr>
        <p:spPr>
          <a:xfrm>
            <a:off x="612648"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Admin — run control plane  (:8099)</a:t>
            </a:r>
            <a:endParaRPr lang="en-US" sz="1300" dirty="0"/>
          </a:p>
        </p:txBody>
      </p:sp>
      <p:sp>
        <p:nvSpPr>
          <p:cNvPr id="12" name="Text 10"/>
          <p:cNvSpPr/>
          <p:nvPr/>
        </p:nvSpPr>
        <p:spPr>
          <a:xfrm>
            <a:off x="612648"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Nodes subscribe over WebSocket on startup and retry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30 s. Runs are created, started and stopped from a page;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state machine, keep-alive, and workflow diagnostics.</a:t>
            </a:r>
            <a:endParaRPr lang="en-US" sz="1100" dirty="0"/>
          </a:p>
        </p:txBody>
      </p:sp>
      <p:sp>
        <p:nvSpPr>
          <p:cNvPr id="13" name="Shape 11"/>
          <p:cNvSpPr/>
          <p:nvPr/>
        </p:nvSpPr>
        <p:spPr>
          <a:xfrm>
            <a:off x="6291072" y="4069080"/>
            <a:ext cx="5394960" cy="1371600"/>
          </a:xfrm>
          <a:prstGeom prst="rect">
            <a:avLst/>
          </a:prstGeom>
          <a:solidFill>
            <a:srgbClr val="F1F2F3"/>
          </a:solidFill>
          <a:ln w="12700">
            <a:solidFill>
              <a:srgbClr val="B9BDC0"/>
            </a:solidFill>
            <a:prstDash val="solid"/>
          </a:ln>
        </p:spPr>
      </p:sp>
      <p:sp>
        <p:nvSpPr>
          <p:cNvPr id="14" name="Text 12"/>
          <p:cNvSpPr/>
          <p:nvPr/>
        </p:nvSpPr>
        <p:spPr>
          <a:xfrm>
            <a:off x="6400800"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Operational posture — both</a:t>
            </a:r>
            <a:endParaRPr lang="en-US" sz="1300" dirty="0"/>
          </a:p>
        </p:txBody>
      </p:sp>
      <p:sp>
        <p:nvSpPr>
          <p:cNvPr id="15" name="Text 13"/>
          <p:cNvSpPr/>
          <p:nvPr/>
        </p:nvSpPr>
        <p:spPr>
          <a:xfrm>
            <a:off x="6400800"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 authentication on either — bind them to the management</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LAN only. Admin can start and stop experiments, so its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blast radius is wider than the log store's.</a:t>
            </a:r>
            <a:endParaRPr lang="en-US" sz="1100" dirty="0"/>
          </a:p>
        </p:txBody>
      </p:sp>
      <p:sp>
        <p:nvSpPr>
          <p:cNvPr id="16" name="Text 14"/>
          <p:cNvSpPr/>
          <p:nvPr/>
        </p:nvSpPr>
        <p:spPr>
          <a:xfrm>
            <a:off x="502920" y="562356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Per-frame samples do NOT go here — that firehose goes to CSV under runs/&lt;RUN_ID&gt;/. Logging holds 2-second aggregated snapshots; admin holds run manifests as files, no database, so the page still works when PostgreSQL is down.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ROS2 on the UE — client and renderer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nodes on the robot. Vanilla ROS2 application code; only the middleware underneath is unusual.</a:t>
            </a:r>
            <a:endParaRPr lang="en-US" sz="1300" dirty="0"/>
          </a:p>
        </p:txBody>
      </p:sp>
      <p:sp>
        <p:nvSpPr>
          <p:cNvPr id="4" name="Shape 2"/>
          <p:cNvSpPr/>
          <p:nvPr/>
        </p:nvSpPr>
        <p:spPr>
          <a:xfrm>
            <a:off x="502920" y="1600200"/>
            <a:ext cx="2590038" cy="1143000"/>
          </a:xfrm>
          <a:prstGeom prst="rect">
            <a:avLst/>
          </a:prstGeom>
          <a:solidFill>
            <a:srgbClr val="F1F2F3"/>
          </a:solidFill>
          <a:ln w="12700">
            <a:solidFill>
              <a:srgbClr val="B9BDC0"/>
            </a:solidFill>
            <a:prstDash val="solid"/>
          </a:ln>
        </p:spPr>
      </p:sp>
      <p:sp>
        <p:nvSpPr>
          <p:cNvPr id="5" name="Text 3"/>
          <p:cNvSpPr/>
          <p:nvPr/>
        </p:nvSpPr>
        <p:spPr>
          <a:xfrm>
            <a:off x="612648"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1 — generate</a:t>
            </a:r>
            <a:endParaRPr lang="en-US" sz="1300" dirty="0"/>
          </a:p>
        </p:txBody>
      </p:sp>
      <p:sp>
        <p:nvSpPr>
          <p:cNvPr id="6" name="Text 4"/>
          <p:cNvSpPr/>
          <p:nvPr/>
        </p:nvSpPr>
        <p:spPr>
          <a:xfrm>
            <a:off x="612648"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 cloud from a seed</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capture_ns stamped</a:t>
            </a:r>
            <a:endParaRPr lang="en-US" sz="1050" dirty="0"/>
          </a:p>
        </p:txBody>
      </p:sp>
      <p:sp>
        <p:nvSpPr>
          <p:cNvPr id="7" name="Shape 5"/>
          <p:cNvSpPr/>
          <p:nvPr/>
        </p:nvSpPr>
        <p:spPr>
          <a:xfrm>
            <a:off x="3367278" y="1600200"/>
            <a:ext cx="2590038" cy="1143000"/>
          </a:xfrm>
          <a:prstGeom prst="rect">
            <a:avLst/>
          </a:prstGeom>
          <a:solidFill>
            <a:srgbClr val="F1F2F3"/>
          </a:solidFill>
          <a:ln w="12700">
            <a:solidFill>
              <a:srgbClr val="B9BDC0"/>
            </a:solidFill>
            <a:prstDash val="solid"/>
          </a:ln>
        </p:spPr>
      </p:sp>
      <p:sp>
        <p:nvSpPr>
          <p:cNvPr id="8" name="Text 6"/>
          <p:cNvSpPr/>
          <p:nvPr/>
        </p:nvSpPr>
        <p:spPr>
          <a:xfrm>
            <a:off x="3477006"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2 — publish</a:t>
            </a:r>
            <a:endParaRPr lang="en-US" sz="1300" dirty="0"/>
          </a:p>
        </p:txBody>
      </p:sp>
      <p:sp>
        <p:nvSpPr>
          <p:cNvPr id="9" name="Text 7"/>
          <p:cNvSpPr/>
          <p:nvPr/>
        </p:nvSpPr>
        <p:spPr>
          <a:xfrm>
            <a:off x="3477006"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raw, or G-PCC coded</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send_ns stamped last</a:t>
            </a:r>
            <a:endParaRPr lang="en-US" sz="1050" dirty="0"/>
          </a:p>
        </p:txBody>
      </p:sp>
      <p:sp>
        <p:nvSpPr>
          <p:cNvPr id="10" name="Shape 8"/>
          <p:cNvSpPr/>
          <p:nvPr/>
        </p:nvSpPr>
        <p:spPr>
          <a:xfrm>
            <a:off x="6231636" y="1600200"/>
            <a:ext cx="2590038" cy="1143000"/>
          </a:xfrm>
          <a:prstGeom prst="rect">
            <a:avLst/>
          </a:prstGeom>
          <a:solidFill>
            <a:srgbClr val="F1F2F3"/>
          </a:solidFill>
          <a:ln w="12700">
            <a:solidFill>
              <a:srgbClr val="B9BDC0"/>
            </a:solidFill>
            <a:prstDash val="solid"/>
          </a:ln>
        </p:spPr>
      </p:sp>
      <p:sp>
        <p:nvSpPr>
          <p:cNvPr id="11" name="Text 9"/>
          <p:cNvSpPr/>
          <p:nvPr/>
        </p:nvSpPr>
        <p:spPr>
          <a:xfrm>
            <a:off x="6341364"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3 — record</a:t>
            </a:r>
            <a:endParaRPr lang="en-US" sz="1300" dirty="0"/>
          </a:p>
        </p:txBody>
      </p:sp>
      <p:sp>
        <p:nvSpPr>
          <p:cNvPr id="12" name="Text 10"/>
          <p:cNvSpPr/>
          <p:nvPr/>
        </p:nvSpPr>
        <p:spPr>
          <a:xfrm>
            <a:off x="6341364"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sender-side CSV</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snapshots to logging</a:t>
            </a:r>
            <a:endParaRPr lang="en-US" sz="1050" dirty="0"/>
          </a:p>
        </p:txBody>
      </p:sp>
      <p:sp>
        <p:nvSpPr>
          <p:cNvPr id="13" name="Shape 11"/>
          <p:cNvSpPr/>
          <p:nvPr/>
        </p:nvSpPr>
        <p:spPr>
          <a:xfrm>
            <a:off x="9095994" y="1600200"/>
            <a:ext cx="2590038" cy="1143000"/>
          </a:xfrm>
          <a:prstGeom prst="rect">
            <a:avLst/>
          </a:prstGeom>
          <a:solidFill>
            <a:srgbClr val="F1F2F3"/>
          </a:solidFill>
          <a:ln w="12700">
            <a:solidFill>
              <a:srgbClr val="B9BDC0"/>
            </a:solidFill>
            <a:prstDash val="solid"/>
          </a:ln>
        </p:spPr>
      </p:sp>
      <p:sp>
        <p:nvSpPr>
          <p:cNvPr id="14" name="Text 12"/>
          <p:cNvSpPr/>
          <p:nvPr/>
        </p:nvSpPr>
        <p:spPr>
          <a:xfrm>
            <a:off x="9205722"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4 — render</a:t>
            </a:r>
            <a:endParaRPr lang="en-US" sz="1300" dirty="0"/>
          </a:p>
        </p:txBody>
      </p:sp>
      <p:sp>
        <p:nvSpPr>
          <p:cNvPr id="15" name="Text 13"/>
          <p:cNvSpPr/>
          <p:nvPr/>
        </p:nvSpPr>
        <p:spPr>
          <a:xfrm>
            <a:off x="9205722"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mec_cast/result from the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process_done_ns stamped</a:t>
            </a:r>
            <a:endParaRPr lang="en-US" sz="1050" dirty="0"/>
          </a:p>
        </p:txBody>
      </p:sp>
      <p:sp>
        <p:nvSpPr>
          <p:cNvPr id="16" name="Shape 14"/>
          <p:cNvSpPr/>
          <p:nvPr/>
        </p:nvSpPr>
        <p:spPr>
          <a:xfrm>
            <a:off x="3120390" y="2171700"/>
            <a:ext cx="219456" cy="0"/>
          </a:xfrm>
          <a:prstGeom prst="line">
            <a:avLst/>
          </a:prstGeom>
          <a:noFill/>
          <a:ln w="15875">
            <a:solidFill>
              <a:srgbClr val="444C52"/>
            </a:solidFill>
            <a:prstDash val="solid"/>
            <a:tailEnd type="triangle"/>
          </a:ln>
        </p:spPr>
      </p:sp>
      <p:sp>
        <p:nvSpPr>
          <p:cNvPr id="17" name="Shape 15"/>
          <p:cNvSpPr/>
          <p:nvPr/>
        </p:nvSpPr>
        <p:spPr>
          <a:xfrm>
            <a:off x="5984748" y="2171700"/>
            <a:ext cx="219456" cy="0"/>
          </a:xfrm>
          <a:prstGeom prst="line">
            <a:avLst/>
          </a:prstGeom>
          <a:noFill/>
          <a:ln w="15875">
            <a:solidFill>
              <a:srgbClr val="444C52"/>
            </a:solidFill>
            <a:prstDash val="solid"/>
            <a:tailEnd type="triangle"/>
          </a:ln>
        </p:spPr>
      </p:sp>
      <p:sp>
        <p:nvSpPr>
          <p:cNvPr id="18" name="Shape 16"/>
          <p:cNvSpPr/>
          <p:nvPr/>
        </p:nvSpPr>
        <p:spPr>
          <a:xfrm>
            <a:off x="8849106" y="2171700"/>
            <a:ext cx="219456" cy="0"/>
          </a:xfrm>
          <a:prstGeom prst="line">
            <a:avLst/>
          </a:prstGeom>
          <a:noFill/>
          <a:ln w="15875">
            <a:solidFill>
              <a:srgbClr val="444C52"/>
            </a:solidFill>
            <a:prstDash val="solid"/>
            <a:tailEnd type="triangle"/>
          </a:ln>
        </p:spPr>
      </p:sp>
      <p:sp>
        <p:nvSpPr>
          <p:cNvPr id="19" name="Shape 17"/>
          <p:cNvSpPr/>
          <p:nvPr/>
        </p:nvSpPr>
        <p:spPr>
          <a:xfrm>
            <a:off x="502920" y="2880360"/>
            <a:ext cx="5394960" cy="178308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Test vectors are a controlled variable</a:t>
            </a:r>
            <a:endParaRPr lang="en-US" sz="1300" dirty="0"/>
          </a:p>
        </p:txBody>
      </p:sp>
      <p:sp>
        <p:nvSpPr>
          <p:cNvPr id="21" name="Text 19"/>
          <p:cNvSpPr/>
          <p:nvPr/>
        </p:nvSpPr>
        <p:spPr>
          <a:xfrm>
            <a:off x="612648" y="3264408"/>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seed         42            reproducible contents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num_points   5000          payload size — the main sweep</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rate_hz      10.0          publish rate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pattern      lidar_scan    ten shapes: cube, sphere,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torus, helix, wireframe, swarm…</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1.4x to 23.5x voxel compression,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which sets the return payload too</a:t>
            </a:r>
            <a:endParaRPr lang="en-US" sz="1100" dirty="0"/>
          </a:p>
        </p:txBody>
      </p:sp>
      <p:sp>
        <p:nvSpPr>
          <p:cNvPr id="22" name="Text 20"/>
          <p:cNvSpPr/>
          <p:nvPr/>
        </p:nvSpPr>
        <p:spPr>
          <a:xfrm>
            <a:off x="6355080" y="2880360"/>
            <a:ext cx="5330952" cy="17830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timing envelope rides in-band as a message field, because rclpy exposes no per-publish attachments on either middleware.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renderer is optional and off by default, so the one-way path stays byte-for-byte comparable with campaigns recorded before it existed.</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With codec=gpcc both legs travel G-PCC coded: encoding counts in the sender delay, decoding in processing (ADR-0014).</a:t>
            </a:r>
            <a:endParaRPr lang="en-US" sz="1150" dirty="0"/>
          </a:p>
        </p:txBody>
      </p:sp>
      <p:sp>
        <p:nvSpPr>
          <p:cNvPr id="23" name="Text 21"/>
          <p:cNvSpPr/>
          <p:nvPr/>
        </p:nvSpPr>
        <p:spPr>
          <a:xfrm>
            <a:off x="502920" y="493776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Both stamps that bound the round trip are taken on this host: capture_ns by the client, process_done_ns by the renderer, off one CLOCK_REALTIME. That makes the renderer's e2e_ns the only end-to-end latency figure in the platform that owes nothing to PTP discipline, and an independent check on the clock offset the one-way metrics depend on.</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 mec_cast_edge</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Runs on the MEC application server. The first line of the callback is a timestamp; everything else follows from it.</a:t>
            </a:r>
            <a:endParaRPr lang="en-US" sz="1300" dirty="0"/>
          </a:p>
        </p:txBody>
      </p:sp>
      <p:sp>
        <p:nvSpPr>
          <p:cNvPr id="4" name="Shape 2"/>
          <p:cNvSpPr/>
          <p:nvPr/>
        </p:nvSpPr>
        <p:spPr>
          <a:xfrm>
            <a:off x="502920" y="1600200"/>
            <a:ext cx="2606040" cy="1143000"/>
          </a:xfrm>
          <a:prstGeom prst="rect">
            <a:avLst/>
          </a:prstGeom>
          <a:solidFill>
            <a:srgbClr val="F1F2F3"/>
          </a:solidFill>
          <a:ln w="12700">
            <a:solidFill>
              <a:srgbClr val="B9BDC0"/>
            </a:solidFill>
            <a:prstDash val="solid"/>
          </a:ln>
        </p:spPr>
      </p:sp>
      <p:sp>
        <p:nvSpPr>
          <p:cNvPr id="5" name="Text 3"/>
          <p:cNvSpPr/>
          <p:nvPr/>
        </p:nvSpPr>
        <p:spPr>
          <a:xfrm>
            <a:off x="61264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recv_ns</a:t>
            </a:r>
            <a:endParaRPr lang="en-US" sz="1300" dirty="0"/>
          </a:p>
        </p:txBody>
      </p:sp>
      <p:sp>
        <p:nvSpPr>
          <p:cNvPr id="6" name="Text 4"/>
          <p:cNvSpPr/>
          <p:nvPr/>
        </p:nvSpPr>
        <p:spPr>
          <a:xfrm>
            <a:off x="61264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on arrival</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before any work</a:t>
            </a:r>
            <a:endParaRPr lang="en-US" sz="1050" dirty="0"/>
          </a:p>
        </p:txBody>
      </p:sp>
      <p:sp>
        <p:nvSpPr>
          <p:cNvPr id="7" name="Shape 5"/>
          <p:cNvSpPr/>
          <p:nvPr/>
        </p:nvSpPr>
        <p:spPr>
          <a:xfrm>
            <a:off x="3566160" y="1600200"/>
            <a:ext cx="2606040" cy="1143000"/>
          </a:xfrm>
          <a:prstGeom prst="rect">
            <a:avLst/>
          </a:prstGeom>
          <a:solidFill>
            <a:srgbClr val="F1F2F3"/>
          </a:solidFill>
          <a:ln w="12700">
            <a:solidFill>
              <a:srgbClr val="B9BDC0"/>
            </a:solidFill>
            <a:prstDash val="solid"/>
          </a:ln>
        </p:spPr>
      </p:sp>
      <p:sp>
        <p:nvSpPr>
          <p:cNvPr id="8" name="Text 6"/>
          <p:cNvSpPr/>
          <p:nvPr/>
        </p:nvSpPr>
        <p:spPr>
          <a:xfrm>
            <a:off x="367588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a:t>
            </a:r>
            <a:endParaRPr lang="en-US" sz="1300" dirty="0"/>
          </a:p>
        </p:txBody>
      </p:sp>
      <p:sp>
        <p:nvSpPr>
          <p:cNvPr id="9" name="Text 7"/>
          <p:cNvSpPr/>
          <p:nvPr/>
        </p:nvSpPr>
        <p:spPr>
          <a:xfrm>
            <a:off x="367588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decode, if G-PCC coded</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centroid + voxel count</a:t>
            </a:r>
            <a:endParaRPr lang="en-US" sz="1050" dirty="0"/>
          </a:p>
        </p:txBody>
      </p:sp>
      <p:sp>
        <p:nvSpPr>
          <p:cNvPr id="10" name="Shape 8"/>
          <p:cNvSpPr/>
          <p:nvPr/>
        </p:nvSpPr>
        <p:spPr>
          <a:xfrm>
            <a:off x="6629400" y="1600200"/>
            <a:ext cx="2606040" cy="1143000"/>
          </a:xfrm>
          <a:prstGeom prst="rect">
            <a:avLst/>
          </a:prstGeom>
          <a:solidFill>
            <a:srgbClr val="F1F2F3"/>
          </a:solidFill>
          <a:ln w="12700">
            <a:solidFill>
              <a:srgbClr val="B9BDC0"/>
            </a:solidFill>
            <a:prstDash val="solid"/>
          </a:ln>
        </p:spPr>
      </p:sp>
      <p:sp>
        <p:nvSpPr>
          <p:cNvPr id="11" name="Text 9"/>
          <p:cNvSpPr/>
          <p:nvPr/>
        </p:nvSpPr>
        <p:spPr>
          <a:xfrm>
            <a:off x="673912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process_done_ns</a:t>
            </a:r>
            <a:endParaRPr lang="en-US" sz="1300" dirty="0"/>
          </a:p>
        </p:txBody>
      </p:sp>
      <p:sp>
        <p:nvSpPr>
          <p:cNvPr id="12" name="Text 10"/>
          <p:cNvSpPr/>
          <p:nvPr/>
        </p:nvSpPr>
        <p:spPr>
          <a:xfrm>
            <a:off x="673912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after work</a:t>
            </a:r>
            <a:endParaRPr lang="en-US" sz="1050" dirty="0"/>
          </a:p>
        </p:txBody>
      </p:sp>
      <p:sp>
        <p:nvSpPr>
          <p:cNvPr id="13" name="Shape 11"/>
          <p:cNvSpPr/>
          <p:nvPr/>
        </p:nvSpPr>
        <p:spPr>
          <a:xfrm>
            <a:off x="9692640" y="1600200"/>
            <a:ext cx="1993392" cy="1143000"/>
          </a:xfrm>
          <a:prstGeom prst="rect">
            <a:avLst/>
          </a:prstGeom>
          <a:solidFill>
            <a:srgbClr val="F1F2F3"/>
          </a:solidFill>
          <a:ln w="12700">
            <a:solidFill>
              <a:srgbClr val="B9BDC0"/>
            </a:solidFill>
            <a:prstDash val="solid"/>
          </a:ln>
        </p:spPr>
      </p:sp>
      <p:sp>
        <p:nvSpPr>
          <p:cNvPr id="14" name="Text 12"/>
          <p:cNvSpPr/>
          <p:nvPr/>
        </p:nvSpPr>
        <p:spPr>
          <a:xfrm>
            <a:off x="9802368" y="1691640"/>
            <a:ext cx="17739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record</a:t>
            </a:r>
            <a:endParaRPr lang="en-US" sz="1300" dirty="0"/>
          </a:p>
        </p:txBody>
      </p:sp>
      <p:sp>
        <p:nvSpPr>
          <p:cNvPr id="15" name="Text 13"/>
          <p:cNvSpPr/>
          <p:nvPr/>
        </p:nvSpPr>
        <p:spPr>
          <a:xfrm>
            <a:off x="9802368" y="1984248"/>
            <a:ext cx="1773936"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CSV + snapshot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then optionally reply</a:t>
            </a:r>
            <a:endParaRPr lang="en-US" sz="1050" dirty="0"/>
          </a:p>
        </p:txBody>
      </p:sp>
      <p:sp>
        <p:nvSpPr>
          <p:cNvPr id="16" name="Shape 14"/>
          <p:cNvSpPr/>
          <p:nvPr/>
        </p:nvSpPr>
        <p:spPr>
          <a:xfrm>
            <a:off x="3163824" y="2171700"/>
            <a:ext cx="347472" cy="0"/>
          </a:xfrm>
          <a:prstGeom prst="line">
            <a:avLst/>
          </a:prstGeom>
          <a:noFill/>
          <a:ln w="15875">
            <a:solidFill>
              <a:srgbClr val="444C52"/>
            </a:solidFill>
            <a:prstDash val="solid"/>
            <a:tailEnd type="triangle"/>
          </a:ln>
        </p:spPr>
      </p:sp>
      <p:sp>
        <p:nvSpPr>
          <p:cNvPr id="17" name="Shape 15"/>
          <p:cNvSpPr/>
          <p:nvPr/>
        </p:nvSpPr>
        <p:spPr>
          <a:xfrm>
            <a:off x="6227064" y="2171700"/>
            <a:ext cx="347472" cy="0"/>
          </a:xfrm>
          <a:prstGeom prst="line">
            <a:avLst/>
          </a:prstGeom>
          <a:noFill/>
          <a:ln w="15875">
            <a:solidFill>
              <a:srgbClr val="444C52"/>
            </a:solidFill>
            <a:prstDash val="solid"/>
            <a:tailEnd type="triangle"/>
          </a:ln>
        </p:spPr>
      </p:sp>
      <p:sp>
        <p:nvSpPr>
          <p:cNvPr id="18" name="Shape 16"/>
          <p:cNvSpPr/>
          <p:nvPr/>
        </p:nvSpPr>
        <p:spPr>
          <a:xfrm>
            <a:off x="9290304" y="2171700"/>
            <a:ext cx="347472" cy="0"/>
          </a:xfrm>
          <a:prstGeom prst="line">
            <a:avLst/>
          </a:prstGeom>
          <a:noFill/>
          <a:ln w="15875">
            <a:solidFill>
              <a:srgbClr val="444C52"/>
            </a:solidFill>
            <a:prstDash val="solid"/>
            <a:tailEnd type="triangle"/>
          </a:ln>
        </p:spPr>
      </p:sp>
      <p:sp>
        <p:nvSpPr>
          <p:cNvPr id="19" name="Shape 17"/>
          <p:cNvSpPr/>
          <p:nvPr/>
        </p:nvSpPr>
        <p:spPr>
          <a:xfrm>
            <a:off x="502920" y="2880360"/>
            <a:ext cx="5394960" cy="18288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Derived per sample</a:t>
            </a:r>
            <a:endParaRPr lang="en-US" sz="1300" dirty="0"/>
          </a:p>
        </p:txBody>
      </p:sp>
      <p:sp>
        <p:nvSpPr>
          <p:cNvPr id="21" name="Text 19"/>
          <p:cNvSpPr/>
          <p:nvPr/>
        </p:nvSpPr>
        <p:spPr>
          <a:xfrm>
            <a:off x="612648" y="3264408"/>
            <a:ext cx="5175504" cy="13533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network      = recv_ns − send_ns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e2e          = process_done_ns − capture_ns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processing   = process_done_ns − recv_ns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sender       = send_ns − capture_ns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Statistics: Welford mean and stddev, exact windowed percentiles.</a:t>
            </a:r>
            <a:endParaRPr lang="en-US" sz="1100" dirty="0"/>
          </a:p>
        </p:txBody>
      </p:sp>
      <p:sp>
        <p:nvSpPr>
          <p:cNvPr id="22" name="Text 20"/>
          <p:cNvSpPr/>
          <p:nvPr/>
        </p:nvSpPr>
        <p:spPr>
          <a:xfrm>
            <a:off x="6355080" y="2880360"/>
            <a:ext cx="5330952" cy="18288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hot path never blocks: samples go into a bounded lock-free ring, and a writer thread drains it.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full ring drops the sample and counts it — dropping is always preferable to perturbing the measurement.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separate uploader thread posts snapshots, so a stalled logging service cannot stall CSV writing.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With publish_result on, the voxel cloud already computed goes back to the UE on mec_cast/result, or coded losslessly on mec_cast/result_gpcc — after record(), so the edge's own sample is never delayed for the renderer's benefit.</a:t>
            </a:r>
            <a:endParaRPr lang="en-US" sz="1150" dirty="0"/>
          </a:p>
        </p:txBody>
      </p:sp>
      <p:sp>
        <p:nvSpPr>
          <p:cNvPr id="23" name="Text 21"/>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Percentiles are exact over a sliding window, computed by sorting a copy off the hot path — not a streaming estimator. P² was rejected because its error is unbounded on multimodal distributions, and 5G latency under HARQ retransmission is exactly that.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Middleware — Zenoh or Fast DDS</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Chosen at deployment, the same on every host. The application stays vanilla ROS2; only the RMW swaps.</a:t>
            </a:r>
            <a:endParaRPr lang="en-US" sz="1300" dirty="0"/>
          </a:p>
        </p:txBody>
      </p:sp>
      <p:sp>
        <p:nvSpPr>
          <p:cNvPr id="4" name="Shape 2"/>
          <p:cNvSpPr/>
          <p:nvPr/>
        </p:nvSpPr>
        <p:spPr>
          <a:xfrm>
            <a:off x="502920" y="1600200"/>
            <a:ext cx="3108960" cy="109728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nodes</a:t>
            </a:r>
            <a:endParaRPr lang="en-US" sz="1300" dirty="0"/>
          </a:p>
        </p:txBody>
      </p:sp>
      <p:sp>
        <p:nvSpPr>
          <p:cNvPr id="6" name="Text 4"/>
          <p:cNvSpPr/>
          <p:nvPr/>
        </p:nvSpPr>
        <p:spPr>
          <a:xfrm>
            <a:off x="612648" y="1984248"/>
            <a:ext cx="288950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dial OUT to the edge host</a:t>
            </a:r>
            <a:endParaRPr lang="en-US" sz="1050" dirty="0"/>
          </a:p>
        </p:txBody>
      </p:sp>
      <p:sp>
        <p:nvSpPr>
          <p:cNvPr id="7" name="Shape 5"/>
          <p:cNvSpPr/>
          <p:nvPr/>
        </p:nvSpPr>
        <p:spPr>
          <a:xfrm>
            <a:off x="4069080" y="1600200"/>
            <a:ext cx="3931920" cy="1097280"/>
          </a:xfrm>
          <a:prstGeom prst="rect">
            <a:avLst/>
          </a:prstGeom>
          <a:solidFill>
            <a:srgbClr val="F1F2F3"/>
          </a:solidFill>
          <a:ln w="12700">
            <a:solidFill>
              <a:srgbClr val="B9BDC0"/>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centre on the edge host</a:t>
            </a:r>
            <a:endParaRPr lang="en-US" sz="1300" dirty="0"/>
          </a:p>
        </p:txBody>
      </p:sp>
      <p:sp>
        <p:nvSpPr>
          <p:cNvPr id="9" name="Text 7"/>
          <p:cNvSpPr/>
          <p:nvPr/>
        </p:nvSpPr>
        <p:spPr>
          <a:xfrm>
            <a:off x="4178808" y="1984248"/>
            <a:ext cx="371246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 router, or Fast DDS Discovery Server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unicast only — no multicast anywhere</a:t>
            </a:r>
            <a:endParaRPr lang="en-US" sz="1050" dirty="0"/>
          </a:p>
        </p:txBody>
      </p:sp>
      <p:sp>
        <p:nvSpPr>
          <p:cNvPr id="10" name="Shape 8"/>
          <p:cNvSpPr/>
          <p:nvPr/>
        </p:nvSpPr>
        <p:spPr>
          <a:xfrm>
            <a:off x="8458200" y="1600200"/>
            <a:ext cx="3227832" cy="109728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 node</a:t>
            </a:r>
            <a:endParaRPr lang="en-US" sz="1300" dirty="0"/>
          </a:p>
        </p:txBody>
      </p:sp>
      <p:sp>
        <p:nvSpPr>
          <p:cNvPr id="12" name="Text 10"/>
          <p:cNvSpPr/>
          <p:nvPr/>
        </p:nvSpPr>
        <p:spPr>
          <a:xfrm>
            <a:off x="8567928" y="1984248"/>
            <a:ext cx="3008376"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subscribes; same topics, same QoS</a:t>
            </a:r>
            <a:endParaRPr lang="en-US" sz="1050" dirty="0"/>
          </a:p>
        </p:txBody>
      </p:sp>
      <p:sp>
        <p:nvSpPr>
          <p:cNvPr id="13" name="Shape 11"/>
          <p:cNvSpPr/>
          <p:nvPr/>
        </p:nvSpPr>
        <p:spPr>
          <a:xfrm>
            <a:off x="3666744" y="2148840"/>
            <a:ext cx="347472" cy="0"/>
          </a:xfrm>
          <a:prstGeom prst="line">
            <a:avLst/>
          </a:prstGeom>
          <a:noFill/>
          <a:ln w="15875">
            <a:solidFill>
              <a:srgbClr val="444C52"/>
            </a:solidFill>
            <a:prstDash val="solid"/>
            <a:tailEnd type="triangle"/>
          </a:ln>
        </p:spPr>
      </p:sp>
      <p:sp>
        <p:nvSpPr>
          <p:cNvPr id="14" name="Shape 12"/>
          <p:cNvSpPr/>
          <p:nvPr/>
        </p:nvSpPr>
        <p:spPr>
          <a:xfrm>
            <a:off x="8055864" y="2148840"/>
            <a:ext cx="347472" cy="0"/>
          </a:xfrm>
          <a:prstGeom prst="line">
            <a:avLst/>
          </a:prstGeom>
          <a:noFill/>
          <a:ln w="15875">
            <a:solidFill>
              <a:srgbClr val="444C52"/>
            </a:solidFill>
            <a:prstDash val="solid"/>
            <a:tailEnd type="triangle"/>
          </a:ln>
        </p:spPr>
      </p:sp>
      <p:sp>
        <p:nvSpPr>
          <p:cNvPr id="15" name="Shape 13"/>
          <p:cNvSpPr/>
          <p:nvPr/>
        </p:nvSpPr>
        <p:spPr>
          <a:xfrm>
            <a:off x="502920" y="2926080"/>
            <a:ext cx="3566160" cy="2148840"/>
          </a:xfrm>
          <a:prstGeom prst="rect">
            <a:avLst/>
          </a:prstGeom>
          <a:solidFill>
            <a:srgbClr val="F1F2F3"/>
          </a:solidFill>
          <a:ln w="12700">
            <a:solidFill>
              <a:srgbClr val="B9BDC0"/>
            </a:solidFill>
            <a:prstDash val="solid"/>
          </a:ln>
        </p:spPr>
      </p:sp>
      <p:sp>
        <p:nvSpPr>
          <p:cNvPr id="16" name="Text 14"/>
          <p:cNvSpPr/>
          <p:nvPr/>
        </p:nvSpPr>
        <p:spPr>
          <a:xfrm>
            <a:off x="61264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Concern on a 5G link</a:t>
            </a:r>
            <a:endParaRPr lang="en-US" sz="1300" dirty="0"/>
          </a:p>
        </p:txBody>
      </p:sp>
      <p:sp>
        <p:nvSpPr>
          <p:cNvPr id="17" name="Text 15"/>
          <p:cNvSpPr/>
          <p:nvPr/>
        </p:nvSpPr>
        <p:spPr>
          <a:xfrm>
            <a:off x="612648" y="3310128"/>
            <a:ext cx="3346704" cy="1673352"/>
          </a:xfrm>
          <a:prstGeom prst="rect">
            <a:avLst/>
          </a:prstGeom>
          <a:noFill/>
          <a:ln/>
        </p:spPr>
        <p:txBody>
          <a:bodyPr wrap="square" lIns="0" tIns="0" rIns="0" bIns="0" rtlCol="0" anchor="t"/>
          <a:lstStyle/>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Links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Discovery across the UPF</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Data path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NAT at the UPF</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Staying on the 5G link</a:t>
            </a:r>
            <a:endParaRPr lang="en-US" sz="1100" dirty="0"/>
          </a:p>
        </p:txBody>
      </p:sp>
      <p:sp>
        <p:nvSpPr>
          <p:cNvPr id="18" name="Shape 16"/>
          <p:cNvSpPr/>
          <p:nvPr/>
        </p:nvSpPr>
        <p:spPr>
          <a:xfrm>
            <a:off x="4297680" y="2926080"/>
            <a:ext cx="3566160" cy="2148840"/>
          </a:xfrm>
          <a:prstGeom prst="rect">
            <a:avLst/>
          </a:prstGeom>
          <a:solidFill>
            <a:srgbClr val="F1F2F3"/>
          </a:solidFill>
          <a:ln w="12700">
            <a:solidFill>
              <a:srgbClr val="B9BDC0"/>
            </a:solidFill>
            <a:prstDash val="solid"/>
          </a:ln>
        </p:spPr>
      </p:sp>
      <p:sp>
        <p:nvSpPr>
          <p:cNvPr id="19" name="Text 17"/>
          <p:cNvSpPr/>
          <p:nvPr/>
        </p:nvSpPr>
        <p:spPr>
          <a:xfrm>
            <a:off x="440740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 — MIDDLEWARE=zenoh</a:t>
            </a:r>
            <a:endParaRPr lang="en-US" sz="1300" dirty="0"/>
          </a:p>
        </p:txBody>
      </p:sp>
      <p:sp>
        <p:nvSpPr>
          <p:cNvPr id="20" name="Text 18"/>
          <p:cNvSpPr/>
          <p:nvPr/>
        </p:nvSpPr>
        <p:spPr>
          <a:xfrm>
            <a:off x="4407408" y="3310128"/>
            <a:ext cx="3346704"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tcp :7448 (default) · quic :7449</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clients of the router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router relays every sample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traversed: the UE dials out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a client dials one address</a:t>
            </a:r>
            <a:endParaRPr lang="en-US" sz="1050" dirty="0"/>
          </a:p>
        </p:txBody>
      </p:sp>
      <p:sp>
        <p:nvSpPr>
          <p:cNvPr id="21" name="Shape 19"/>
          <p:cNvSpPr/>
          <p:nvPr/>
        </p:nvSpPr>
        <p:spPr>
          <a:xfrm>
            <a:off x="8092440" y="2926080"/>
            <a:ext cx="3593592" cy="2148840"/>
          </a:xfrm>
          <a:prstGeom prst="rect">
            <a:avLst/>
          </a:prstGeom>
          <a:solidFill>
            <a:srgbClr val="F1F2F3"/>
          </a:solidFill>
          <a:ln w="12700">
            <a:solidFill>
              <a:srgbClr val="B9BDC0"/>
            </a:solidFill>
            <a:prstDash val="solid"/>
          </a:ln>
        </p:spPr>
      </p:sp>
      <p:sp>
        <p:nvSpPr>
          <p:cNvPr id="22" name="Text 20"/>
          <p:cNvSpPr/>
          <p:nvPr/>
        </p:nvSpPr>
        <p:spPr>
          <a:xfrm>
            <a:off x="8202168" y="3017520"/>
            <a:ext cx="33741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Fast DDS — MIDDLEWARE=dds</a:t>
            </a:r>
            <a:endParaRPr lang="en-US" sz="1300" dirty="0"/>
          </a:p>
        </p:txBody>
      </p:sp>
      <p:sp>
        <p:nvSpPr>
          <p:cNvPr id="23" name="Text 21"/>
          <p:cNvSpPr/>
          <p:nvPr/>
        </p:nvSpPr>
        <p:spPr>
          <a:xfrm>
            <a:off x="8202168" y="3310128"/>
            <a:ext cx="3374136"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udp (default) · tcp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Discovery Server :11811, never SPDP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peer to peer RTPS, udp 7400+ or tcp :7410</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udp needs a routable UE; tcp dials out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DDS_INTERFACES pins the interfaces</a:t>
            </a:r>
            <a:endParaRPr lang="en-US" sz="1050" dirty="0"/>
          </a:p>
        </p:txBody>
      </p:sp>
      <p:sp>
        <p:nvSpPr>
          <p:cNvPr id="24" name="Text 22"/>
          <p:cNvSpPr/>
          <p:nvPr/>
        </p:nvSpPr>
        <p:spPr>
          <a:xfrm>
            <a:off x="502920" y="5257800"/>
            <a:ext cx="11183112" cy="109728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One knob per deployment (ADR-0013). The image's entrypoint configures the RMW; the nodes never name one. Each node reports what it runs, the admin shows it per zone and flags a mix, and run.json records it — so Zenoh versus DDS over 5G is a recorded factor of every run, not a rebuild.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WebRTC, current model</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The platform's second transport profile: real-time media over WebRTC, measured with the same telemetry spine.</a:t>
            </a:r>
            <a:endParaRPr lang="en-US" sz="1300" dirty="0"/>
          </a:p>
        </p:txBody>
      </p:sp>
      <p:sp>
        <p:nvSpPr>
          <p:cNvPr id="4" name="Shape 2"/>
          <p:cNvSpPr/>
          <p:nvPr/>
        </p:nvSpPr>
        <p:spPr>
          <a:xfrm>
            <a:off x="502920" y="1600200"/>
            <a:ext cx="3429000" cy="1188720"/>
          </a:xfrm>
          <a:prstGeom prst="rect">
            <a:avLst/>
          </a:prstGeom>
          <a:solidFill>
            <a:srgbClr val="F1F2F3"/>
          </a:solidFill>
          <a:ln w="12700">
            <a:solidFill>
              <a:srgbClr val="B9BDC0"/>
            </a:solidFill>
            <a:prstDash val="solid"/>
          </a:ln>
        </p:spPr>
      </p:sp>
      <p:sp>
        <p:nvSpPr>
          <p:cNvPr id="5" name="Text 3"/>
          <p:cNvSpPr/>
          <p:nvPr/>
        </p:nvSpPr>
        <p:spPr>
          <a:xfrm>
            <a:off x="6126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Native client</a:t>
            </a:r>
            <a:endParaRPr lang="en-US" sz="1300" dirty="0"/>
          </a:p>
        </p:txBody>
      </p:sp>
      <p:sp>
        <p:nvSpPr>
          <p:cNvPr id="6" name="Text 4"/>
          <p:cNvSpPr/>
          <p:nvPr/>
        </p:nvSpPr>
        <p:spPr>
          <a:xfrm>
            <a:off x="6126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Node.js console app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 N-API addon</a:t>
            </a:r>
            <a:endParaRPr lang="en-US" sz="1050" dirty="0"/>
          </a:p>
        </p:txBody>
      </p:sp>
      <p:sp>
        <p:nvSpPr>
          <p:cNvPr id="7" name="Shape 5"/>
          <p:cNvSpPr/>
          <p:nvPr/>
        </p:nvSpPr>
        <p:spPr>
          <a:xfrm>
            <a:off x="4389120" y="1600200"/>
            <a:ext cx="3429000" cy="1188720"/>
          </a:xfrm>
          <a:prstGeom prst="rect">
            <a:avLst/>
          </a:prstGeom>
          <a:solidFill>
            <a:srgbClr val="F1F2F3"/>
          </a:solidFill>
          <a:ln w="12700">
            <a:solidFill>
              <a:srgbClr val="B9BDC0"/>
            </a:solidFill>
            <a:prstDash val="solid"/>
          </a:ln>
        </p:spPr>
      </p:sp>
      <p:sp>
        <p:nvSpPr>
          <p:cNvPr id="8" name="Text 6"/>
          <p:cNvSpPr/>
          <p:nvPr/>
        </p:nvSpPr>
        <p:spPr>
          <a:xfrm>
            <a:off x="44988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Signaling server</a:t>
            </a:r>
            <a:endParaRPr lang="en-US" sz="1300" dirty="0"/>
          </a:p>
        </p:txBody>
      </p:sp>
      <p:sp>
        <p:nvSpPr>
          <p:cNvPr id="9" name="Text 7"/>
          <p:cNvSpPr/>
          <p:nvPr/>
        </p:nvSpPr>
        <p:spPr>
          <a:xfrm>
            <a:off x="44988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WebSocket, JSON</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offer / answer / ICE</a:t>
            </a:r>
            <a:endParaRPr lang="en-US" sz="1050" dirty="0"/>
          </a:p>
        </p:txBody>
      </p:sp>
      <p:sp>
        <p:nvSpPr>
          <p:cNvPr id="10" name="Shape 8"/>
          <p:cNvSpPr/>
          <p:nvPr/>
        </p:nvSpPr>
        <p:spPr>
          <a:xfrm>
            <a:off x="8275320" y="1600200"/>
            <a:ext cx="3410712" cy="1188720"/>
          </a:xfrm>
          <a:prstGeom prst="rect">
            <a:avLst/>
          </a:prstGeom>
          <a:solidFill>
            <a:srgbClr val="F1F2F3"/>
          </a:solidFill>
          <a:ln w="12700">
            <a:solidFill>
              <a:srgbClr val="B9BDC0"/>
            </a:solidFill>
            <a:prstDash val="solid"/>
          </a:ln>
        </p:spPr>
      </p:sp>
      <p:sp>
        <p:nvSpPr>
          <p:cNvPr id="11" name="Text 9"/>
          <p:cNvSpPr/>
          <p:nvPr/>
        </p:nvSpPr>
        <p:spPr>
          <a:xfrm>
            <a:off x="8385048" y="1691640"/>
            <a:ext cx="319125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Peer client</a:t>
            </a:r>
            <a:endParaRPr lang="en-US" sz="1300" dirty="0"/>
          </a:p>
        </p:txBody>
      </p:sp>
      <p:sp>
        <p:nvSpPr>
          <p:cNvPr id="12" name="Text 10"/>
          <p:cNvSpPr/>
          <p:nvPr/>
        </p:nvSpPr>
        <p:spPr>
          <a:xfrm>
            <a:off x="8385048" y="1984248"/>
            <a:ext cx="319125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P2P after ICE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renders + measures</a:t>
            </a:r>
            <a:endParaRPr lang="en-US" sz="1050" dirty="0"/>
          </a:p>
        </p:txBody>
      </p:sp>
      <p:sp>
        <p:nvSpPr>
          <p:cNvPr id="13" name="Shape 11"/>
          <p:cNvSpPr/>
          <p:nvPr/>
        </p:nvSpPr>
        <p:spPr>
          <a:xfrm>
            <a:off x="3986784" y="2194560"/>
            <a:ext cx="347472" cy="0"/>
          </a:xfrm>
          <a:prstGeom prst="line">
            <a:avLst/>
          </a:prstGeom>
          <a:noFill/>
          <a:ln w="15875">
            <a:solidFill>
              <a:srgbClr val="444C52"/>
            </a:solidFill>
            <a:prstDash val="solid"/>
            <a:tailEnd type="triangle"/>
          </a:ln>
        </p:spPr>
      </p:sp>
      <p:sp>
        <p:nvSpPr>
          <p:cNvPr id="14" name="Shape 12"/>
          <p:cNvSpPr/>
          <p:nvPr/>
        </p:nvSpPr>
        <p:spPr>
          <a:xfrm>
            <a:off x="7872984" y="2194560"/>
            <a:ext cx="347472" cy="0"/>
          </a:xfrm>
          <a:prstGeom prst="line">
            <a:avLst/>
          </a:prstGeom>
          <a:noFill/>
          <a:ln w="15875">
            <a:solidFill>
              <a:srgbClr val="444C52"/>
            </a:solidFill>
            <a:prstDash val="solid"/>
            <a:tailEnd type="triangle"/>
          </a:ln>
        </p:spPr>
      </p:sp>
      <p:sp>
        <p:nvSpPr>
          <p:cNvPr id="15" name="Shape 13"/>
          <p:cNvSpPr/>
          <p:nvPr/>
        </p:nvSpPr>
        <p:spPr>
          <a:xfrm>
            <a:off x="502920" y="2999232"/>
            <a:ext cx="5394960" cy="1783080"/>
          </a:xfrm>
          <a:prstGeom prst="rect">
            <a:avLst/>
          </a:prstGeom>
          <a:solidFill>
            <a:srgbClr val="F1F2F3"/>
          </a:solidFill>
          <a:ln w="12700">
            <a:solidFill>
              <a:srgbClr val="B9BDC0"/>
            </a:solidFill>
            <a:prstDash val="solid"/>
          </a:ln>
        </p:spPr>
      </p:sp>
      <p:sp>
        <p:nvSpPr>
          <p:cNvPr id="16" name="Text 14"/>
          <p:cNvSpPr/>
          <p:nvPr/>
        </p:nvSpPr>
        <p:spPr>
          <a:xfrm>
            <a:off x="612648"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How the timing gets across</a:t>
            </a:r>
            <a:endParaRPr lang="en-US" sz="1300" dirty="0"/>
          </a:p>
        </p:txBody>
      </p:sp>
      <p:sp>
        <p:nvSpPr>
          <p:cNvPr id="17" name="Text 15"/>
          <p:cNvSpPr/>
          <p:nvPr/>
        </p:nvSpPr>
        <p:spPr>
          <a:xfrm>
            <a:off x="612648"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patched libwebrtc fork adds a custom 16-byte RTP header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extension carrying capture_ns and send_ns, and forces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frame to be a timing frame — upstream only samples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periodically, which is useless per-frame.</a:t>
            </a:r>
            <a:endParaRPr lang="en-US" sz="1100" dirty="0"/>
          </a:p>
        </p:txBody>
      </p:sp>
      <p:sp>
        <p:nvSpPr>
          <p:cNvPr id="18" name="Shape 16"/>
          <p:cNvSpPr/>
          <p:nvPr/>
        </p:nvSpPr>
        <p:spPr>
          <a:xfrm>
            <a:off x="6291072" y="2999232"/>
            <a:ext cx="5394960" cy="1783080"/>
          </a:xfrm>
          <a:prstGeom prst="rect">
            <a:avLst/>
          </a:prstGeom>
          <a:solidFill>
            <a:srgbClr val="F1F2F3"/>
          </a:solidFill>
          <a:ln w="12700">
            <a:solidFill>
              <a:srgbClr val="B9BDC0"/>
            </a:solidFill>
            <a:prstDash val="solid"/>
          </a:ln>
        </p:spPr>
      </p:sp>
      <p:sp>
        <p:nvSpPr>
          <p:cNvPr id="19" name="Text 17"/>
          <p:cNvSpPr/>
          <p:nvPr/>
        </p:nvSpPr>
        <p:spPr>
          <a:xfrm>
            <a:off x="6400800"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Attached to the shared spine</a:t>
            </a:r>
            <a:endParaRPr lang="en-US" sz="1300" dirty="0"/>
          </a:p>
        </p:txBody>
      </p:sp>
      <p:sp>
        <p:nvSpPr>
          <p:cNvPr id="20" name="Text 18"/>
          <p:cNvSpPr/>
          <p:nvPr/>
        </p:nvSpPr>
        <p:spPr>
          <a:xfrm>
            <a:off x="6400800"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The addon links the telemetry crate over a C ABI and records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sample per rendered frame, so media runs land in the same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CSV schema and the same database as the point-cloud profile.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RUN_ID joins both.</a:t>
            </a:r>
            <a:endParaRPr lang="en-US" sz="1100" dirty="0"/>
          </a:p>
        </p:txBody>
      </p:sp>
      <p:sp>
        <p:nvSpPr>
          <p:cNvPr id="21" name="Text 19"/>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The cost of this approach: the fork is a ~20 GB source tree that takes hours to build, and the measurement points are only as good as the places the patch can reach. Encode duration, for example, arrives quantised to whole milliseconds in a system that otherwise measures in nanoseconds.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planned: str0m with an SFU</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Replacing the patched fork with a sans-IO library, so precise timestamps fall out of the architecture instead of a patch.</a:t>
            </a:r>
            <a:endParaRPr lang="en-US" sz="1300" dirty="0"/>
          </a:p>
        </p:txBody>
      </p:sp>
      <p:sp>
        <p:nvSpPr>
          <p:cNvPr id="4" name="Shape 2"/>
          <p:cNvSpPr/>
          <p:nvPr/>
        </p:nvSpPr>
        <p:spPr>
          <a:xfrm>
            <a:off x="502920" y="1600200"/>
            <a:ext cx="3108960" cy="118872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Publisher</a:t>
            </a:r>
            <a:endParaRPr lang="en-US" sz="1300" dirty="0"/>
          </a:p>
        </p:txBody>
      </p:sp>
      <p:sp>
        <p:nvSpPr>
          <p:cNvPr id="6" name="Text 4"/>
          <p:cNvSpPr/>
          <p:nvPr/>
        </p:nvSpPr>
        <p:spPr>
          <a:xfrm>
            <a:off x="612648" y="1984248"/>
            <a:ext cx="288950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encodes and sends</a:t>
            </a:r>
            <a:endParaRPr lang="en-US" sz="1050" dirty="0"/>
          </a:p>
        </p:txBody>
      </p:sp>
      <p:sp>
        <p:nvSpPr>
          <p:cNvPr id="7" name="Shape 5"/>
          <p:cNvSpPr/>
          <p:nvPr/>
        </p:nvSpPr>
        <p:spPr>
          <a:xfrm>
            <a:off x="4069080" y="1600200"/>
            <a:ext cx="3931920" cy="1188720"/>
          </a:xfrm>
          <a:prstGeom prst="rect">
            <a:avLst/>
          </a:prstGeom>
          <a:solidFill>
            <a:srgbClr val="2B3136"/>
          </a:solidFill>
          <a:ln w="12700">
            <a:solidFill>
              <a:srgbClr val="2B3136"/>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SFU on the MEC edge</a:t>
            </a:r>
            <a:endParaRPr lang="en-US" sz="1300" dirty="0"/>
          </a:p>
        </p:txBody>
      </p:sp>
      <p:sp>
        <p:nvSpPr>
          <p:cNvPr id="9" name="Text 7"/>
          <p:cNvSpPr/>
          <p:nvPr/>
        </p:nvSpPr>
        <p:spPr>
          <a:xfrm>
            <a:off x="4178808" y="1984248"/>
            <a:ext cx="3712464" cy="713232"/>
          </a:xfrm>
          <a:prstGeom prst="rect">
            <a:avLst/>
          </a:prstGeom>
          <a:noFill/>
          <a:ln/>
        </p:spPr>
        <p:txBody>
          <a:bodyPr wrap="square" lIns="0" tIns="0" rIns="0" bIns="0" rtlCol="0" anchor="t"/>
          <a:lstStyle/>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str0m state machine, owns its UDP socket</a:t>
            </a:r>
            <a:endParaRPr lang="en-US" sz="1050" dirty="0"/>
          </a:p>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selective forwarding — one upstream, many down</a:t>
            </a:r>
            <a:endParaRPr lang="en-US" sz="1050" dirty="0"/>
          </a:p>
        </p:txBody>
      </p:sp>
      <p:sp>
        <p:nvSpPr>
          <p:cNvPr id="10" name="Shape 8"/>
          <p:cNvSpPr/>
          <p:nvPr/>
        </p:nvSpPr>
        <p:spPr>
          <a:xfrm>
            <a:off x="8458200" y="1600200"/>
            <a:ext cx="3227832" cy="118872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Subscribers</a:t>
            </a:r>
            <a:endParaRPr lang="en-US" sz="1300" dirty="0"/>
          </a:p>
        </p:txBody>
      </p:sp>
      <p:sp>
        <p:nvSpPr>
          <p:cNvPr id="12" name="Text 10"/>
          <p:cNvSpPr/>
          <p:nvPr/>
        </p:nvSpPr>
        <p:spPr>
          <a:xfrm>
            <a:off x="8567928" y="1984248"/>
            <a:ext cx="300837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many receivers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 mesh, no re-encode</a:t>
            </a:r>
            <a:endParaRPr lang="en-US" sz="1050" dirty="0"/>
          </a:p>
        </p:txBody>
      </p:sp>
      <p:sp>
        <p:nvSpPr>
          <p:cNvPr id="13" name="Shape 11"/>
          <p:cNvSpPr/>
          <p:nvPr/>
        </p:nvSpPr>
        <p:spPr>
          <a:xfrm>
            <a:off x="3666744" y="2194560"/>
            <a:ext cx="347472" cy="0"/>
          </a:xfrm>
          <a:prstGeom prst="line">
            <a:avLst/>
          </a:prstGeom>
          <a:noFill/>
          <a:ln w="15875">
            <a:solidFill>
              <a:srgbClr val="444C52"/>
            </a:solidFill>
            <a:prstDash val="solid"/>
            <a:tailEnd type="triangle"/>
          </a:ln>
        </p:spPr>
      </p:sp>
      <p:sp>
        <p:nvSpPr>
          <p:cNvPr id="14" name="Shape 12"/>
          <p:cNvSpPr/>
          <p:nvPr/>
        </p:nvSpPr>
        <p:spPr>
          <a:xfrm>
            <a:off x="8055864" y="2194560"/>
            <a:ext cx="347472" cy="0"/>
          </a:xfrm>
          <a:prstGeom prst="line">
            <a:avLst/>
          </a:prstGeom>
          <a:noFill/>
          <a:ln w="15875">
            <a:solidFill>
              <a:srgbClr val="444C52"/>
            </a:solidFill>
            <a:prstDash val="solid"/>
            <a:tailEnd type="triangle"/>
          </a:ln>
        </p:spPr>
      </p:sp>
      <p:sp>
        <p:nvSpPr>
          <p:cNvPr id="15" name="Text 13"/>
          <p:cNvSpPr/>
          <p:nvPr/>
        </p:nvSpPr>
        <p:spPr>
          <a:xfrm>
            <a:off x="502920"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Sans-IO: the application owns the socket and the event loop.</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send_ns is stamped at the actual socket write, recv_ns at the socket read.</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No forked media stack to maintain, and no 20 GB build.</a:t>
            </a:r>
            <a:endParaRPr lang="en-US" sz="1150" dirty="0"/>
          </a:p>
        </p:txBody>
      </p:sp>
      <p:sp>
        <p:nvSpPr>
          <p:cNvPr id="16" name="Text 14"/>
          <p:cNvSpPr/>
          <p:nvPr/>
        </p:nvSpPr>
        <p:spPr>
          <a:xfrm>
            <a:off x="6291072"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An SFU scales to many viewers — the natural shape for teleoperation and multi-operator monitoring.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Feeds the identical recorder, so media and point-cloud runs stay directly comparable.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SFU is a MEC server component; the library fork stays vendored separately.</a:t>
            </a:r>
            <a:endParaRPr lang="en-US" sz="1150" dirty="0"/>
          </a:p>
        </p:txBody>
      </p:sp>
      <p:sp>
        <p:nvSpPr>
          <p:cNvPr id="17" name="Text 15"/>
          <p:cNvSpPr/>
          <p:nvPr/>
        </p:nvSpPr>
        <p:spPr>
          <a:xfrm>
            <a:off x="502920" y="5120640"/>
            <a:ext cx="11183112" cy="118872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Open design point: the 64-byte envelope exceeds the 16-byte limit of the one-byte RTP extension format, so either the two-byte format is used or the extension carries the timestamps only, with the rest inferred per session. The CSV and snapshot contract is unaffected either way.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RAN — two sources and run-scoped control</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The JSON tap for depth, an E2 xApp for the standard path and for control — one data model, so analysis never asks which produced a row.</a:t>
            </a:r>
            <a:endParaRPr lang="en-US" sz="1300" dirty="0"/>
          </a:p>
        </p:txBody>
      </p:sp>
      <p:sp>
        <p:nvSpPr>
          <p:cNvPr id="4" name="Shape 2"/>
          <p:cNvSpPr/>
          <p:nvPr/>
        </p:nvSpPr>
        <p:spPr>
          <a:xfrm>
            <a:off x="502920" y="1600200"/>
            <a:ext cx="3471672" cy="1481328"/>
          </a:xfrm>
          <a:prstGeom prst="rect">
            <a:avLst/>
          </a:prstGeom>
          <a:solidFill>
            <a:srgbClr val="F1F2F3"/>
          </a:solidFill>
          <a:ln w="12700">
            <a:solidFill>
              <a:srgbClr val="B9BDC0"/>
            </a:solidFill>
            <a:prstDash val="solid"/>
          </a:ln>
        </p:spPr>
      </p:sp>
      <p:sp>
        <p:nvSpPr>
          <p:cNvPr id="5" name="Text 3"/>
          <p:cNvSpPr/>
          <p:nvPr/>
        </p:nvSpPr>
        <p:spPr>
          <a:xfrm>
            <a:off x="612648" y="1691640"/>
            <a:ext cx="325221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JSON tap — ran-collector</a:t>
            </a:r>
            <a:endParaRPr lang="en-US" sz="1300" dirty="0"/>
          </a:p>
        </p:txBody>
      </p:sp>
      <p:sp>
        <p:nvSpPr>
          <p:cNvPr id="6" name="Text 4"/>
          <p:cNvSpPr/>
          <p:nvPr/>
        </p:nvSpPr>
        <p:spPr>
          <a:xfrm>
            <a:off x="612648" y="1984248"/>
            <a:ext cx="3252216" cy="1005840"/>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srsRAN metrics: UDP (≤ 24.x) or WebSocket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per-UE MCS, HARQ, BSR, SNR, scheduler delays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ran/kpi.csv + raw reports</a:t>
            </a:r>
            <a:endParaRPr lang="en-US" sz="1050" dirty="0"/>
          </a:p>
        </p:txBody>
      </p:sp>
      <p:sp>
        <p:nvSpPr>
          <p:cNvPr id="7" name="Shape 5"/>
          <p:cNvSpPr/>
          <p:nvPr/>
        </p:nvSpPr>
        <p:spPr>
          <a:xfrm>
            <a:off x="4358640" y="1600200"/>
            <a:ext cx="3471672" cy="1481328"/>
          </a:xfrm>
          <a:prstGeom prst="rect">
            <a:avLst/>
          </a:prstGeom>
          <a:solidFill>
            <a:srgbClr val="F1F2F3"/>
          </a:solidFill>
          <a:ln w="12700">
            <a:solidFill>
              <a:srgbClr val="B9BDC0"/>
            </a:solidFill>
            <a:prstDash val="solid"/>
          </a:ln>
        </p:spPr>
      </p:sp>
      <p:sp>
        <p:nvSpPr>
          <p:cNvPr id="8" name="Text 6"/>
          <p:cNvSpPr/>
          <p:nvPr/>
        </p:nvSpPr>
        <p:spPr>
          <a:xfrm>
            <a:off x="4468368" y="1691640"/>
            <a:ext cx="325221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One RAN data model</a:t>
            </a:r>
            <a:endParaRPr lang="en-US" sz="1300" dirty="0"/>
          </a:p>
        </p:txBody>
      </p:sp>
      <p:sp>
        <p:nvSpPr>
          <p:cNvPr id="9" name="Text 7"/>
          <p:cNvSpPr/>
          <p:nvPr/>
        </p:nvSpPr>
        <p:spPr>
          <a:xfrm>
            <a:off x="4468368" y="1984248"/>
            <a:ext cx="3252216" cy="1005840"/>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canonical names and units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Rust + Python normalisers, one vector file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tools/ran_join.py: per-frame join</a:t>
            </a:r>
            <a:endParaRPr lang="en-US" sz="1050" dirty="0"/>
          </a:p>
        </p:txBody>
      </p:sp>
      <p:sp>
        <p:nvSpPr>
          <p:cNvPr id="10" name="Shape 8"/>
          <p:cNvSpPr/>
          <p:nvPr/>
        </p:nvSpPr>
        <p:spPr>
          <a:xfrm>
            <a:off x="8214360" y="1600200"/>
            <a:ext cx="3471672" cy="1481328"/>
          </a:xfrm>
          <a:prstGeom prst="rect">
            <a:avLst/>
          </a:prstGeom>
          <a:solidFill>
            <a:srgbClr val="F1F2F3"/>
          </a:solidFill>
          <a:ln w="12700">
            <a:solidFill>
              <a:srgbClr val="B9BDC0"/>
            </a:solidFill>
            <a:prstDash val="solid"/>
          </a:ln>
        </p:spPr>
      </p:sp>
      <p:sp>
        <p:nvSpPr>
          <p:cNvPr id="11" name="Text 9"/>
          <p:cNvSpPr/>
          <p:nvPr/>
        </p:nvSpPr>
        <p:spPr>
          <a:xfrm>
            <a:off x="8324088" y="1691640"/>
            <a:ext cx="325221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E2 xApp — O-SC near-RT RIC</a:t>
            </a:r>
            <a:endParaRPr lang="en-US" sz="1300" dirty="0"/>
          </a:p>
        </p:txBody>
      </p:sp>
      <p:sp>
        <p:nvSpPr>
          <p:cNvPr id="12" name="Text 10"/>
          <p:cNvSpPr/>
          <p:nvPr/>
        </p:nvSpPr>
        <p:spPr>
          <a:xfrm>
            <a:off x="8324088" y="1984248"/>
            <a:ext cx="3252216" cy="1005840"/>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E2SM-KPM: six DRB metrics, ≥ 1 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capabilities over an E2Port adapter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ran-kpm/kpi.csv</a:t>
            </a:r>
            <a:endParaRPr lang="en-US" sz="1050" dirty="0"/>
          </a:p>
        </p:txBody>
      </p:sp>
      <p:sp>
        <p:nvSpPr>
          <p:cNvPr id="13" name="Shape 11"/>
          <p:cNvSpPr/>
          <p:nvPr/>
        </p:nvSpPr>
        <p:spPr>
          <a:xfrm>
            <a:off x="4020312" y="2340864"/>
            <a:ext cx="292608" cy="0"/>
          </a:xfrm>
          <a:prstGeom prst="line">
            <a:avLst/>
          </a:prstGeom>
          <a:noFill/>
          <a:ln w="15875">
            <a:solidFill>
              <a:srgbClr val="444C52"/>
            </a:solidFill>
            <a:prstDash val="solid"/>
            <a:tailEnd type="triangle"/>
          </a:ln>
        </p:spPr>
      </p:sp>
      <p:sp>
        <p:nvSpPr>
          <p:cNvPr id="14" name="Shape 12"/>
          <p:cNvSpPr/>
          <p:nvPr/>
        </p:nvSpPr>
        <p:spPr>
          <a:xfrm>
            <a:off x="8168640" y="2340864"/>
            <a:ext cx="-292608" cy="0"/>
          </a:xfrm>
          <a:prstGeom prst="line">
            <a:avLst/>
          </a:prstGeom>
          <a:noFill/>
          <a:ln w="15875">
            <a:solidFill>
              <a:srgbClr val="444C52"/>
            </a:solidFill>
            <a:prstDash val="solid"/>
            <a:tailEnd type="triangle"/>
          </a:ln>
        </p:spPr>
      </p:sp>
      <p:sp>
        <p:nvSpPr>
          <p:cNvPr id="15" name="Shape 13"/>
          <p:cNvSpPr/>
          <p:nvPr/>
        </p:nvSpPr>
        <p:spPr>
          <a:xfrm>
            <a:off x="502920" y="3310128"/>
            <a:ext cx="11183112" cy="841248"/>
          </a:xfrm>
          <a:prstGeom prst="rect">
            <a:avLst/>
          </a:prstGeom>
          <a:solidFill>
            <a:srgbClr val="2B3136"/>
          </a:solidFill>
          <a:ln w="12700">
            <a:solidFill>
              <a:srgbClr val="2B3136"/>
            </a:solidFill>
            <a:prstDash val="solid"/>
          </a:ln>
        </p:spPr>
      </p:sp>
      <p:sp>
        <p:nvSpPr>
          <p:cNvPr id="16" name="Text 14"/>
          <p:cNvSpPr/>
          <p:nvPr/>
        </p:nvSpPr>
        <p:spPr>
          <a:xfrm>
            <a:off x="612648" y="3401568"/>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Run-scoped RC control — E2SM-RC slice PRB quota</a:t>
            </a:r>
            <a:endParaRPr lang="en-US" sz="1300" dirty="0"/>
          </a:p>
        </p:txBody>
      </p:sp>
      <p:sp>
        <p:nvSpPr>
          <p:cNvPr id="17" name="Text 15"/>
          <p:cNvSpPr/>
          <p:nvPr/>
        </p:nvSpPr>
        <p:spPr>
          <a:xfrm>
            <a:off x="612648" y="3694176"/>
            <a:ext cx="10963656" cy="365760"/>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A ran_policy belongs to a run: every action recorded in control.csv, reverted on stop, failure, replacement, admin loss and after a crash.</a:t>
            </a:r>
            <a:endParaRPr lang="en-US" sz="1100" dirty="0"/>
          </a:p>
        </p:txBody>
      </p:sp>
      <p:sp>
        <p:nvSpPr>
          <p:cNvPr id="18" name="Shape 16"/>
          <p:cNvSpPr/>
          <p:nvPr/>
        </p:nvSpPr>
        <p:spPr>
          <a:xfrm>
            <a:off x="502920" y="4334256"/>
            <a:ext cx="5394960" cy="1143000"/>
          </a:xfrm>
          <a:prstGeom prst="rect">
            <a:avLst/>
          </a:prstGeom>
          <a:solidFill>
            <a:srgbClr val="F1F2F3"/>
          </a:solidFill>
          <a:ln w="12700">
            <a:solidFill>
              <a:srgbClr val="B9BDC0"/>
            </a:solidFill>
            <a:prstDash val="solid"/>
          </a:ln>
        </p:spPr>
      </p:sp>
      <p:sp>
        <p:nvSpPr>
          <p:cNvPr id="19" name="Text 17"/>
          <p:cNvSpPr/>
          <p:nvPr/>
        </p:nvSpPr>
        <p:spPr>
          <a:xfrm>
            <a:off x="612648" y="4425696"/>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Cross-checked</a:t>
            </a:r>
            <a:endParaRPr lang="en-US" sz="1300" dirty="0"/>
          </a:p>
        </p:txBody>
      </p:sp>
      <p:sp>
        <p:nvSpPr>
          <p:cNvPr id="20" name="Text 18"/>
          <p:cNvSpPr/>
          <p:nvPr/>
        </p:nvSpPr>
        <p:spPr>
          <a:xfrm>
            <a:off x="612648" y="4718304"/>
            <a:ext cx="5175504" cy="667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Both sources measure UE throughput; the admin flags a gap.</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25 % cap read 0.252 in KPM, 0.250 in the JSON tap.</a:t>
            </a:r>
            <a:endParaRPr lang="en-US" sz="1100" dirty="0"/>
          </a:p>
        </p:txBody>
      </p:sp>
      <p:sp>
        <p:nvSpPr>
          <p:cNvPr id="21" name="Shape 19"/>
          <p:cNvSpPr/>
          <p:nvPr/>
        </p:nvSpPr>
        <p:spPr>
          <a:xfrm>
            <a:off x="6291072" y="4334256"/>
            <a:ext cx="5394960" cy="1143000"/>
          </a:xfrm>
          <a:prstGeom prst="rect">
            <a:avLst/>
          </a:prstGeom>
          <a:solidFill>
            <a:srgbClr val="F1F2F3"/>
          </a:solidFill>
          <a:ln w="12700">
            <a:solidFill>
              <a:srgbClr val="B9BDC0"/>
            </a:solidFill>
            <a:prstDash val="solid"/>
          </a:ln>
        </p:spPr>
      </p:sp>
      <p:sp>
        <p:nvSpPr>
          <p:cNvPr id="22" name="Text 20"/>
          <p:cNvSpPr/>
          <p:nvPr/>
        </p:nvSpPr>
        <p:spPr>
          <a:xfrm>
            <a:off x="6400800" y="4425696"/>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Not yet verified</a:t>
            </a:r>
            <a:endParaRPr lang="en-US" sz="1300" dirty="0"/>
          </a:p>
        </p:txBody>
      </p:sp>
      <p:sp>
        <p:nvSpPr>
          <p:cNvPr id="23" name="Text 21"/>
          <p:cNvSpPr/>
          <p:nvPr/>
        </p:nvSpPr>
        <p:spPr>
          <a:xfrm>
            <a:off x="6400800" y="4718304"/>
            <a:ext cx="5175504" cy="667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Against a srsRAN E2 agent and on the lab gNB.</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Units marked verify in ran/schema/metrics.md.</a:t>
            </a:r>
            <a:endParaRPr lang="en-US" sz="1100" dirty="0"/>
          </a:p>
        </p:txBody>
      </p:sp>
      <p:sp>
        <p:nvSpPr>
          <p:cNvPr id="24" name="Text 22"/>
          <p:cNvSpPr/>
          <p:nvPr/>
        </p:nvSpPr>
        <p:spPr>
          <a:xfrm>
            <a:off x="502920" y="5650992"/>
            <a:ext cx="11183112" cy="45720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ADR-0010 keeps both sources; ADR-0011 sets the control rules. Tested end to end against gnb-sim, without a radio.</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Applications and future work</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What an experimentation testbed for industrial communication over private 5G is for.</a:t>
            </a:r>
            <a:endParaRPr lang="en-US" sz="1300" dirty="0"/>
          </a:p>
        </p:txBody>
      </p:sp>
      <p:sp>
        <p:nvSpPr>
          <p:cNvPr id="4" name="Shape 2"/>
          <p:cNvSpPr/>
          <p:nvPr/>
        </p:nvSpPr>
        <p:spPr>
          <a:xfrm>
            <a:off x="502920" y="1572768"/>
            <a:ext cx="3538728" cy="1874520"/>
          </a:xfrm>
          <a:prstGeom prst="rect">
            <a:avLst/>
          </a:prstGeom>
          <a:solidFill>
            <a:srgbClr val="F1F2F3"/>
          </a:solidFill>
          <a:ln w="12700">
            <a:solidFill>
              <a:srgbClr val="B9BDC0"/>
            </a:solidFill>
            <a:prstDash val="solid"/>
          </a:ln>
        </p:spPr>
      </p:sp>
      <p:sp>
        <p:nvSpPr>
          <p:cNvPr id="5" name="Text 3"/>
          <p:cNvSpPr/>
          <p:nvPr/>
        </p:nvSpPr>
        <p:spPr>
          <a:xfrm>
            <a:off x="612648"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Industrial robotics</a:t>
            </a:r>
            <a:endParaRPr lang="en-US" sz="1300" dirty="0"/>
          </a:p>
        </p:txBody>
      </p:sp>
      <p:sp>
        <p:nvSpPr>
          <p:cNvPr id="6" name="Text 4"/>
          <p:cNvSpPr/>
          <p:nvPr/>
        </p:nvSpPr>
        <p:spPr>
          <a:xfrm>
            <a:off x="612648"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ROS2 fleets on private 5G instead of cabling or Wi-Fi.</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Offloading perception to a MEC server lets robots carry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less compute — but only if the latency budget is known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rather than hoped for.</a:t>
            </a:r>
            <a:endParaRPr lang="en-US" sz="1100" dirty="0"/>
          </a:p>
        </p:txBody>
      </p:sp>
      <p:sp>
        <p:nvSpPr>
          <p:cNvPr id="7" name="Shape 5"/>
          <p:cNvSpPr/>
          <p:nvPr/>
        </p:nvSpPr>
        <p:spPr>
          <a:xfrm>
            <a:off x="4325112" y="1572768"/>
            <a:ext cx="3538728" cy="1874520"/>
          </a:xfrm>
          <a:prstGeom prst="rect">
            <a:avLst/>
          </a:prstGeom>
          <a:solidFill>
            <a:srgbClr val="F1F2F3"/>
          </a:solidFill>
          <a:ln w="12700">
            <a:solidFill>
              <a:srgbClr val="B9BDC0"/>
            </a:solidFill>
            <a:prstDash val="solid"/>
          </a:ln>
        </p:spPr>
      </p:sp>
      <p:sp>
        <p:nvSpPr>
          <p:cNvPr id="8" name="Text 6"/>
          <p:cNvSpPr/>
          <p:nvPr/>
        </p:nvSpPr>
        <p:spPr>
          <a:xfrm>
            <a:off x="4434840"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Teleoperation</a:t>
            </a:r>
            <a:endParaRPr lang="en-US" sz="1300" dirty="0"/>
          </a:p>
        </p:txBody>
      </p:sp>
      <p:sp>
        <p:nvSpPr>
          <p:cNvPr id="9" name="Text 7"/>
          <p:cNvSpPr/>
          <p:nvPr/>
        </p:nvSpPr>
        <p:spPr>
          <a:xfrm>
            <a:off x="4434840"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Remote driving, cranes, mining, inspection. The operator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needs a defensible glass-to-glass figure and its tail —</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p99 that occasionally doubles is a safety property,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not a statistic.</a:t>
            </a:r>
            <a:endParaRPr lang="en-US" sz="1100" dirty="0"/>
          </a:p>
        </p:txBody>
      </p:sp>
      <p:sp>
        <p:nvSpPr>
          <p:cNvPr id="10" name="Shape 8"/>
          <p:cNvSpPr/>
          <p:nvPr/>
        </p:nvSpPr>
        <p:spPr>
          <a:xfrm>
            <a:off x="8147304" y="1572768"/>
            <a:ext cx="3538728" cy="1874520"/>
          </a:xfrm>
          <a:prstGeom prst="rect">
            <a:avLst/>
          </a:prstGeom>
          <a:solidFill>
            <a:srgbClr val="F1F2F3"/>
          </a:solidFill>
          <a:ln w="12700">
            <a:solidFill>
              <a:srgbClr val="B9BDC0"/>
            </a:solidFill>
            <a:prstDash val="solid"/>
          </a:ln>
        </p:spPr>
      </p:sp>
      <p:sp>
        <p:nvSpPr>
          <p:cNvPr id="11" name="Text 9"/>
          <p:cNvSpPr/>
          <p:nvPr/>
        </p:nvSpPr>
        <p:spPr>
          <a:xfrm>
            <a:off x="8257032"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Vehicle to vehicle / V2X</a:t>
            </a:r>
            <a:endParaRPr lang="en-US" sz="1300" dirty="0"/>
          </a:p>
        </p:txBody>
      </p:sp>
      <p:sp>
        <p:nvSpPr>
          <p:cNvPr id="12" name="Text 10"/>
          <p:cNvSpPr/>
          <p:nvPr/>
        </p:nvSpPr>
        <p:spPr>
          <a:xfrm>
            <a:off x="8257032"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Cooperative perception: vehicles sharing point clouds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through an edge server. Sensor sharing is only useful</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if the data arrives inside the reaction window, which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is exactly what this measures.</a:t>
            </a:r>
            <a:endParaRPr lang="en-US" sz="1100" dirty="0"/>
          </a:p>
        </p:txBody>
      </p:sp>
      <p:sp>
        <p:nvSpPr>
          <p:cNvPr id="13" name="Shape 11"/>
          <p:cNvSpPr/>
          <p:nvPr/>
        </p:nvSpPr>
        <p:spPr>
          <a:xfrm>
            <a:off x="502920" y="3584448"/>
            <a:ext cx="3538728" cy="1874520"/>
          </a:xfrm>
          <a:prstGeom prst="rect">
            <a:avLst/>
          </a:prstGeom>
          <a:solidFill>
            <a:srgbClr val="F1F2F3"/>
          </a:solidFill>
          <a:ln w="12700">
            <a:solidFill>
              <a:srgbClr val="B9BDC0"/>
            </a:solidFill>
            <a:prstDash val="solid"/>
          </a:ln>
        </p:spPr>
      </p:sp>
      <p:sp>
        <p:nvSpPr>
          <p:cNvPr id="14" name="Text 12"/>
          <p:cNvSpPr/>
          <p:nvPr/>
        </p:nvSpPr>
        <p:spPr>
          <a:xfrm>
            <a:off x="612648"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Other latency-critical uses</a:t>
            </a:r>
            <a:endParaRPr lang="en-US" sz="1300" dirty="0"/>
          </a:p>
        </p:txBody>
      </p:sp>
      <p:sp>
        <p:nvSpPr>
          <p:cNvPr id="15" name="Text 13"/>
          <p:cNvSpPr/>
          <p:nvPr/>
        </p:nvSpPr>
        <p:spPr>
          <a:xfrm>
            <a:off x="612648"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Closed-loop motion control and AGV coordination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Drone swarms and remote inspection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AR / VR assistance on the factory floor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Haptics and force feedback, where budgets are tightest</a:t>
            </a:r>
            <a:endParaRPr lang="en-US" sz="1100" dirty="0"/>
          </a:p>
        </p:txBody>
      </p:sp>
      <p:sp>
        <p:nvSpPr>
          <p:cNvPr id="16" name="Shape 14"/>
          <p:cNvSpPr/>
          <p:nvPr/>
        </p:nvSpPr>
        <p:spPr>
          <a:xfrm>
            <a:off x="4325112" y="3584448"/>
            <a:ext cx="3538728" cy="1874520"/>
          </a:xfrm>
          <a:prstGeom prst="rect">
            <a:avLst/>
          </a:prstGeom>
          <a:solidFill>
            <a:srgbClr val="F1F2F3"/>
          </a:solidFill>
          <a:ln w="12700">
            <a:solidFill>
              <a:srgbClr val="B9BDC0"/>
            </a:solidFill>
            <a:prstDash val="solid"/>
          </a:ln>
        </p:spPr>
      </p:sp>
      <p:sp>
        <p:nvSpPr>
          <p:cNvPr id="17" name="Text 15"/>
          <p:cNvSpPr/>
          <p:nvPr/>
        </p:nvSpPr>
        <p:spPr>
          <a:xfrm>
            <a:off x="4434840"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Near-term platform work</a:t>
            </a:r>
            <a:endParaRPr lang="en-US" sz="1300" dirty="0"/>
          </a:p>
        </p:txBody>
      </p:sp>
      <p:sp>
        <p:nvSpPr>
          <p:cNvPr id="18" name="Text 16"/>
          <p:cNvSpPr/>
          <p:nvPr/>
        </p:nvSpPr>
        <p:spPr>
          <a:xfrm>
            <a:off x="4434840"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Campaign: G-PCC at 1 mm and 1 cm over 5G</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Latency versus payload-size sweeps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Campaign: Zenoh versus Fast DDS over 5G</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Real LiDAR replacing the synthetic source</a:t>
            </a:r>
            <a:endParaRPr lang="en-US" sz="1100" dirty="0"/>
          </a:p>
        </p:txBody>
      </p:sp>
      <p:sp>
        <p:nvSpPr>
          <p:cNvPr id="19" name="Shape 17"/>
          <p:cNvSpPr/>
          <p:nvPr/>
        </p:nvSpPr>
        <p:spPr>
          <a:xfrm>
            <a:off x="8147304" y="3584448"/>
            <a:ext cx="3538728" cy="1874520"/>
          </a:xfrm>
          <a:prstGeom prst="rect">
            <a:avLst/>
          </a:prstGeom>
          <a:solidFill>
            <a:srgbClr val="2B3136"/>
          </a:solidFill>
          <a:ln w="12700">
            <a:solidFill>
              <a:srgbClr val="2B3136"/>
            </a:solidFill>
            <a:prstDash val="solid"/>
          </a:ln>
        </p:spPr>
      </p:sp>
      <p:sp>
        <p:nvSpPr>
          <p:cNvPr id="20" name="Text 18"/>
          <p:cNvSpPr/>
          <p:nvPr/>
        </p:nvSpPr>
        <p:spPr>
          <a:xfrm>
            <a:off x="8257032" y="3675888"/>
            <a:ext cx="3319272"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Research directions</a:t>
            </a:r>
            <a:endParaRPr lang="en-US" sz="1300" dirty="0"/>
          </a:p>
        </p:txBody>
      </p:sp>
      <p:sp>
        <p:nvSpPr>
          <p:cNvPr id="21" name="Text 19"/>
          <p:cNvSpPr/>
          <p:nvPr/>
        </p:nvSpPr>
        <p:spPr>
          <a:xfrm>
            <a:off x="8257032"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PRB reservation for the LiDAR UE, via run-scoped RC</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Closed loop: PRBs adjusted from application p99</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Network slicing per application class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Correlating MAC-layer events with application tails</a:t>
            </a:r>
            <a:endParaRPr lang="en-US" sz="1100" dirty="0"/>
          </a:p>
        </p:txBody>
      </p:sp>
      <p:sp>
        <p:nvSpPr>
          <p:cNvPr id="22" name="Text 20"/>
          <p:cNvSpPr/>
          <p:nvPr/>
        </p:nvSpPr>
        <p:spPr>
          <a:xfrm>
            <a:off x="502920" y="557784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The common thread: each of these needs a number someone is willing to defend. Reproducibility artifacts — run identifiers, per-frame CSV and recorded clock health — are what turn a demonstration into evidence.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mec-cast platform architecture</dc:title>
  <dc:subject>PptxGenJS Presentation</dc:subject>
  <dc:creator>mec-cast</dc:creator>
  <cp:lastModifiedBy>mec-cast</cp:lastModifiedBy>
  <cp:revision>1</cp:revision>
  <dcterms:created xsi:type="dcterms:W3CDTF">2026-10-27T21:06:27Z</dcterms:created>
  <dcterms:modified xsi:type="dcterms:W3CDTF">2026-10-27T21:06:27Z</dcterms:modified>
</cp:coreProperties>
</file>